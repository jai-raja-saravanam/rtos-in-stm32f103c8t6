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7"/>
  </p:notesMasterIdLst>
  <p:sldIdLst>
    <p:sldId id="256" r:id="rId2"/>
    <p:sldId id="257" r:id="rId3"/>
    <p:sldId id="310" r:id="rId4"/>
    <p:sldId id="269" r:id="rId5"/>
    <p:sldId id="311" r:id="rId6"/>
    <p:sldId id="312" r:id="rId7"/>
    <p:sldId id="313" r:id="rId8"/>
    <p:sldId id="314" r:id="rId9"/>
    <p:sldId id="316" r:id="rId10"/>
    <p:sldId id="317" r:id="rId11"/>
    <p:sldId id="318" r:id="rId12"/>
    <p:sldId id="319" r:id="rId13"/>
    <p:sldId id="320" r:id="rId14"/>
    <p:sldId id="321" r:id="rId15"/>
    <p:sldId id="322" r:id="rId16"/>
    <p:sldId id="315" r:id="rId17"/>
    <p:sldId id="323" r:id="rId18"/>
    <p:sldId id="325" r:id="rId19"/>
    <p:sldId id="326" r:id="rId20"/>
    <p:sldId id="327" r:id="rId21"/>
    <p:sldId id="328" r:id="rId22"/>
    <p:sldId id="330" r:id="rId23"/>
    <p:sldId id="329" r:id="rId24"/>
    <p:sldId id="262" r:id="rId25"/>
    <p:sldId id="258" r:id="rId26"/>
    <p:sldId id="263" r:id="rId27"/>
    <p:sldId id="264" r:id="rId28"/>
    <p:sldId id="261" r:id="rId29"/>
    <p:sldId id="260" r:id="rId30"/>
    <p:sldId id="265" r:id="rId31"/>
    <p:sldId id="332" r:id="rId32"/>
    <p:sldId id="270" r:id="rId33"/>
    <p:sldId id="334" r:id="rId34"/>
    <p:sldId id="333" r:id="rId35"/>
    <p:sldId id="331" r:id="rId36"/>
    <p:sldId id="268" r:id="rId37"/>
    <p:sldId id="271" r:id="rId38"/>
    <p:sldId id="343" r:id="rId39"/>
    <p:sldId id="274" r:id="rId40"/>
    <p:sldId id="278" r:id="rId41"/>
    <p:sldId id="279" r:id="rId42"/>
    <p:sldId id="276" r:id="rId43"/>
    <p:sldId id="342" r:id="rId44"/>
    <p:sldId id="294" r:id="rId45"/>
    <p:sldId id="275" r:id="rId46"/>
    <p:sldId id="267" r:id="rId47"/>
    <p:sldId id="272" r:id="rId48"/>
    <p:sldId id="273" r:id="rId49"/>
    <p:sldId id="335" r:id="rId50"/>
    <p:sldId id="336" r:id="rId51"/>
    <p:sldId id="337" r:id="rId52"/>
    <p:sldId id="277" r:id="rId53"/>
    <p:sldId id="338" r:id="rId54"/>
    <p:sldId id="283" r:id="rId55"/>
    <p:sldId id="344" r:id="rId56"/>
    <p:sldId id="286" r:id="rId57"/>
    <p:sldId id="345" r:id="rId58"/>
    <p:sldId id="284" r:id="rId59"/>
    <p:sldId id="346" r:id="rId60"/>
    <p:sldId id="282" r:id="rId61"/>
    <p:sldId id="347" r:id="rId62"/>
    <p:sldId id="349" r:id="rId63"/>
    <p:sldId id="348" r:id="rId64"/>
    <p:sldId id="285" r:id="rId65"/>
    <p:sldId id="351" r:id="rId66"/>
    <p:sldId id="352" r:id="rId67"/>
    <p:sldId id="353" r:id="rId68"/>
    <p:sldId id="288" r:id="rId69"/>
    <p:sldId id="289" r:id="rId70"/>
    <p:sldId id="290" r:id="rId71"/>
    <p:sldId id="291" r:id="rId72"/>
    <p:sldId id="292" r:id="rId73"/>
    <p:sldId id="350" r:id="rId74"/>
    <p:sldId id="293" r:id="rId75"/>
    <p:sldId id="309" r:id="rId76"/>
    <p:sldId id="296" r:id="rId77"/>
    <p:sldId id="356" r:id="rId78"/>
    <p:sldId id="355" r:id="rId79"/>
    <p:sldId id="354" r:id="rId80"/>
    <p:sldId id="357" r:id="rId81"/>
    <p:sldId id="298" r:id="rId82"/>
    <p:sldId id="299" r:id="rId83"/>
    <p:sldId id="300" r:id="rId84"/>
    <p:sldId id="302" r:id="rId85"/>
    <p:sldId id="301" r:id="rId86"/>
    <p:sldId id="303" r:id="rId87"/>
    <p:sldId id="304" r:id="rId88"/>
    <p:sldId id="358" r:id="rId89"/>
    <p:sldId id="359" r:id="rId90"/>
    <p:sldId id="307" r:id="rId91"/>
    <p:sldId id="308" r:id="rId92"/>
    <p:sldId id="305" r:id="rId93"/>
    <p:sldId id="306" r:id="rId94"/>
    <p:sldId id="295" r:id="rId95"/>
    <p:sldId id="297" r:id="rId9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B3659A9-9770-450B-B6AC-D0F84AC95A9A}">
          <p14:sldIdLst>
            <p14:sldId id="256"/>
            <p14:sldId id="257"/>
            <p14:sldId id="310"/>
            <p14:sldId id="269"/>
            <p14:sldId id="311"/>
            <p14:sldId id="312"/>
            <p14:sldId id="313"/>
            <p14:sldId id="314"/>
            <p14:sldId id="316"/>
            <p14:sldId id="317"/>
            <p14:sldId id="318"/>
            <p14:sldId id="319"/>
            <p14:sldId id="320"/>
            <p14:sldId id="321"/>
            <p14:sldId id="322"/>
            <p14:sldId id="315"/>
            <p14:sldId id="323"/>
            <p14:sldId id="325"/>
            <p14:sldId id="326"/>
            <p14:sldId id="327"/>
            <p14:sldId id="328"/>
            <p14:sldId id="330"/>
            <p14:sldId id="329"/>
            <p14:sldId id="262"/>
            <p14:sldId id="258"/>
            <p14:sldId id="263"/>
            <p14:sldId id="264"/>
            <p14:sldId id="261"/>
            <p14:sldId id="260"/>
            <p14:sldId id="265"/>
            <p14:sldId id="332"/>
            <p14:sldId id="270"/>
            <p14:sldId id="334"/>
            <p14:sldId id="333"/>
            <p14:sldId id="331"/>
            <p14:sldId id="268"/>
            <p14:sldId id="271"/>
            <p14:sldId id="343"/>
            <p14:sldId id="274"/>
            <p14:sldId id="278"/>
            <p14:sldId id="279"/>
            <p14:sldId id="276"/>
            <p14:sldId id="342"/>
            <p14:sldId id="294"/>
            <p14:sldId id="275"/>
            <p14:sldId id="267"/>
            <p14:sldId id="272"/>
            <p14:sldId id="273"/>
            <p14:sldId id="335"/>
            <p14:sldId id="336"/>
            <p14:sldId id="337"/>
            <p14:sldId id="277"/>
            <p14:sldId id="338"/>
            <p14:sldId id="283"/>
            <p14:sldId id="344"/>
            <p14:sldId id="286"/>
            <p14:sldId id="345"/>
            <p14:sldId id="284"/>
            <p14:sldId id="346"/>
            <p14:sldId id="282"/>
            <p14:sldId id="347"/>
            <p14:sldId id="349"/>
            <p14:sldId id="348"/>
            <p14:sldId id="285"/>
            <p14:sldId id="351"/>
            <p14:sldId id="352"/>
            <p14:sldId id="353"/>
            <p14:sldId id="288"/>
            <p14:sldId id="289"/>
            <p14:sldId id="290"/>
            <p14:sldId id="291"/>
            <p14:sldId id="292"/>
            <p14:sldId id="350"/>
            <p14:sldId id="293"/>
            <p14:sldId id="309"/>
            <p14:sldId id="296"/>
            <p14:sldId id="356"/>
            <p14:sldId id="355"/>
            <p14:sldId id="354"/>
            <p14:sldId id="357"/>
            <p14:sldId id="298"/>
            <p14:sldId id="299"/>
            <p14:sldId id="300"/>
            <p14:sldId id="302"/>
            <p14:sldId id="301"/>
            <p14:sldId id="303"/>
            <p14:sldId id="304"/>
            <p14:sldId id="358"/>
            <p14:sldId id="359"/>
            <p14:sldId id="307"/>
            <p14:sldId id="308"/>
            <p14:sldId id="305"/>
            <p14:sldId id="306"/>
            <p14:sldId id="295"/>
            <p14:sldId id="29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50DE"/>
    <a:srgbClr val="921D9B"/>
    <a:srgbClr val="006600"/>
    <a:srgbClr val="AA0000"/>
    <a:srgbClr val="0033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79" autoAdjust="0"/>
    <p:restoredTop sz="85882" autoAdjust="0"/>
  </p:normalViewPr>
  <p:slideViewPr>
    <p:cSldViewPr snapToGrid="0">
      <p:cViewPr varScale="1">
        <p:scale>
          <a:sx n="67" d="100"/>
          <a:sy n="67" d="100"/>
        </p:scale>
        <p:origin x="1450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viewProps" Target="viewProps.xml"/><Relationship Id="rId10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presProps" Target="presProps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A3EC677-8BF0-4FEB-ADAD-9E11E0B11459}" type="doc">
      <dgm:prSet loTypeId="urn:microsoft.com/office/officeart/2005/8/layout/hierarchy6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65430C48-8E5D-4B56-8171-622AEC8BE0C8}">
      <dgm:prSet phldrT="[Text]" phldr="0"/>
      <dgm:spPr/>
      <dgm:t>
        <a:bodyPr/>
        <a:lstStyle/>
        <a:p>
          <a:r>
            <a:rPr lang="en-IN" dirty="0"/>
            <a:t>Timer</a:t>
          </a:r>
        </a:p>
      </dgm:t>
    </dgm:pt>
    <dgm:pt modelId="{5C13CABE-20B3-4E54-A15D-2CF16D0BE6F0}" type="parTrans" cxnId="{99C6D80D-9242-4267-8A45-CC9D81A93F67}">
      <dgm:prSet/>
      <dgm:spPr/>
      <dgm:t>
        <a:bodyPr/>
        <a:lstStyle/>
        <a:p>
          <a:endParaRPr lang="en-IN"/>
        </a:p>
      </dgm:t>
    </dgm:pt>
    <dgm:pt modelId="{9EE359BE-0142-4212-AB6A-730440C16C1E}" type="sibTrans" cxnId="{99C6D80D-9242-4267-8A45-CC9D81A93F67}">
      <dgm:prSet/>
      <dgm:spPr/>
      <dgm:t>
        <a:bodyPr/>
        <a:lstStyle/>
        <a:p>
          <a:endParaRPr lang="en-IN"/>
        </a:p>
      </dgm:t>
    </dgm:pt>
    <dgm:pt modelId="{B6E5CF43-FE3D-4A5F-9FD2-C28AE9978740}">
      <dgm:prSet phldrT="[Text]" phldr="0"/>
      <dgm:spPr/>
      <dgm:t>
        <a:bodyPr/>
        <a:lstStyle/>
        <a:p>
          <a:r>
            <a:rPr lang="en-IN" dirty="0"/>
            <a:t>Timer</a:t>
          </a:r>
        </a:p>
      </dgm:t>
    </dgm:pt>
    <dgm:pt modelId="{F44724AA-DCED-4FA6-AA0B-44720AEF9425}" type="parTrans" cxnId="{C633EC62-DBA9-4F4B-B282-26D350D00CF1}">
      <dgm:prSet/>
      <dgm:spPr/>
      <dgm:t>
        <a:bodyPr/>
        <a:lstStyle/>
        <a:p>
          <a:endParaRPr lang="en-IN"/>
        </a:p>
      </dgm:t>
    </dgm:pt>
    <dgm:pt modelId="{CBA7CB10-0305-4AE4-A137-25C8D0FC587F}" type="sibTrans" cxnId="{C633EC62-DBA9-4F4B-B282-26D350D00CF1}">
      <dgm:prSet/>
      <dgm:spPr/>
      <dgm:t>
        <a:bodyPr/>
        <a:lstStyle/>
        <a:p>
          <a:endParaRPr lang="en-IN"/>
        </a:p>
      </dgm:t>
    </dgm:pt>
    <dgm:pt modelId="{A471ABAD-18A4-4CC0-90D3-025717547B32}">
      <dgm:prSet phldrT="[Text]"/>
      <dgm:spPr/>
      <dgm:t>
        <a:bodyPr/>
        <a:lstStyle/>
        <a:p>
          <a:r>
            <a:rPr lang="en-IN" dirty="0"/>
            <a:t>Counter</a:t>
          </a:r>
        </a:p>
      </dgm:t>
    </dgm:pt>
    <dgm:pt modelId="{D299FBE3-DCBE-4120-9B94-60B2893D465B}" type="parTrans" cxnId="{E22CF22A-9B1B-448B-93BB-B18C4EAEFF33}">
      <dgm:prSet/>
      <dgm:spPr/>
      <dgm:t>
        <a:bodyPr/>
        <a:lstStyle/>
        <a:p>
          <a:endParaRPr lang="en-IN"/>
        </a:p>
      </dgm:t>
    </dgm:pt>
    <dgm:pt modelId="{4BE560AF-5AED-4BD9-BA8B-7B1E77B9F939}" type="sibTrans" cxnId="{E22CF22A-9B1B-448B-93BB-B18C4EAEFF33}">
      <dgm:prSet/>
      <dgm:spPr/>
      <dgm:t>
        <a:bodyPr/>
        <a:lstStyle/>
        <a:p>
          <a:endParaRPr lang="en-IN"/>
        </a:p>
      </dgm:t>
    </dgm:pt>
    <dgm:pt modelId="{3172B678-2F7D-4901-B3C2-4722F9CF2DF7}">
      <dgm:prSet/>
      <dgm:spPr/>
      <dgm:t>
        <a:bodyPr/>
        <a:lstStyle/>
        <a:p>
          <a:r>
            <a:rPr lang="en-IN" dirty="0"/>
            <a:t>UP</a:t>
          </a:r>
        </a:p>
      </dgm:t>
    </dgm:pt>
    <dgm:pt modelId="{CB89673F-268B-4CEF-BCCE-51203A915DDB}" type="parTrans" cxnId="{15D973D4-E751-406B-A098-475952B3A73A}">
      <dgm:prSet/>
      <dgm:spPr/>
      <dgm:t>
        <a:bodyPr/>
        <a:lstStyle/>
        <a:p>
          <a:endParaRPr lang="en-IN"/>
        </a:p>
      </dgm:t>
    </dgm:pt>
    <dgm:pt modelId="{96118871-9D2A-4EE7-A82C-6C434C5DE6EC}" type="sibTrans" cxnId="{15D973D4-E751-406B-A098-475952B3A73A}">
      <dgm:prSet/>
      <dgm:spPr/>
      <dgm:t>
        <a:bodyPr/>
        <a:lstStyle/>
        <a:p>
          <a:endParaRPr lang="en-IN"/>
        </a:p>
      </dgm:t>
    </dgm:pt>
    <dgm:pt modelId="{9BA3F2A6-41B7-4F4E-818B-00ED346C310C}">
      <dgm:prSet/>
      <dgm:spPr/>
      <dgm:t>
        <a:bodyPr/>
        <a:lstStyle/>
        <a:p>
          <a:r>
            <a:rPr lang="en-IN" dirty="0"/>
            <a:t>UP</a:t>
          </a:r>
        </a:p>
      </dgm:t>
    </dgm:pt>
    <dgm:pt modelId="{7E2F7030-B46E-46BE-AA66-BD3F929C0DAC}" type="parTrans" cxnId="{14FBD4E8-D8B7-42C9-A840-81E4D8DA99AD}">
      <dgm:prSet/>
      <dgm:spPr/>
      <dgm:t>
        <a:bodyPr/>
        <a:lstStyle/>
        <a:p>
          <a:endParaRPr lang="en-IN"/>
        </a:p>
      </dgm:t>
    </dgm:pt>
    <dgm:pt modelId="{97A040DD-99D6-4CA2-AAAE-D5B363A6241F}" type="sibTrans" cxnId="{14FBD4E8-D8B7-42C9-A840-81E4D8DA99AD}">
      <dgm:prSet/>
      <dgm:spPr/>
      <dgm:t>
        <a:bodyPr/>
        <a:lstStyle/>
        <a:p>
          <a:endParaRPr lang="en-IN"/>
        </a:p>
      </dgm:t>
    </dgm:pt>
    <dgm:pt modelId="{01B17D92-1247-4A98-B4B4-7155513D7336}">
      <dgm:prSet/>
      <dgm:spPr/>
      <dgm:t>
        <a:bodyPr/>
        <a:lstStyle/>
        <a:p>
          <a:r>
            <a:rPr lang="en-IN" dirty="0"/>
            <a:t>DOWN</a:t>
          </a:r>
        </a:p>
      </dgm:t>
    </dgm:pt>
    <dgm:pt modelId="{AD755AC1-4854-44D8-891C-2E53F5ABB207}" type="parTrans" cxnId="{F0C233B7-8350-44A7-BD82-096B74D24C02}">
      <dgm:prSet/>
      <dgm:spPr/>
      <dgm:t>
        <a:bodyPr/>
        <a:lstStyle/>
        <a:p>
          <a:endParaRPr lang="en-IN"/>
        </a:p>
      </dgm:t>
    </dgm:pt>
    <dgm:pt modelId="{E203EA33-5819-4507-B3B7-45B12C51005B}" type="sibTrans" cxnId="{F0C233B7-8350-44A7-BD82-096B74D24C02}">
      <dgm:prSet/>
      <dgm:spPr/>
      <dgm:t>
        <a:bodyPr/>
        <a:lstStyle/>
        <a:p>
          <a:endParaRPr lang="en-IN"/>
        </a:p>
      </dgm:t>
    </dgm:pt>
    <dgm:pt modelId="{C8C93E8F-CF15-4889-9292-CEE3EDF83046}">
      <dgm:prSet/>
      <dgm:spPr/>
      <dgm:t>
        <a:bodyPr/>
        <a:lstStyle/>
        <a:p>
          <a:r>
            <a:rPr lang="en-IN" dirty="0"/>
            <a:t>DOWN</a:t>
          </a:r>
        </a:p>
      </dgm:t>
    </dgm:pt>
    <dgm:pt modelId="{5BA412F6-4996-45AF-A1EB-D9DA49A704C8}" type="parTrans" cxnId="{1F139163-DB08-4DE2-AB94-03B19E0C7019}">
      <dgm:prSet/>
      <dgm:spPr/>
      <dgm:t>
        <a:bodyPr/>
        <a:lstStyle/>
        <a:p>
          <a:endParaRPr lang="en-IN"/>
        </a:p>
      </dgm:t>
    </dgm:pt>
    <dgm:pt modelId="{3DF65954-C2A4-4CB6-9E50-73991D80AA6E}" type="sibTrans" cxnId="{1F139163-DB08-4DE2-AB94-03B19E0C7019}">
      <dgm:prSet/>
      <dgm:spPr/>
      <dgm:t>
        <a:bodyPr/>
        <a:lstStyle/>
        <a:p>
          <a:endParaRPr lang="en-IN"/>
        </a:p>
      </dgm:t>
    </dgm:pt>
    <dgm:pt modelId="{68C7779D-1C83-4134-AA78-C44CC9345935}" type="pres">
      <dgm:prSet presAssocID="{7A3EC677-8BF0-4FEB-ADAD-9E11E0B11459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741777D1-D427-424E-9050-10ECC7030756}" type="pres">
      <dgm:prSet presAssocID="{7A3EC677-8BF0-4FEB-ADAD-9E11E0B11459}" presName="hierFlow" presStyleCnt="0"/>
      <dgm:spPr/>
    </dgm:pt>
    <dgm:pt modelId="{E597E9F6-E91B-4587-96CA-7D347292341E}" type="pres">
      <dgm:prSet presAssocID="{7A3EC677-8BF0-4FEB-ADAD-9E11E0B11459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9B28D3AC-33CD-4363-928E-52C64D7B8541}" type="pres">
      <dgm:prSet presAssocID="{65430C48-8E5D-4B56-8171-622AEC8BE0C8}" presName="Name14" presStyleCnt="0"/>
      <dgm:spPr/>
    </dgm:pt>
    <dgm:pt modelId="{D1E9FECA-0FB8-49D6-BCDA-43D6918CE875}" type="pres">
      <dgm:prSet presAssocID="{65430C48-8E5D-4B56-8171-622AEC8BE0C8}" presName="level1Shape" presStyleLbl="node0" presStyleIdx="0" presStyleCnt="1" custScaleY="62093">
        <dgm:presLayoutVars>
          <dgm:chPref val="3"/>
        </dgm:presLayoutVars>
      </dgm:prSet>
      <dgm:spPr/>
    </dgm:pt>
    <dgm:pt modelId="{BA866BCB-63CB-4A78-A9BF-1AF8FF5AD7B1}" type="pres">
      <dgm:prSet presAssocID="{65430C48-8E5D-4B56-8171-622AEC8BE0C8}" presName="hierChild2" presStyleCnt="0"/>
      <dgm:spPr/>
    </dgm:pt>
    <dgm:pt modelId="{D770C71D-69A7-47D7-B4BC-48A84F0BD87C}" type="pres">
      <dgm:prSet presAssocID="{F44724AA-DCED-4FA6-AA0B-44720AEF9425}" presName="Name19" presStyleLbl="parChTrans1D2" presStyleIdx="0" presStyleCnt="2"/>
      <dgm:spPr/>
    </dgm:pt>
    <dgm:pt modelId="{FD443408-3255-4EEC-963F-7C023F7305B9}" type="pres">
      <dgm:prSet presAssocID="{B6E5CF43-FE3D-4A5F-9FD2-C28AE9978740}" presName="Name21" presStyleCnt="0"/>
      <dgm:spPr/>
    </dgm:pt>
    <dgm:pt modelId="{F8F68F2E-E27F-4B39-A581-DA1C4FC32531}" type="pres">
      <dgm:prSet presAssocID="{B6E5CF43-FE3D-4A5F-9FD2-C28AE9978740}" presName="level2Shape" presStyleLbl="node2" presStyleIdx="0" presStyleCnt="2" custScaleY="62093" custLinFactNeighborY="-13141"/>
      <dgm:spPr/>
    </dgm:pt>
    <dgm:pt modelId="{9E2FDC41-06C4-46B4-A267-A1C7E8B6197D}" type="pres">
      <dgm:prSet presAssocID="{B6E5CF43-FE3D-4A5F-9FD2-C28AE9978740}" presName="hierChild3" presStyleCnt="0"/>
      <dgm:spPr/>
    </dgm:pt>
    <dgm:pt modelId="{79D39A51-CA87-4F2C-8AE9-C5F082D3EAEB}" type="pres">
      <dgm:prSet presAssocID="{CB89673F-268B-4CEF-BCCE-51203A915DDB}" presName="Name19" presStyleLbl="parChTrans1D3" presStyleIdx="0" presStyleCnt="4"/>
      <dgm:spPr/>
    </dgm:pt>
    <dgm:pt modelId="{46C161CA-6E3A-4DBE-9AED-9553A93FB1E1}" type="pres">
      <dgm:prSet presAssocID="{3172B678-2F7D-4901-B3C2-4722F9CF2DF7}" presName="Name21" presStyleCnt="0"/>
      <dgm:spPr/>
    </dgm:pt>
    <dgm:pt modelId="{D467EFC1-F49A-444F-A8C0-3EAEA256C9E4}" type="pres">
      <dgm:prSet presAssocID="{3172B678-2F7D-4901-B3C2-4722F9CF2DF7}" presName="level2Shape" presStyleLbl="node3" presStyleIdx="0" presStyleCnt="4" custScaleY="62093" custLinFactNeighborY="65658"/>
      <dgm:spPr/>
    </dgm:pt>
    <dgm:pt modelId="{255529F4-652B-41E2-9A33-577654C25055}" type="pres">
      <dgm:prSet presAssocID="{3172B678-2F7D-4901-B3C2-4722F9CF2DF7}" presName="hierChild3" presStyleCnt="0"/>
      <dgm:spPr/>
    </dgm:pt>
    <dgm:pt modelId="{57B14A83-1B2E-4018-BC48-5F6C11D89052}" type="pres">
      <dgm:prSet presAssocID="{5BA412F6-4996-45AF-A1EB-D9DA49A704C8}" presName="Name19" presStyleLbl="parChTrans1D3" presStyleIdx="1" presStyleCnt="4"/>
      <dgm:spPr/>
    </dgm:pt>
    <dgm:pt modelId="{59A5B033-14E9-4EA3-8448-B66EDDE6B136}" type="pres">
      <dgm:prSet presAssocID="{C8C93E8F-CF15-4889-9292-CEE3EDF83046}" presName="Name21" presStyleCnt="0"/>
      <dgm:spPr/>
    </dgm:pt>
    <dgm:pt modelId="{F38A2101-EB48-48AA-B4BB-D27C3225885C}" type="pres">
      <dgm:prSet presAssocID="{C8C93E8F-CF15-4889-9292-CEE3EDF83046}" presName="level2Shape" presStyleLbl="node3" presStyleIdx="1" presStyleCnt="4" custScaleY="62093" custLinFactNeighborY="65658"/>
      <dgm:spPr/>
    </dgm:pt>
    <dgm:pt modelId="{136CDAED-5B66-4A93-B460-876F54945803}" type="pres">
      <dgm:prSet presAssocID="{C8C93E8F-CF15-4889-9292-CEE3EDF83046}" presName="hierChild3" presStyleCnt="0"/>
      <dgm:spPr/>
    </dgm:pt>
    <dgm:pt modelId="{09BCE623-9C54-4E5C-BB0C-E1E6F1254B19}" type="pres">
      <dgm:prSet presAssocID="{D299FBE3-DCBE-4120-9B94-60B2893D465B}" presName="Name19" presStyleLbl="parChTrans1D2" presStyleIdx="1" presStyleCnt="2"/>
      <dgm:spPr/>
    </dgm:pt>
    <dgm:pt modelId="{EACDAB9F-358E-4C7F-9C04-3229203C8A82}" type="pres">
      <dgm:prSet presAssocID="{A471ABAD-18A4-4CC0-90D3-025717547B32}" presName="Name21" presStyleCnt="0"/>
      <dgm:spPr/>
    </dgm:pt>
    <dgm:pt modelId="{FD09DCF9-CDB6-49F1-ACAD-10BFB9B83ECD}" type="pres">
      <dgm:prSet presAssocID="{A471ABAD-18A4-4CC0-90D3-025717547B32}" presName="level2Shape" presStyleLbl="node2" presStyleIdx="1" presStyleCnt="2" custScaleY="62093" custLinFactNeighborY="-13141"/>
      <dgm:spPr/>
    </dgm:pt>
    <dgm:pt modelId="{225498C7-148C-407A-B2E2-FDD384176974}" type="pres">
      <dgm:prSet presAssocID="{A471ABAD-18A4-4CC0-90D3-025717547B32}" presName="hierChild3" presStyleCnt="0"/>
      <dgm:spPr/>
    </dgm:pt>
    <dgm:pt modelId="{2E7B33AA-5E13-45E5-9FEE-D7152D73175C}" type="pres">
      <dgm:prSet presAssocID="{7E2F7030-B46E-46BE-AA66-BD3F929C0DAC}" presName="Name19" presStyleLbl="parChTrans1D3" presStyleIdx="2" presStyleCnt="4"/>
      <dgm:spPr/>
    </dgm:pt>
    <dgm:pt modelId="{C62EEBB8-88BE-4B99-80AF-A9D7DA2790CE}" type="pres">
      <dgm:prSet presAssocID="{9BA3F2A6-41B7-4F4E-818B-00ED346C310C}" presName="Name21" presStyleCnt="0"/>
      <dgm:spPr/>
    </dgm:pt>
    <dgm:pt modelId="{22BC20D7-022F-4E87-9CBD-CB4094F08174}" type="pres">
      <dgm:prSet presAssocID="{9BA3F2A6-41B7-4F4E-818B-00ED346C310C}" presName="level2Shape" presStyleLbl="node3" presStyleIdx="2" presStyleCnt="4" custScaleY="62093" custLinFactNeighborY="65658"/>
      <dgm:spPr/>
    </dgm:pt>
    <dgm:pt modelId="{166F45BA-E2B5-4B25-900C-35C708B40B2D}" type="pres">
      <dgm:prSet presAssocID="{9BA3F2A6-41B7-4F4E-818B-00ED346C310C}" presName="hierChild3" presStyleCnt="0"/>
      <dgm:spPr/>
    </dgm:pt>
    <dgm:pt modelId="{03DFE27D-4861-48D1-9B9F-C0400A1776A2}" type="pres">
      <dgm:prSet presAssocID="{AD755AC1-4854-44D8-891C-2E53F5ABB207}" presName="Name19" presStyleLbl="parChTrans1D3" presStyleIdx="3" presStyleCnt="4"/>
      <dgm:spPr/>
    </dgm:pt>
    <dgm:pt modelId="{712AE007-3B90-4FDF-B0F7-EEEC284E9908}" type="pres">
      <dgm:prSet presAssocID="{01B17D92-1247-4A98-B4B4-7155513D7336}" presName="Name21" presStyleCnt="0"/>
      <dgm:spPr/>
    </dgm:pt>
    <dgm:pt modelId="{4A5D0DAC-82CF-4B76-A43B-3982BD015636}" type="pres">
      <dgm:prSet presAssocID="{01B17D92-1247-4A98-B4B4-7155513D7336}" presName="level2Shape" presStyleLbl="node3" presStyleIdx="3" presStyleCnt="4" custScaleY="62093" custLinFactNeighborY="65658"/>
      <dgm:spPr/>
    </dgm:pt>
    <dgm:pt modelId="{78F3A4B0-8B50-47BA-B8BE-845F6DBACA5C}" type="pres">
      <dgm:prSet presAssocID="{01B17D92-1247-4A98-B4B4-7155513D7336}" presName="hierChild3" presStyleCnt="0"/>
      <dgm:spPr/>
    </dgm:pt>
    <dgm:pt modelId="{A0E557A7-04BE-4629-9B16-E49D9FA1D118}" type="pres">
      <dgm:prSet presAssocID="{7A3EC677-8BF0-4FEB-ADAD-9E11E0B11459}" presName="bgShapesFlow" presStyleCnt="0"/>
      <dgm:spPr/>
    </dgm:pt>
  </dgm:ptLst>
  <dgm:cxnLst>
    <dgm:cxn modelId="{99C6D80D-9242-4267-8A45-CC9D81A93F67}" srcId="{7A3EC677-8BF0-4FEB-ADAD-9E11E0B11459}" destId="{65430C48-8E5D-4B56-8171-622AEC8BE0C8}" srcOrd="0" destOrd="0" parTransId="{5C13CABE-20B3-4E54-A15D-2CF16D0BE6F0}" sibTransId="{9EE359BE-0142-4212-AB6A-730440C16C1E}"/>
    <dgm:cxn modelId="{0F920D1D-D15D-4BA5-88D5-DDC5F25E04ED}" type="presOf" srcId="{5BA412F6-4996-45AF-A1EB-D9DA49A704C8}" destId="{57B14A83-1B2E-4018-BC48-5F6C11D89052}" srcOrd="0" destOrd="0" presId="urn:microsoft.com/office/officeart/2005/8/layout/hierarchy6"/>
    <dgm:cxn modelId="{E22CF22A-9B1B-448B-93BB-B18C4EAEFF33}" srcId="{65430C48-8E5D-4B56-8171-622AEC8BE0C8}" destId="{A471ABAD-18A4-4CC0-90D3-025717547B32}" srcOrd="1" destOrd="0" parTransId="{D299FBE3-DCBE-4120-9B94-60B2893D465B}" sibTransId="{4BE560AF-5AED-4BD9-BA8B-7B1E77B9F939}"/>
    <dgm:cxn modelId="{8E72922C-B41B-4829-A6C7-912298FFA31C}" type="presOf" srcId="{9BA3F2A6-41B7-4F4E-818B-00ED346C310C}" destId="{22BC20D7-022F-4E87-9CBD-CB4094F08174}" srcOrd="0" destOrd="0" presId="urn:microsoft.com/office/officeart/2005/8/layout/hierarchy6"/>
    <dgm:cxn modelId="{27A91F35-7323-462C-B8FC-9F4DC26FC9A0}" type="presOf" srcId="{01B17D92-1247-4A98-B4B4-7155513D7336}" destId="{4A5D0DAC-82CF-4B76-A43B-3982BD015636}" srcOrd="0" destOrd="0" presId="urn:microsoft.com/office/officeart/2005/8/layout/hierarchy6"/>
    <dgm:cxn modelId="{58CD575F-70AE-43ED-916B-F980E8341735}" type="presOf" srcId="{7E2F7030-B46E-46BE-AA66-BD3F929C0DAC}" destId="{2E7B33AA-5E13-45E5-9FEE-D7152D73175C}" srcOrd="0" destOrd="0" presId="urn:microsoft.com/office/officeart/2005/8/layout/hierarchy6"/>
    <dgm:cxn modelId="{C633EC62-DBA9-4F4B-B282-26D350D00CF1}" srcId="{65430C48-8E5D-4B56-8171-622AEC8BE0C8}" destId="{B6E5CF43-FE3D-4A5F-9FD2-C28AE9978740}" srcOrd="0" destOrd="0" parTransId="{F44724AA-DCED-4FA6-AA0B-44720AEF9425}" sibTransId="{CBA7CB10-0305-4AE4-A137-25C8D0FC587F}"/>
    <dgm:cxn modelId="{1F139163-DB08-4DE2-AB94-03B19E0C7019}" srcId="{B6E5CF43-FE3D-4A5F-9FD2-C28AE9978740}" destId="{C8C93E8F-CF15-4889-9292-CEE3EDF83046}" srcOrd="1" destOrd="0" parTransId="{5BA412F6-4996-45AF-A1EB-D9DA49A704C8}" sibTransId="{3DF65954-C2A4-4CB6-9E50-73991D80AA6E}"/>
    <dgm:cxn modelId="{99268D44-E5E6-4F04-B988-EB86ED81C26B}" type="presOf" srcId="{B6E5CF43-FE3D-4A5F-9FD2-C28AE9978740}" destId="{F8F68F2E-E27F-4B39-A581-DA1C4FC32531}" srcOrd="0" destOrd="0" presId="urn:microsoft.com/office/officeart/2005/8/layout/hierarchy6"/>
    <dgm:cxn modelId="{AD3D1598-5C17-4191-9F4A-50366AD2E59C}" type="presOf" srcId="{CB89673F-268B-4CEF-BCCE-51203A915DDB}" destId="{79D39A51-CA87-4F2C-8AE9-C5F082D3EAEB}" srcOrd="0" destOrd="0" presId="urn:microsoft.com/office/officeart/2005/8/layout/hierarchy6"/>
    <dgm:cxn modelId="{17B4CB99-1CB6-411A-86C7-F1BFE63373B9}" type="presOf" srcId="{65430C48-8E5D-4B56-8171-622AEC8BE0C8}" destId="{D1E9FECA-0FB8-49D6-BCDA-43D6918CE875}" srcOrd="0" destOrd="0" presId="urn:microsoft.com/office/officeart/2005/8/layout/hierarchy6"/>
    <dgm:cxn modelId="{16230E9C-35EB-4527-967D-245BCE755C41}" type="presOf" srcId="{A471ABAD-18A4-4CC0-90D3-025717547B32}" destId="{FD09DCF9-CDB6-49F1-ACAD-10BFB9B83ECD}" srcOrd="0" destOrd="0" presId="urn:microsoft.com/office/officeart/2005/8/layout/hierarchy6"/>
    <dgm:cxn modelId="{F0C233B7-8350-44A7-BD82-096B74D24C02}" srcId="{A471ABAD-18A4-4CC0-90D3-025717547B32}" destId="{01B17D92-1247-4A98-B4B4-7155513D7336}" srcOrd="1" destOrd="0" parTransId="{AD755AC1-4854-44D8-891C-2E53F5ABB207}" sibTransId="{E203EA33-5819-4507-B3B7-45B12C51005B}"/>
    <dgm:cxn modelId="{329FF4C3-EFC4-479A-8FD4-53278E07A6D7}" type="presOf" srcId="{7A3EC677-8BF0-4FEB-ADAD-9E11E0B11459}" destId="{68C7779D-1C83-4134-AA78-C44CC9345935}" srcOrd="0" destOrd="0" presId="urn:microsoft.com/office/officeart/2005/8/layout/hierarchy6"/>
    <dgm:cxn modelId="{15D973D4-E751-406B-A098-475952B3A73A}" srcId="{B6E5CF43-FE3D-4A5F-9FD2-C28AE9978740}" destId="{3172B678-2F7D-4901-B3C2-4722F9CF2DF7}" srcOrd="0" destOrd="0" parTransId="{CB89673F-268B-4CEF-BCCE-51203A915DDB}" sibTransId="{96118871-9D2A-4EE7-A82C-6C434C5DE6EC}"/>
    <dgm:cxn modelId="{81BA38DC-2C75-45CA-BBEF-03A16CA53355}" type="presOf" srcId="{AD755AC1-4854-44D8-891C-2E53F5ABB207}" destId="{03DFE27D-4861-48D1-9B9F-C0400A1776A2}" srcOrd="0" destOrd="0" presId="urn:microsoft.com/office/officeart/2005/8/layout/hierarchy6"/>
    <dgm:cxn modelId="{BC8B9BE1-F52C-4498-B465-B8E71CF7DFFF}" type="presOf" srcId="{F44724AA-DCED-4FA6-AA0B-44720AEF9425}" destId="{D770C71D-69A7-47D7-B4BC-48A84F0BD87C}" srcOrd="0" destOrd="0" presId="urn:microsoft.com/office/officeart/2005/8/layout/hierarchy6"/>
    <dgm:cxn modelId="{14FBD4E8-D8B7-42C9-A840-81E4D8DA99AD}" srcId="{A471ABAD-18A4-4CC0-90D3-025717547B32}" destId="{9BA3F2A6-41B7-4F4E-818B-00ED346C310C}" srcOrd="0" destOrd="0" parTransId="{7E2F7030-B46E-46BE-AA66-BD3F929C0DAC}" sibTransId="{97A040DD-99D6-4CA2-AAAE-D5B363A6241F}"/>
    <dgm:cxn modelId="{2425D5E8-DFB3-4E3D-BA5B-DE2ACDDACB79}" type="presOf" srcId="{D299FBE3-DCBE-4120-9B94-60B2893D465B}" destId="{09BCE623-9C54-4E5C-BB0C-E1E6F1254B19}" srcOrd="0" destOrd="0" presId="urn:microsoft.com/office/officeart/2005/8/layout/hierarchy6"/>
    <dgm:cxn modelId="{B2BE7FEC-B526-441D-97C6-661E28D117AC}" type="presOf" srcId="{3172B678-2F7D-4901-B3C2-4722F9CF2DF7}" destId="{D467EFC1-F49A-444F-A8C0-3EAEA256C9E4}" srcOrd="0" destOrd="0" presId="urn:microsoft.com/office/officeart/2005/8/layout/hierarchy6"/>
    <dgm:cxn modelId="{279D6EF4-FA21-4FE7-96C1-89F4463530CE}" type="presOf" srcId="{C8C93E8F-CF15-4889-9292-CEE3EDF83046}" destId="{F38A2101-EB48-48AA-B4BB-D27C3225885C}" srcOrd="0" destOrd="0" presId="urn:microsoft.com/office/officeart/2005/8/layout/hierarchy6"/>
    <dgm:cxn modelId="{C869573B-12E3-4BBC-B414-7E664C958E14}" type="presParOf" srcId="{68C7779D-1C83-4134-AA78-C44CC9345935}" destId="{741777D1-D427-424E-9050-10ECC7030756}" srcOrd="0" destOrd="0" presId="urn:microsoft.com/office/officeart/2005/8/layout/hierarchy6"/>
    <dgm:cxn modelId="{5BB980C0-873F-4A6D-90B8-886E6B2052EE}" type="presParOf" srcId="{741777D1-D427-424E-9050-10ECC7030756}" destId="{E597E9F6-E91B-4587-96CA-7D347292341E}" srcOrd="0" destOrd="0" presId="urn:microsoft.com/office/officeart/2005/8/layout/hierarchy6"/>
    <dgm:cxn modelId="{AC248F39-C0E9-4A9F-BF4B-9CC58A8834A1}" type="presParOf" srcId="{E597E9F6-E91B-4587-96CA-7D347292341E}" destId="{9B28D3AC-33CD-4363-928E-52C64D7B8541}" srcOrd="0" destOrd="0" presId="urn:microsoft.com/office/officeart/2005/8/layout/hierarchy6"/>
    <dgm:cxn modelId="{20008FA8-E16A-4ACB-AC59-64A4F87639E0}" type="presParOf" srcId="{9B28D3AC-33CD-4363-928E-52C64D7B8541}" destId="{D1E9FECA-0FB8-49D6-BCDA-43D6918CE875}" srcOrd="0" destOrd="0" presId="urn:microsoft.com/office/officeart/2005/8/layout/hierarchy6"/>
    <dgm:cxn modelId="{FC746808-A932-4EF5-8E39-93183E50ACD9}" type="presParOf" srcId="{9B28D3AC-33CD-4363-928E-52C64D7B8541}" destId="{BA866BCB-63CB-4A78-A9BF-1AF8FF5AD7B1}" srcOrd="1" destOrd="0" presId="urn:microsoft.com/office/officeart/2005/8/layout/hierarchy6"/>
    <dgm:cxn modelId="{830D5198-0FCD-47EB-A189-415BA52CD51F}" type="presParOf" srcId="{BA866BCB-63CB-4A78-A9BF-1AF8FF5AD7B1}" destId="{D770C71D-69A7-47D7-B4BC-48A84F0BD87C}" srcOrd="0" destOrd="0" presId="urn:microsoft.com/office/officeart/2005/8/layout/hierarchy6"/>
    <dgm:cxn modelId="{488AB148-A2E6-4A2E-9874-4E5172F84A95}" type="presParOf" srcId="{BA866BCB-63CB-4A78-A9BF-1AF8FF5AD7B1}" destId="{FD443408-3255-4EEC-963F-7C023F7305B9}" srcOrd="1" destOrd="0" presId="urn:microsoft.com/office/officeart/2005/8/layout/hierarchy6"/>
    <dgm:cxn modelId="{EE3E2EEA-CBD3-44E7-990E-5558541DEEC8}" type="presParOf" srcId="{FD443408-3255-4EEC-963F-7C023F7305B9}" destId="{F8F68F2E-E27F-4B39-A581-DA1C4FC32531}" srcOrd="0" destOrd="0" presId="urn:microsoft.com/office/officeart/2005/8/layout/hierarchy6"/>
    <dgm:cxn modelId="{E6A79F4D-CE4D-4CF1-9343-A8BB4510A327}" type="presParOf" srcId="{FD443408-3255-4EEC-963F-7C023F7305B9}" destId="{9E2FDC41-06C4-46B4-A267-A1C7E8B6197D}" srcOrd="1" destOrd="0" presId="urn:microsoft.com/office/officeart/2005/8/layout/hierarchy6"/>
    <dgm:cxn modelId="{A0872762-D27A-4070-B86E-D9EFC85DC382}" type="presParOf" srcId="{9E2FDC41-06C4-46B4-A267-A1C7E8B6197D}" destId="{79D39A51-CA87-4F2C-8AE9-C5F082D3EAEB}" srcOrd="0" destOrd="0" presId="urn:microsoft.com/office/officeart/2005/8/layout/hierarchy6"/>
    <dgm:cxn modelId="{B91AAD20-9784-408B-84CD-FE5CD619885E}" type="presParOf" srcId="{9E2FDC41-06C4-46B4-A267-A1C7E8B6197D}" destId="{46C161CA-6E3A-4DBE-9AED-9553A93FB1E1}" srcOrd="1" destOrd="0" presId="urn:microsoft.com/office/officeart/2005/8/layout/hierarchy6"/>
    <dgm:cxn modelId="{D2BC1CE6-7CCF-4D29-9C16-A52F0F44D7DF}" type="presParOf" srcId="{46C161CA-6E3A-4DBE-9AED-9553A93FB1E1}" destId="{D467EFC1-F49A-444F-A8C0-3EAEA256C9E4}" srcOrd="0" destOrd="0" presId="urn:microsoft.com/office/officeart/2005/8/layout/hierarchy6"/>
    <dgm:cxn modelId="{03CF6858-FEC0-42E5-9A6C-7F5A80DE1CFF}" type="presParOf" srcId="{46C161CA-6E3A-4DBE-9AED-9553A93FB1E1}" destId="{255529F4-652B-41E2-9A33-577654C25055}" srcOrd="1" destOrd="0" presId="urn:microsoft.com/office/officeart/2005/8/layout/hierarchy6"/>
    <dgm:cxn modelId="{EB1CE3EB-38A0-40FF-86DA-FCF3B5A08108}" type="presParOf" srcId="{9E2FDC41-06C4-46B4-A267-A1C7E8B6197D}" destId="{57B14A83-1B2E-4018-BC48-5F6C11D89052}" srcOrd="2" destOrd="0" presId="urn:microsoft.com/office/officeart/2005/8/layout/hierarchy6"/>
    <dgm:cxn modelId="{4EA0511A-38B4-4778-A903-808FD6194F87}" type="presParOf" srcId="{9E2FDC41-06C4-46B4-A267-A1C7E8B6197D}" destId="{59A5B033-14E9-4EA3-8448-B66EDDE6B136}" srcOrd="3" destOrd="0" presId="urn:microsoft.com/office/officeart/2005/8/layout/hierarchy6"/>
    <dgm:cxn modelId="{5D77C3B2-C088-48EF-A4E9-0CB838E21C7F}" type="presParOf" srcId="{59A5B033-14E9-4EA3-8448-B66EDDE6B136}" destId="{F38A2101-EB48-48AA-B4BB-D27C3225885C}" srcOrd="0" destOrd="0" presId="urn:microsoft.com/office/officeart/2005/8/layout/hierarchy6"/>
    <dgm:cxn modelId="{F33818E5-6A52-4697-A203-C6537C85E2EA}" type="presParOf" srcId="{59A5B033-14E9-4EA3-8448-B66EDDE6B136}" destId="{136CDAED-5B66-4A93-B460-876F54945803}" srcOrd="1" destOrd="0" presId="urn:microsoft.com/office/officeart/2005/8/layout/hierarchy6"/>
    <dgm:cxn modelId="{5B0EF5D0-CF73-415A-AD94-3A00B337AF08}" type="presParOf" srcId="{BA866BCB-63CB-4A78-A9BF-1AF8FF5AD7B1}" destId="{09BCE623-9C54-4E5C-BB0C-E1E6F1254B19}" srcOrd="2" destOrd="0" presId="urn:microsoft.com/office/officeart/2005/8/layout/hierarchy6"/>
    <dgm:cxn modelId="{4A3527BE-F9B2-4367-AEC5-48BF428765D9}" type="presParOf" srcId="{BA866BCB-63CB-4A78-A9BF-1AF8FF5AD7B1}" destId="{EACDAB9F-358E-4C7F-9C04-3229203C8A82}" srcOrd="3" destOrd="0" presId="urn:microsoft.com/office/officeart/2005/8/layout/hierarchy6"/>
    <dgm:cxn modelId="{ECA509FB-BAF7-483F-BF09-1D843A6EAA6F}" type="presParOf" srcId="{EACDAB9F-358E-4C7F-9C04-3229203C8A82}" destId="{FD09DCF9-CDB6-49F1-ACAD-10BFB9B83ECD}" srcOrd="0" destOrd="0" presId="urn:microsoft.com/office/officeart/2005/8/layout/hierarchy6"/>
    <dgm:cxn modelId="{CAB92983-A69E-4070-BB30-66EE26404B19}" type="presParOf" srcId="{EACDAB9F-358E-4C7F-9C04-3229203C8A82}" destId="{225498C7-148C-407A-B2E2-FDD384176974}" srcOrd="1" destOrd="0" presId="urn:microsoft.com/office/officeart/2005/8/layout/hierarchy6"/>
    <dgm:cxn modelId="{EA510C76-8073-4ADD-B8DB-7E78635C0723}" type="presParOf" srcId="{225498C7-148C-407A-B2E2-FDD384176974}" destId="{2E7B33AA-5E13-45E5-9FEE-D7152D73175C}" srcOrd="0" destOrd="0" presId="urn:microsoft.com/office/officeart/2005/8/layout/hierarchy6"/>
    <dgm:cxn modelId="{FE51C180-A6E1-4BF5-8D2C-168B5607C37C}" type="presParOf" srcId="{225498C7-148C-407A-B2E2-FDD384176974}" destId="{C62EEBB8-88BE-4B99-80AF-A9D7DA2790CE}" srcOrd="1" destOrd="0" presId="urn:microsoft.com/office/officeart/2005/8/layout/hierarchy6"/>
    <dgm:cxn modelId="{D8C1225F-3E47-465A-B1E9-0744B067DECC}" type="presParOf" srcId="{C62EEBB8-88BE-4B99-80AF-A9D7DA2790CE}" destId="{22BC20D7-022F-4E87-9CBD-CB4094F08174}" srcOrd="0" destOrd="0" presId="urn:microsoft.com/office/officeart/2005/8/layout/hierarchy6"/>
    <dgm:cxn modelId="{AF16B5D7-E044-4132-8E5D-12451C52C23B}" type="presParOf" srcId="{C62EEBB8-88BE-4B99-80AF-A9D7DA2790CE}" destId="{166F45BA-E2B5-4B25-900C-35C708B40B2D}" srcOrd="1" destOrd="0" presId="urn:microsoft.com/office/officeart/2005/8/layout/hierarchy6"/>
    <dgm:cxn modelId="{E9EF2F9B-8D1C-4348-AEFF-7C5C46E502C8}" type="presParOf" srcId="{225498C7-148C-407A-B2E2-FDD384176974}" destId="{03DFE27D-4861-48D1-9B9F-C0400A1776A2}" srcOrd="2" destOrd="0" presId="urn:microsoft.com/office/officeart/2005/8/layout/hierarchy6"/>
    <dgm:cxn modelId="{CB0E2B76-DBB3-4610-8CD0-DA821FA16FEA}" type="presParOf" srcId="{225498C7-148C-407A-B2E2-FDD384176974}" destId="{712AE007-3B90-4FDF-B0F7-EEEC284E9908}" srcOrd="3" destOrd="0" presId="urn:microsoft.com/office/officeart/2005/8/layout/hierarchy6"/>
    <dgm:cxn modelId="{CEA0C4D7-F22C-4CF3-9951-9AADF43C94C7}" type="presParOf" srcId="{712AE007-3B90-4FDF-B0F7-EEEC284E9908}" destId="{4A5D0DAC-82CF-4B76-A43B-3982BD015636}" srcOrd="0" destOrd="0" presId="urn:microsoft.com/office/officeart/2005/8/layout/hierarchy6"/>
    <dgm:cxn modelId="{27CBDB79-8055-4D3D-BE63-0AA8A5D93474}" type="presParOf" srcId="{712AE007-3B90-4FDF-B0F7-EEEC284E9908}" destId="{78F3A4B0-8B50-47BA-B8BE-845F6DBACA5C}" srcOrd="1" destOrd="0" presId="urn:microsoft.com/office/officeart/2005/8/layout/hierarchy6"/>
    <dgm:cxn modelId="{7DC1C96B-46A9-4FFD-A53F-9D5CAE7F0001}" type="presParOf" srcId="{68C7779D-1C83-4134-AA78-C44CC9345935}" destId="{A0E557A7-04BE-4629-9B16-E49D9FA1D118}" srcOrd="1" destOrd="0" presId="urn:microsoft.com/office/officeart/2005/8/layout/hierarchy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343E373-6FF1-46AA-9DA0-C72D954E4F5E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BDEDD001-E92A-476D-9F0F-8D2203275EE1}">
      <dgm:prSet phldrT="[Text]" custT="1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 w="38100">
          <a:noFill/>
        </a:ln>
      </dgm:spPr>
      <dgm:t>
        <a:bodyPr/>
        <a:lstStyle/>
        <a:p>
          <a:r>
            <a:rPr lang="en-IN" sz="4700" dirty="0">
              <a:latin typeface="Times New Roman" panose="02020603050405020304" pitchFamily="18" charset="0"/>
              <a:cs typeface="Times New Roman" panose="02020603050405020304" pitchFamily="18" charset="0"/>
            </a:rPr>
            <a:t>Real Time System</a:t>
          </a:r>
          <a:endParaRPr lang="en-IN" sz="4700" dirty="0"/>
        </a:p>
      </dgm:t>
    </dgm:pt>
    <dgm:pt modelId="{2B319D70-5355-4D26-B43F-735A8F492382}" type="parTrans" cxnId="{50A9C674-BB5A-46D7-A94E-F5C6A1616AB1}">
      <dgm:prSet/>
      <dgm:spPr/>
      <dgm:t>
        <a:bodyPr/>
        <a:lstStyle/>
        <a:p>
          <a:endParaRPr lang="en-IN"/>
        </a:p>
      </dgm:t>
    </dgm:pt>
    <dgm:pt modelId="{595130F0-5A8C-4988-B19E-3165947A62F4}" type="sibTrans" cxnId="{50A9C674-BB5A-46D7-A94E-F5C6A1616AB1}">
      <dgm:prSet/>
      <dgm:spPr/>
      <dgm:t>
        <a:bodyPr/>
        <a:lstStyle/>
        <a:p>
          <a:endParaRPr lang="en-IN"/>
        </a:p>
      </dgm:t>
    </dgm:pt>
    <dgm:pt modelId="{E4C71FC6-B69A-45E7-AD79-E304D9759C10}">
      <dgm:prSet phldrT="[Text]" custT="1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 w="38100"/>
      </dgm:spPr>
      <dgm:t>
        <a:bodyPr spcFirstLastPara="0" vert="horz" wrap="square" lIns="29845" tIns="29845" rIns="29845" bIns="29845" numCol="1" spcCol="1270" anchor="ctr" anchorCtr="0"/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700" kern="1200" dirty="0">
              <a:solidFill>
                <a:prstClr val="black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Hard</a:t>
          </a:r>
        </a:p>
      </dgm:t>
    </dgm:pt>
    <dgm:pt modelId="{C01D81D8-A285-40F3-922F-ED94814481CF}" type="parTrans" cxnId="{D492B670-DCD0-482E-844E-A7C821873CFF}">
      <dgm:prSet>
        <dgm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dgm:style>
      </dgm:prSet>
      <dgm:spPr>
        <a:ln w="38100"/>
      </dgm:spPr>
      <dgm:t>
        <a:bodyPr/>
        <a:lstStyle/>
        <a:p>
          <a:endParaRPr lang="en-IN"/>
        </a:p>
      </dgm:t>
    </dgm:pt>
    <dgm:pt modelId="{6ADBF5F5-8168-4517-93D1-C2A889AE4D2B}" type="sibTrans" cxnId="{D492B670-DCD0-482E-844E-A7C821873CFF}">
      <dgm:prSet/>
      <dgm:spPr/>
      <dgm:t>
        <a:bodyPr/>
        <a:lstStyle/>
        <a:p>
          <a:endParaRPr lang="en-IN"/>
        </a:p>
      </dgm:t>
    </dgm:pt>
    <dgm:pt modelId="{803D14EC-346C-424C-8D63-50F6DCBB8686}">
      <dgm:prSet phldrT="[Text]" custT="1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 w="38100"/>
      </dgm:spPr>
      <dgm:t>
        <a:bodyPr spcFirstLastPara="0" vert="horz" wrap="square" lIns="29845" tIns="29845" rIns="29845" bIns="29845" numCol="1" spcCol="1270" anchor="ctr" anchorCtr="0"/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700" kern="1200" dirty="0">
              <a:solidFill>
                <a:prstClr val="black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Soft</a:t>
          </a:r>
        </a:p>
      </dgm:t>
    </dgm:pt>
    <dgm:pt modelId="{20A52149-94AA-483B-920B-4A48C2EC198D}" type="parTrans" cxnId="{F28BF94C-A2DD-4A97-A00F-49CF473B8D3A}">
      <dgm:prSet>
        <dgm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dgm:style>
      </dgm:prSet>
      <dgm:spPr>
        <a:ln w="38100"/>
      </dgm:spPr>
      <dgm:t>
        <a:bodyPr/>
        <a:lstStyle/>
        <a:p>
          <a:endParaRPr lang="en-IN"/>
        </a:p>
      </dgm:t>
    </dgm:pt>
    <dgm:pt modelId="{E5062669-F748-4222-9AA7-66AEA0C52A2F}" type="sibTrans" cxnId="{F28BF94C-A2DD-4A97-A00F-49CF473B8D3A}">
      <dgm:prSet/>
      <dgm:spPr/>
      <dgm:t>
        <a:bodyPr/>
        <a:lstStyle/>
        <a:p>
          <a:endParaRPr lang="en-IN"/>
        </a:p>
      </dgm:t>
    </dgm:pt>
    <dgm:pt modelId="{5424E898-30D3-47BA-8F87-D0E76F0DB0DC}" type="pres">
      <dgm:prSet presAssocID="{2343E373-6FF1-46AA-9DA0-C72D954E4F5E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587A6D55-1C4B-4972-AB7E-18B80CBD8C8E}" type="pres">
      <dgm:prSet presAssocID="{BDEDD001-E92A-476D-9F0F-8D2203275EE1}" presName="hierRoot1" presStyleCnt="0">
        <dgm:presLayoutVars>
          <dgm:hierBranch val="init"/>
        </dgm:presLayoutVars>
      </dgm:prSet>
      <dgm:spPr/>
    </dgm:pt>
    <dgm:pt modelId="{D08081A1-38D9-476F-B8EC-27889EA8A6EC}" type="pres">
      <dgm:prSet presAssocID="{BDEDD001-E92A-476D-9F0F-8D2203275EE1}" presName="rootComposite1" presStyleCnt="0"/>
      <dgm:spPr/>
    </dgm:pt>
    <dgm:pt modelId="{30B1949E-73EB-4A29-8EAB-AA9D69AEDCD1}" type="pres">
      <dgm:prSet presAssocID="{BDEDD001-E92A-476D-9F0F-8D2203275EE1}" presName="rootText1" presStyleLbl="node0" presStyleIdx="0" presStyleCnt="1" custScaleX="201951" custScaleY="28198" custLinFactNeighborY="6023">
        <dgm:presLayoutVars>
          <dgm:chPref val="3"/>
        </dgm:presLayoutVars>
      </dgm:prSet>
      <dgm:spPr/>
    </dgm:pt>
    <dgm:pt modelId="{787A90FD-FE15-4B23-98C7-682C6A12FEE0}" type="pres">
      <dgm:prSet presAssocID="{BDEDD001-E92A-476D-9F0F-8D2203275EE1}" presName="rootConnector1" presStyleLbl="node1" presStyleIdx="0" presStyleCnt="0"/>
      <dgm:spPr/>
    </dgm:pt>
    <dgm:pt modelId="{6E0B2C8C-1D8A-46B7-9863-65736AB74CD2}" type="pres">
      <dgm:prSet presAssocID="{BDEDD001-E92A-476D-9F0F-8D2203275EE1}" presName="hierChild2" presStyleCnt="0"/>
      <dgm:spPr/>
    </dgm:pt>
    <dgm:pt modelId="{FEB0826B-9DA7-4FF9-ACF0-58DE1C218761}" type="pres">
      <dgm:prSet presAssocID="{C01D81D8-A285-40F3-922F-ED94814481CF}" presName="Name37" presStyleLbl="parChTrans1D2" presStyleIdx="0" presStyleCnt="2"/>
      <dgm:spPr/>
    </dgm:pt>
    <dgm:pt modelId="{FF81EA87-35E1-4214-84A5-1EA67128476F}" type="pres">
      <dgm:prSet presAssocID="{E4C71FC6-B69A-45E7-AD79-E304D9759C10}" presName="hierRoot2" presStyleCnt="0">
        <dgm:presLayoutVars>
          <dgm:hierBranch val="init"/>
        </dgm:presLayoutVars>
      </dgm:prSet>
      <dgm:spPr/>
    </dgm:pt>
    <dgm:pt modelId="{6137BD13-56AE-4E29-9E75-74D39931C03B}" type="pres">
      <dgm:prSet presAssocID="{E4C71FC6-B69A-45E7-AD79-E304D9759C10}" presName="rootComposite" presStyleCnt="0"/>
      <dgm:spPr/>
    </dgm:pt>
    <dgm:pt modelId="{9E2C08AC-1A04-4C3A-B53A-ABE91F7CE56B}" type="pres">
      <dgm:prSet presAssocID="{E4C71FC6-B69A-45E7-AD79-E304D9759C10}" presName="rootText" presStyleLbl="node2" presStyleIdx="0" presStyleCnt="2" custScaleX="69338" custScaleY="38545" custLinFactNeighborX="-39912" custLinFactNeighborY="-2137">
        <dgm:presLayoutVars>
          <dgm:chPref val="3"/>
        </dgm:presLayoutVars>
      </dgm:prSet>
      <dgm:spPr>
        <a:xfrm>
          <a:off x="0" y="1915955"/>
          <a:ext cx="4009317" cy="772695"/>
        </a:xfrm>
        <a:prstGeom prst="rect">
          <a:avLst/>
        </a:prstGeom>
      </dgm:spPr>
    </dgm:pt>
    <dgm:pt modelId="{9B3902A4-921B-4469-B069-A4A40441DE28}" type="pres">
      <dgm:prSet presAssocID="{E4C71FC6-B69A-45E7-AD79-E304D9759C10}" presName="rootConnector" presStyleLbl="node2" presStyleIdx="0" presStyleCnt="2"/>
      <dgm:spPr/>
    </dgm:pt>
    <dgm:pt modelId="{8A16658C-C79C-4D28-8281-568C0AACB272}" type="pres">
      <dgm:prSet presAssocID="{E4C71FC6-B69A-45E7-AD79-E304D9759C10}" presName="hierChild4" presStyleCnt="0"/>
      <dgm:spPr/>
    </dgm:pt>
    <dgm:pt modelId="{B072360E-EB70-4872-99FC-EA56FD8D56F8}" type="pres">
      <dgm:prSet presAssocID="{E4C71FC6-B69A-45E7-AD79-E304D9759C10}" presName="hierChild5" presStyleCnt="0"/>
      <dgm:spPr/>
    </dgm:pt>
    <dgm:pt modelId="{D17AB5D9-0379-4CB1-94A1-86D34FE172EB}" type="pres">
      <dgm:prSet presAssocID="{20A52149-94AA-483B-920B-4A48C2EC198D}" presName="Name37" presStyleLbl="parChTrans1D2" presStyleIdx="1" presStyleCnt="2"/>
      <dgm:spPr/>
    </dgm:pt>
    <dgm:pt modelId="{53CE7D2D-D12B-43BF-90FE-A952CEA9140F}" type="pres">
      <dgm:prSet presAssocID="{803D14EC-346C-424C-8D63-50F6DCBB8686}" presName="hierRoot2" presStyleCnt="0">
        <dgm:presLayoutVars>
          <dgm:hierBranch val="init"/>
        </dgm:presLayoutVars>
      </dgm:prSet>
      <dgm:spPr/>
    </dgm:pt>
    <dgm:pt modelId="{6759762E-739A-4014-B634-5456C9E7D7D9}" type="pres">
      <dgm:prSet presAssocID="{803D14EC-346C-424C-8D63-50F6DCBB8686}" presName="rootComposite" presStyleCnt="0"/>
      <dgm:spPr/>
    </dgm:pt>
    <dgm:pt modelId="{17A4C8D7-B00F-4737-92B7-07F592932EF9}" type="pres">
      <dgm:prSet presAssocID="{803D14EC-346C-424C-8D63-50F6DCBB8686}" presName="rootText" presStyleLbl="node2" presStyleIdx="1" presStyleCnt="2" custScaleX="69324" custScaleY="38559" custLinFactNeighborX="43288" custLinFactNeighborY="-2250">
        <dgm:presLayoutVars>
          <dgm:chPref val="3"/>
        </dgm:presLayoutVars>
      </dgm:prSet>
      <dgm:spPr>
        <a:xfrm>
          <a:off x="5890493" y="1926157"/>
          <a:ext cx="2710753" cy="1355376"/>
        </a:xfrm>
        <a:prstGeom prst="rect">
          <a:avLst/>
        </a:prstGeom>
      </dgm:spPr>
    </dgm:pt>
    <dgm:pt modelId="{5574E312-6320-45BE-816D-F82E20223F3C}" type="pres">
      <dgm:prSet presAssocID="{803D14EC-346C-424C-8D63-50F6DCBB8686}" presName="rootConnector" presStyleLbl="node2" presStyleIdx="1" presStyleCnt="2"/>
      <dgm:spPr/>
    </dgm:pt>
    <dgm:pt modelId="{0DF581E6-F380-4E00-B974-D1E194B8B1F0}" type="pres">
      <dgm:prSet presAssocID="{803D14EC-346C-424C-8D63-50F6DCBB8686}" presName="hierChild4" presStyleCnt="0"/>
      <dgm:spPr/>
    </dgm:pt>
    <dgm:pt modelId="{3FF639B7-0AE2-43E5-BC8A-52B276551650}" type="pres">
      <dgm:prSet presAssocID="{803D14EC-346C-424C-8D63-50F6DCBB8686}" presName="hierChild5" presStyleCnt="0"/>
      <dgm:spPr/>
    </dgm:pt>
    <dgm:pt modelId="{C91EA11A-B52E-4289-B73C-5BAEA48C71B8}" type="pres">
      <dgm:prSet presAssocID="{BDEDD001-E92A-476D-9F0F-8D2203275EE1}" presName="hierChild3" presStyleCnt="0"/>
      <dgm:spPr/>
    </dgm:pt>
  </dgm:ptLst>
  <dgm:cxnLst>
    <dgm:cxn modelId="{2567BB10-830D-4BF3-962D-2272BA8B0445}" type="presOf" srcId="{2343E373-6FF1-46AA-9DA0-C72D954E4F5E}" destId="{5424E898-30D3-47BA-8F87-D0E76F0DB0DC}" srcOrd="0" destOrd="0" presId="urn:microsoft.com/office/officeart/2005/8/layout/orgChart1"/>
    <dgm:cxn modelId="{1105FA19-205B-4723-92D9-E4FB2E5EA986}" type="presOf" srcId="{BDEDD001-E92A-476D-9F0F-8D2203275EE1}" destId="{30B1949E-73EB-4A29-8EAB-AA9D69AEDCD1}" srcOrd="0" destOrd="0" presId="urn:microsoft.com/office/officeart/2005/8/layout/orgChart1"/>
    <dgm:cxn modelId="{F28BF94C-A2DD-4A97-A00F-49CF473B8D3A}" srcId="{BDEDD001-E92A-476D-9F0F-8D2203275EE1}" destId="{803D14EC-346C-424C-8D63-50F6DCBB8686}" srcOrd="1" destOrd="0" parTransId="{20A52149-94AA-483B-920B-4A48C2EC198D}" sibTransId="{E5062669-F748-4222-9AA7-66AEA0C52A2F}"/>
    <dgm:cxn modelId="{D492B670-DCD0-482E-844E-A7C821873CFF}" srcId="{BDEDD001-E92A-476D-9F0F-8D2203275EE1}" destId="{E4C71FC6-B69A-45E7-AD79-E304D9759C10}" srcOrd="0" destOrd="0" parTransId="{C01D81D8-A285-40F3-922F-ED94814481CF}" sibTransId="{6ADBF5F5-8168-4517-93D1-C2A889AE4D2B}"/>
    <dgm:cxn modelId="{55005B53-C341-488E-BB1F-9EFF7D68E7E4}" type="presOf" srcId="{803D14EC-346C-424C-8D63-50F6DCBB8686}" destId="{5574E312-6320-45BE-816D-F82E20223F3C}" srcOrd="1" destOrd="0" presId="urn:microsoft.com/office/officeart/2005/8/layout/orgChart1"/>
    <dgm:cxn modelId="{50A9C674-BB5A-46D7-A94E-F5C6A1616AB1}" srcId="{2343E373-6FF1-46AA-9DA0-C72D954E4F5E}" destId="{BDEDD001-E92A-476D-9F0F-8D2203275EE1}" srcOrd="0" destOrd="0" parTransId="{2B319D70-5355-4D26-B43F-735A8F492382}" sibTransId="{595130F0-5A8C-4988-B19E-3165947A62F4}"/>
    <dgm:cxn modelId="{32F1AD92-8413-4566-B59E-DC6841148B0F}" type="presOf" srcId="{E4C71FC6-B69A-45E7-AD79-E304D9759C10}" destId="{9E2C08AC-1A04-4C3A-B53A-ABE91F7CE56B}" srcOrd="0" destOrd="0" presId="urn:microsoft.com/office/officeart/2005/8/layout/orgChart1"/>
    <dgm:cxn modelId="{0F6F50AD-7C32-42E3-B31A-DC0C492424FA}" type="presOf" srcId="{E4C71FC6-B69A-45E7-AD79-E304D9759C10}" destId="{9B3902A4-921B-4469-B069-A4A40441DE28}" srcOrd="1" destOrd="0" presId="urn:microsoft.com/office/officeart/2005/8/layout/orgChart1"/>
    <dgm:cxn modelId="{E7805EB6-0398-4F51-883C-B59D09717F5F}" type="presOf" srcId="{BDEDD001-E92A-476D-9F0F-8D2203275EE1}" destId="{787A90FD-FE15-4B23-98C7-682C6A12FEE0}" srcOrd="1" destOrd="0" presId="urn:microsoft.com/office/officeart/2005/8/layout/orgChart1"/>
    <dgm:cxn modelId="{5C9CB8C9-F35E-410F-9FA8-EEA3C1788C1A}" type="presOf" srcId="{20A52149-94AA-483B-920B-4A48C2EC198D}" destId="{D17AB5D9-0379-4CB1-94A1-86D34FE172EB}" srcOrd="0" destOrd="0" presId="urn:microsoft.com/office/officeart/2005/8/layout/orgChart1"/>
    <dgm:cxn modelId="{0F93F0DC-A0FB-40EE-9946-22FC179AFE66}" type="presOf" srcId="{C01D81D8-A285-40F3-922F-ED94814481CF}" destId="{FEB0826B-9DA7-4FF9-ACF0-58DE1C218761}" srcOrd="0" destOrd="0" presId="urn:microsoft.com/office/officeart/2005/8/layout/orgChart1"/>
    <dgm:cxn modelId="{3F2BB3EA-94EA-4CB6-BC3D-4AF4FCF6ECAB}" type="presOf" srcId="{803D14EC-346C-424C-8D63-50F6DCBB8686}" destId="{17A4C8D7-B00F-4737-92B7-07F592932EF9}" srcOrd="0" destOrd="0" presId="urn:microsoft.com/office/officeart/2005/8/layout/orgChart1"/>
    <dgm:cxn modelId="{CE066357-083E-4320-A204-23BC0BAD7B7A}" type="presParOf" srcId="{5424E898-30D3-47BA-8F87-D0E76F0DB0DC}" destId="{587A6D55-1C4B-4972-AB7E-18B80CBD8C8E}" srcOrd="0" destOrd="0" presId="urn:microsoft.com/office/officeart/2005/8/layout/orgChart1"/>
    <dgm:cxn modelId="{B34CFF9A-E872-46DF-B014-3B6AC47189CE}" type="presParOf" srcId="{587A6D55-1C4B-4972-AB7E-18B80CBD8C8E}" destId="{D08081A1-38D9-476F-B8EC-27889EA8A6EC}" srcOrd="0" destOrd="0" presId="urn:microsoft.com/office/officeart/2005/8/layout/orgChart1"/>
    <dgm:cxn modelId="{FBA67FFC-800F-432C-9AE6-0B0D9C8CF34A}" type="presParOf" srcId="{D08081A1-38D9-476F-B8EC-27889EA8A6EC}" destId="{30B1949E-73EB-4A29-8EAB-AA9D69AEDCD1}" srcOrd="0" destOrd="0" presId="urn:microsoft.com/office/officeart/2005/8/layout/orgChart1"/>
    <dgm:cxn modelId="{E2C86BF7-A86A-4A4C-92E7-EBD9433DAA2C}" type="presParOf" srcId="{D08081A1-38D9-476F-B8EC-27889EA8A6EC}" destId="{787A90FD-FE15-4B23-98C7-682C6A12FEE0}" srcOrd="1" destOrd="0" presId="urn:microsoft.com/office/officeart/2005/8/layout/orgChart1"/>
    <dgm:cxn modelId="{26458B10-B831-48A6-9A25-37444C3C5D70}" type="presParOf" srcId="{587A6D55-1C4B-4972-AB7E-18B80CBD8C8E}" destId="{6E0B2C8C-1D8A-46B7-9863-65736AB74CD2}" srcOrd="1" destOrd="0" presId="urn:microsoft.com/office/officeart/2005/8/layout/orgChart1"/>
    <dgm:cxn modelId="{5F67C38D-68AF-44EB-BDE5-883DD9E99BDF}" type="presParOf" srcId="{6E0B2C8C-1D8A-46B7-9863-65736AB74CD2}" destId="{FEB0826B-9DA7-4FF9-ACF0-58DE1C218761}" srcOrd="0" destOrd="0" presId="urn:microsoft.com/office/officeart/2005/8/layout/orgChart1"/>
    <dgm:cxn modelId="{1C844EB2-5D32-48C1-A0BD-7B2C24C32E0A}" type="presParOf" srcId="{6E0B2C8C-1D8A-46B7-9863-65736AB74CD2}" destId="{FF81EA87-35E1-4214-84A5-1EA67128476F}" srcOrd="1" destOrd="0" presId="urn:microsoft.com/office/officeart/2005/8/layout/orgChart1"/>
    <dgm:cxn modelId="{BDC12445-9E90-4B1C-82C8-8C72917CEC25}" type="presParOf" srcId="{FF81EA87-35E1-4214-84A5-1EA67128476F}" destId="{6137BD13-56AE-4E29-9E75-74D39931C03B}" srcOrd="0" destOrd="0" presId="urn:microsoft.com/office/officeart/2005/8/layout/orgChart1"/>
    <dgm:cxn modelId="{A43014EC-A842-45AA-9C72-80A230A42BA1}" type="presParOf" srcId="{6137BD13-56AE-4E29-9E75-74D39931C03B}" destId="{9E2C08AC-1A04-4C3A-B53A-ABE91F7CE56B}" srcOrd="0" destOrd="0" presId="urn:microsoft.com/office/officeart/2005/8/layout/orgChart1"/>
    <dgm:cxn modelId="{7335A90A-BDD1-4DA4-828F-2B351BFD2C25}" type="presParOf" srcId="{6137BD13-56AE-4E29-9E75-74D39931C03B}" destId="{9B3902A4-921B-4469-B069-A4A40441DE28}" srcOrd="1" destOrd="0" presId="urn:microsoft.com/office/officeart/2005/8/layout/orgChart1"/>
    <dgm:cxn modelId="{DA45F258-6C12-42CF-BE1D-4E8BAB0F56DF}" type="presParOf" srcId="{FF81EA87-35E1-4214-84A5-1EA67128476F}" destId="{8A16658C-C79C-4D28-8281-568C0AACB272}" srcOrd="1" destOrd="0" presId="urn:microsoft.com/office/officeart/2005/8/layout/orgChart1"/>
    <dgm:cxn modelId="{5E62D18D-91AF-49B1-BB66-5CF7791AFBB8}" type="presParOf" srcId="{FF81EA87-35E1-4214-84A5-1EA67128476F}" destId="{B072360E-EB70-4872-99FC-EA56FD8D56F8}" srcOrd="2" destOrd="0" presId="urn:microsoft.com/office/officeart/2005/8/layout/orgChart1"/>
    <dgm:cxn modelId="{5C954A3C-7E0A-4CDF-9241-A817439231BD}" type="presParOf" srcId="{6E0B2C8C-1D8A-46B7-9863-65736AB74CD2}" destId="{D17AB5D9-0379-4CB1-94A1-86D34FE172EB}" srcOrd="2" destOrd="0" presId="urn:microsoft.com/office/officeart/2005/8/layout/orgChart1"/>
    <dgm:cxn modelId="{696C8774-C75A-4AF4-8932-7CFC6E8896EA}" type="presParOf" srcId="{6E0B2C8C-1D8A-46B7-9863-65736AB74CD2}" destId="{53CE7D2D-D12B-43BF-90FE-A952CEA9140F}" srcOrd="3" destOrd="0" presId="urn:microsoft.com/office/officeart/2005/8/layout/orgChart1"/>
    <dgm:cxn modelId="{2BD15A74-6CF7-46E9-8DE1-B55EF27B5BFB}" type="presParOf" srcId="{53CE7D2D-D12B-43BF-90FE-A952CEA9140F}" destId="{6759762E-739A-4014-B634-5456C9E7D7D9}" srcOrd="0" destOrd="0" presId="urn:microsoft.com/office/officeart/2005/8/layout/orgChart1"/>
    <dgm:cxn modelId="{3787026D-872E-4369-AC7D-65DFF14D1526}" type="presParOf" srcId="{6759762E-739A-4014-B634-5456C9E7D7D9}" destId="{17A4C8D7-B00F-4737-92B7-07F592932EF9}" srcOrd="0" destOrd="0" presId="urn:microsoft.com/office/officeart/2005/8/layout/orgChart1"/>
    <dgm:cxn modelId="{F321C9B6-F52D-485F-96C8-9132E89DFE00}" type="presParOf" srcId="{6759762E-739A-4014-B634-5456C9E7D7D9}" destId="{5574E312-6320-45BE-816D-F82E20223F3C}" srcOrd="1" destOrd="0" presId="urn:microsoft.com/office/officeart/2005/8/layout/orgChart1"/>
    <dgm:cxn modelId="{6D467431-0779-479C-86F4-6CC3E6B3BC7D}" type="presParOf" srcId="{53CE7D2D-D12B-43BF-90FE-A952CEA9140F}" destId="{0DF581E6-F380-4E00-B974-D1E194B8B1F0}" srcOrd="1" destOrd="0" presId="urn:microsoft.com/office/officeart/2005/8/layout/orgChart1"/>
    <dgm:cxn modelId="{0365FDB1-7750-43FE-9FBE-E6670D3FDBEE}" type="presParOf" srcId="{53CE7D2D-D12B-43BF-90FE-A952CEA9140F}" destId="{3FF639B7-0AE2-43E5-BC8A-52B276551650}" srcOrd="2" destOrd="0" presId="urn:microsoft.com/office/officeart/2005/8/layout/orgChart1"/>
    <dgm:cxn modelId="{5CA5D1DF-D76D-454E-8397-96A7D0E93AEB}" type="presParOf" srcId="{587A6D55-1C4B-4972-AB7E-18B80CBD8C8E}" destId="{C91EA11A-B52E-4289-B73C-5BAEA48C71B8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E9FECA-0FB8-49D6-BCDA-43D6918CE875}">
      <dsp:nvSpPr>
        <dsp:cNvPr id="0" name=""/>
        <dsp:cNvSpPr/>
      </dsp:nvSpPr>
      <dsp:spPr>
        <a:xfrm>
          <a:off x="3866729" y="965512"/>
          <a:ext cx="1980201" cy="81971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500" kern="1200" dirty="0"/>
            <a:t>Timer</a:t>
          </a:r>
        </a:p>
      </dsp:txBody>
      <dsp:txXfrm>
        <a:off x="3890738" y="989521"/>
        <a:ext cx="1932183" cy="771693"/>
      </dsp:txXfrm>
    </dsp:sp>
    <dsp:sp modelId="{D770C71D-69A7-47D7-B4BC-48A84F0BD87C}">
      <dsp:nvSpPr>
        <dsp:cNvPr id="0" name=""/>
        <dsp:cNvSpPr/>
      </dsp:nvSpPr>
      <dsp:spPr>
        <a:xfrm>
          <a:off x="2282568" y="1785224"/>
          <a:ext cx="2574262" cy="354574"/>
        </a:xfrm>
        <a:custGeom>
          <a:avLst/>
          <a:gdLst/>
          <a:ahLst/>
          <a:cxnLst/>
          <a:rect l="0" t="0" r="0" b="0"/>
          <a:pathLst>
            <a:path>
              <a:moveTo>
                <a:pt x="2574262" y="0"/>
              </a:moveTo>
              <a:lnTo>
                <a:pt x="2574262" y="177287"/>
              </a:lnTo>
              <a:lnTo>
                <a:pt x="0" y="177287"/>
              </a:lnTo>
              <a:lnTo>
                <a:pt x="0" y="35457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8F68F2E-E27F-4B39-A581-DA1C4FC32531}">
      <dsp:nvSpPr>
        <dsp:cNvPr id="0" name=""/>
        <dsp:cNvSpPr/>
      </dsp:nvSpPr>
      <dsp:spPr>
        <a:xfrm>
          <a:off x="1292467" y="2139799"/>
          <a:ext cx="1980201" cy="81971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500" kern="1200" dirty="0"/>
            <a:t>Timer</a:t>
          </a:r>
        </a:p>
      </dsp:txBody>
      <dsp:txXfrm>
        <a:off x="1316476" y="2163808"/>
        <a:ext cx="1932183" cy="771693"/>
      </dsp:txXfrm>
    </dsp:sp>
    <dsp:sp modelId="{79D39A51-CA87-4F2C-8AE9-C5F082D3EAEB}">
      <dsp:nvSpPr>
        <dsp:cNvPr id="0" name=""/>
        <dsp:cNvSpPr/>
      </dsp:nvSpPr>
      <dsp:spPr>
        <a:xfrm>
          <a:off x="995436" y="2959510"/>
          <a:ext cx="1287131" cy="1568306"/>
        </a:xfrm>
        <a:custGeom>
          <a:avLst/>
          <a:gdLst/>
          <a:ahLst/>
          <a:cxnLst/>
          <a:rect l="0" t="0" r="0" b="0"/>
          <a:pathLst>
            <a:path>
              <a:moveTo>
                <a:pt x="1287131" y="0"/>
              </a:moveTo>
              <a:lnTo>
                <a:pt x="1287131" y="784153"/>
              </a:lnTo>
              <a:lnTo>
                <a:pt x="0" y="784153"/>
              </a:lnTo>
              <a:lnTo>
                <a:pt x="0" y="156830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467EFC1-F49A-444F-A8C0-3EAEA256C9E4}">
      <dsp:nvSpPr>
        <dsp:cNvPr id="0" name=""/>
        <dsp:cNvSpPr/>
      </dsp:nvSpPr>
      <dsp:spPr>
        <a:xfrm>
          <a:off x="5335" y="4527816"/>
          <a:ext cx="1980201" cy="81971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500" kern="1200" dirty="0"/>
            <a:t>UP</a:t>
          </a:r>
        </a:p>
      </dsp:txBody>
      <dsp:txXfrm>
        <a:off x="29344" y="4551825"/>
        <a:ext cx="1932183" cy="771693"/>
      </dsp:txXfrm>
    </dsp:sp>
    <dsp:sp modelId="{57B14A83-1B2E-4018-BC48-5F6C11D89052}">
      <dsp:nvSpPr>
        <dsp:cNvPr id="0" name=""/>
        <dsp:cNvSpPr/>
      </dsp:nvSpPr>
      <dsp:spPr>
        <a:xfrm>
          <a:off x="2282568" y="2959510"/>
          <a:ext cx="1287131" cy="156830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84153"/>
              </a:lnTo>
              <a:lnTo>
                <a:pt x="1287131" y="784153"/>
              </a:lnTo>
              <a:lnTo>
                <a:pt x="1287131" y="156830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38A2101-EB48-48AA-B4BB-D27C3225885C}">
      <dsp:nvSpPr>
        <dsp:cNvPr id="0" name=""/>
        <dsp:cNvSpPr/>
      </dsp:nvSpPr>
      <dsp:spPr>
        <a:xfrm>
          <a:off x="2579598" y="4527816"/>
          <a:ext cx="1980201" cy="81971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500" kern="1200" dirty="0"/>
            <a:t>DOWN</a:t>
          </a:r>
        </a:p>
      </dsp:txBody>
      <dsp:txXfrm>
        <a:off x="2603607" y="4551825"/>
        <a:ext cx="1932183" cy="771693"/>
      </dsp:txXfrm>
    </dsp:sp>
    <dsp:sp modelId="{09BCE623-9C54-4E5C-BB0C-E1E6F1254B19}">
      <dsp:nvSpPr>
        <dsp:cNvPr id="0" name=""/>
        <dsp:cNvSpPr/>
      </dsp:nvSpPr>
      <dsp:spPr>
        <a:xfrm>
          <a:off x="4856830" y="1785224"/>
          <a:ext cx="2574262" cy="3545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7287"/>
              </a:lnTo>
              <a:lnTo>
                <a:pt x="2574262" y="177287"/>
              </a:lnTo>
              <a:lnTo>
                <a:pt x="2574262" y="35457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D09DCF9-CDB6-49F1-ACAD-10BFB9B83ECD}">
      <dsp:nvSpPr>
        <dsp:cNvPr id="0" name=""/>
        <dsp:cNvSpPr/>
      </dsp:nvSpPr>
      <dsp:spPr>
        <a:xfrm>
          <a:off x="6440992" y="2139799"/>
          <a:ext cx="1980201" cy="81971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500" kern="1200" dirty="0"/>
            <a:t>Counter</a:t>
          </a:r>
        </a:p>
      </dsp:txBody>
      <dsp:txXfrm>
        <a:off x="6465001" y="2163808"/>
        <a:ext cx="1932183" cy="771693"/>
      </dsp:txXfrm>
    </dsp:sp>
    <dsp:sp modelId="{2E7B33AA-5E13-45E5-9FEE-D7152D73175C}">
      <dsp:nvSpPr>
        <dsp:cNvPr id="0" name=""/>
        <dsp:cNvSpPr/>
      </dsp:nvSpPr>
      <dsp:spPr>
        <a:xfrm>
          <a:off x="6143961" y="2959510"/>
          <a:ext cx="1287131" cy="1568306"/>
        </a:xfrm>
        <a:custGeom>
          <a:avLst/>
          <a:gdLst/>
          <a:ahLst/>
          <a:cxnLst/>
          <a:rect l="0" t="0" r="0" b="0"/>
          <a:pathLst>
            <a:path>
              <a:moveTo>
                <a:pt x="1287131" y="0"/>
              </a:moveTo>
              <a:lnTo>
                <a:pt x="1287131" y="784153"/>
              </a:lnTo>
              <a:lnTo>
                <a:pt x="0" y="784153"/>
              </a:lnTo>
              <a:lnTo>
                <a:pt x="0" y="156830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2BC20D7-022F-4E87-9CBD-CB4094F08174}">
      <dsp:nvSpPr>
        <dsp:cNvPr id="0" name=""/>
        <dsp:cNvSpPr/>
      </dsp:nvSpPr>
      <dsp:spPr>
        <a:xfrm>
          <a:off x="5153860" y="4527816"/>
          <a:ext cx="1980201" cy="81971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500" kern="1200" dirty="0"/>
            <a:t>UP</a:t>
          </a:r>
        </a:p>
      </dsp:txBody>
      <dsp:txXfrm>
        <a:off x="5177869" y="4551825"/>
        <a:ext cx="1932183" cy="771693"/>
      </dsp:txXfrm>
    </dsp:sp>
    <dsp:sp modelId="{03DFE27D-4861-48D1-9B9F-C0400A1776A2}">
      <dsp:nvSpPr>
        <dsp:cNvPr id="0" name=""/>
        <dsp:cNvSpPr/>
      </dsp:nvSpPr>
      <dsp:spPr>
        <a:xfrm>
          <a:off x="7431092" y="2959510"/>
          <a:ext cx="1287131" cy="156830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84153"/>
              </a:lnTo>
              <a:lnTo>
                <a:pt x="1287131" y="784153"/>
              </a:lnTo>
              <a:lnTo>
                <a:pt x="1287131" y="156830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A5D0DAC-82CF-4B76-A43B-3982BD015636}">
      <dsp:nvSpPr>
        <dsp:cNvPr id="0" name=""/>
        <dsp:cNvSpPr/>
      </dsp:nvSpPr>
      <dsp:spPr>
        <a:xfrm>
          <a:off x="7728123" y="4527816"/>
          <a:ext cx="1980201" cy="81971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500" kern="1200" dirty="0"/>
            <a:t>DOWN</a:t>
          </a:r>
        </a:p>
      </dsp:txBody>
      <dsp:txXfrm>
        <a:off x="7752132" y="4551825"/>
        <a:ext cx="1932183" cy="77169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7AB5D9-0379-4CB1-94A1-86D34FE172EB}">
      <dsp:nvSpPr>
        <dsp:cNvPr id="0" name=""/>
        <dsp:cNvSpPr/>
      </dsp:nvSpPr>
      <dsp:spPr>
        <a:xfrm>
          <a:off x="4432433" y="982216"/>
          <a:ext cx="2911442" cy="73998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79234"/>
              </a:lnTo>
              <a:lnTo>
                <a:pt x="2911442" y="279234"/>
              </a:lnTo>
              <a:lnTo>
                <a:pt x="2911442" y="739981"/>
              </a:lnTo>
            </a:path>
          </a:pathLst>
        </a:custGeom>
        <a:noFill/>
        <a:ln w="381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1">
          <a:schemeClr val="accent5"/>
        </a:lnRef>
        <a:fillRef idx="0">
          <a:schemeClr val="accent5"/>
        </a:fillRef>
        <a:effectRef idx="0">
          <a:schemeClr val="accent5"/>
        </a:effectRef>
        <a:fontRef idx="minor">
          <a:schemeClr val="tx1"/>
        </a:fontRef>
      </dsp:style>
    </dsp:sp>
    <dsp:sp modelId="{FEB0826B-9DA7-4FF9-ACF0-58DE1C218761}">
      <dsp:nvSpPr>
        <dsp:cNvPr id="0" name=""/>
        <dsp:cNvSpPr/>
      </dsp:nvSpPr>
      <dsp:spPr>
        <a:xfrm>
          <a:off x="1521298" y="982216"/>
          <a:ext cx="2911134" cy="742460"/>
        </a:xfrm>
        <a:custGeom>
          <a:avLst/>
          <a:gdLst/>
          <a:ahLst/>
          <a:cxnLst/>
          <a:rect l="0" t="0" r="0" b="0"/>
          <a:pathLst>
            <a:path>
              <a:moveTo>
                <a:pt x="2911134" y="0"/>
              </a:moveTo>
              <a:lnTo>
                <a:pt x="2911134" y="281713"/>
              </a:lnTo>
              <a:lnTo>
                <a:pt x="0" y="281713"/>
              </a:lnTo>
              <a:lnTo>
                <a:pt x="0" y="742460"/>
              </a:lnTo>
            </a:path>
          </a:pathLst>
        </a:custGeom>
        <a:noFill/>
        <a:ln w="381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1">
          <a:schemeClr val="accent5"/>
        </a:lnRef>
        <a:fillRef idx="0">
          <a:schemeClr val="accent5"/>
        </a:fillRef>
        <a:effectRef idx="0">
          <a:schemeClr val="accent5"/>
        </a:effectRef>
        <a:fontRef idx="minor">
          <a:schemeClr val="tx1"/>
        </a:fontRef>
      </dsp:style>
    </dsp:sp>
    <dsp:sp modelId="{30B1949E-73EB-4A29-8EAB-AA9D69AEDCD1}">
      <dsp:nvSpPr>
        <dsp:cNvPr id="0" name=""/>
        <dsp:cNvSpPr/>
      </dsp:nvSpPr>
      <dsp:spPr>
        <a:xfrm>
          <a:off x="1562" y="363542"/>
          <a:ext cx="8861742" cy="618673"/>
        </a:xfrm>
        <a:prstGeom prst="rect">
          <a:avLst/>
        </a:prstGeom>
        <a:solidFill>
          <a:schemeClr val="lt1"/>
        </a:solidFill>
        <a:ln w="38100" cap="flat" cmpd="sng" algn="ctr">
          <a:noFill/>
          <a:prstDash val="solid"/>
          <a:miter lim="800000"/>
        </a:ln>
        <a:effectLst/>
      </dsp:spPr>
      <dsp:style>
        <a:lnRef idx="2">
          <a:schemeClr val="accent5"/>
        </a:lnRef>
        <a:fillRef idx="1">
          <a:schemeClr val="lt1"/>
        </a:fillRef>
        <a:effectRef idx="0">
          <a:schemeClr val="accent5"/>
        </a:effectRef>
        <a:fontRef idx="minor">
          <a:schemeClr val="dk1"/>
        </a:fontRef>
      </dsp:style>
      <dsp:txBody>
        <a:bodyPr spcFirstLastPara="0" vert="horz" wrap="square" lIns="29845" tIns="29845" rIns="29845" bIns="29845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7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Real Time System</a:t>
          </a:r>
          <a:endParaRPr lang="en-IN" sz="4700" kern="1200" dirty="0"/>
        </a:p>
      </dsp:txBody>
      <dsp:txXfrm>
        <a:off x="1562" y="363542"/>
        <a:ext cx="8861742" cy="618673"/>
      </dsp:txXfrm>
    </dsp:sp>
    <dsp:sp modelId="{9E2C08AC-1A04-4C3A-B53A-ABE91F7CE56B}">
      <dsp:nvSpPr>
        <dsp:cNvPr id="0" name=""/>
        <dsp:cNvSpPr/>
      </dsp:nvSpPr>
      <dsp:spPr>
        <a:xfrm>
          <a:off x="0" y="1724677"/>
          <a:ext cx="3042597" cy="845689"/>
        </a:xfrm>
        <a:prstGeom prst="rect">
          <a:avLst/>
        </a:prstGeom>
        <a:solidFill>
          <a:schemeClr val="lt1"/>
        </a:solidFill>
        <a:ln w="381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hemeClr val="accent5"/>
        </a:lnRef>
        <a:fillRef idx="1">
          <a:schemeClr val="lt1"/>
        </a:fillRef>
        <a:effectRef idx="0">
          <a:schemeClr val="accent5"/>
        </a:effectRef>
        <a:fontRef idx="minor">
          <a:schemeClr val="dk1"/>
        </a:fontRef>
      </dsp:style>
      <dsp:txBody>
        <a:bodyPr spcFirstLastPara="0" vert="horz" wrap="square" lIns="29845" tIns="29845" rIns="29845" bIns="29845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700" kern="1200" dirty="0">
              <a:solidFill>
                <a:prstClr val="black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Hard</a:t>
          </a:r>
        </a:p>
      </dsp:txBody>
      <dsp:txXfrm>
        <a:off x="0" y="1724677"/>
        <a:ext cx="3042597" cy="845689"/>
      </dsp:txXfrm>
    </dsp:sp>
    <dsp:sp modelId="{17A4C8D7-B00F-4737-92B7-07F592932EF9}">
      <dsp:nvSpPr>
        <dsp:cNvPr id="0" name=""/>
        <dsp:cNvSpPr/>
      </dsp:nvSpPr>
      <dsp:spPr>
        <a:xfrm>
          <a:off x="5822884" y="1722197"/>
          <a:ext cx="3041982" cy="845997"/>
        </a:xfrm>
        <a:prstGeom prst="rect">
          <a:avLst/>
        </a:prstGeom>
        <a:solidFill>
          <a:schemeClr val="lt1"/>
        </a:solidFill>
        <a:ln w="381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hemeClr val="accent5"/>
        </a:lnRef>
        <a:fillRef idx="1">
          <a:schemeClr val="lt1"/>
        </a:fillRef>
        <a:effectRef idx="0">
          <a:schemeClr val="accent5"/>
        </a:effectRef>
        <a:fontRef idx="minor">
          <a:schemeClr val="dk1"/>
        </a:fontRef>
      </dsp:style>
      <dsp:txBody>
        <a:bodyPr spcFirstLastPara="0" vert="horz" wrap="square" lIns="29845" tIns="29845" rIns="29845" bIns="29845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700" kern="1200" dirty="0">
              <a:solidFill>
                <a:prstClr val="black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Soft</a:t>
          </a:r>
        </a:p>
      </dsp:txBody>
      <dsp:txXfrm>
        <a:off x="5822884" y="1722197"/>
        <a:ext cx="3041982" cy="84599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1:08.0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24575,'397'0'0,"-388"0"0,0 1 0,0 0 0,0 1 0,0-1 0,-1 2 0,1-1 0,13 7 0,55 34 0,-37-20 0,-27-15 0,-1 1 0,0 0 0,0 0 0,-1 1 0,0 1 0,12 16 0,2 5 0,23 40 0,-44-64 0,1 1 0,-1 0 0,-1 0 0,0 0 0,0 0 0,-1 0 0,0 1 0,1 18 0,-2 7 0,-4 40 0,1-20 0,1 341 0,0-381 0,0 0 0,-2 0 0,0 0 0,-1 0 0,0-1 0,-1 1 0,-1-1 0,0 0 0,-13 21 0,18-33 0,-15 30 0,9-15 0,-2 0 0,-20 30 0,8-14 0,17-26 0,0-1 0,0 1 0,0-1 0,-1 0 0,-11 11 0,-5 1 0,-2-2 0,0 0 0,-1-1 0,-28 12 0,40-22 0,-1-1 0,1-1 0,-1 0 0,0 0 0,-25 1 0,24-3 0,-1 1 0,1 0 0,0 1 0,-21 7 0,5 1 0,0-2 0,-51 11 0,54-13-62,-12 3 227,37-9-247,0-1 1,0 0-1,1 0 1,-1 0-1,0 0 1,0 0-1,0-1 1,1 1-1,-1 0 0,0-1 1,0 0-1,1 1 1,-1-1-1,0 0 1,1 0-1,-1 0 1,-2-1-1,-5-9-6744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1:11.3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117 0 24575,'-1'5'0,"-1"-1"0,0 0 0,0 0 0,0 0 0,0 0 0,-1 0 0,0 0 0,1 0 0,-8 5 0,-5 11 0,-53 84 0,67-104 0,1 1 0,-1-1 0,1 1 0,-1 0 0,1-1 0,0 1 0,-1 0 0,1-1 0,0 1 0,0 0 0,0-1 0,-1 1 0,1 0 0,0 0 0,0-1 0,0 1 0,0 0 0,0-1 0,0 1 0,1 0 0,-1 0 0,0-1 0,0 1 0,0 0 0,1-1 0,-1 1 0,0 0 0,1-1 0,-1 1 0,0 0 0,1-1 0,-1 1 0,1-1 0,-1 1 0,1-1 0,-1 1 0,1-1 0,0 1 0,-1-1 0,1 0 0,-1 1 0,1-1 0,0 0 0,-1 1 0,2-1 0,42 7 0,-23-5 0,-14 1 0,0 0 0,1 0 0,-1 0 0,0 1 0,-1 0 0,1 0 0,-1 1 0,0 0 0,0 0 0,0 1 0,-1-1 0,0 1 0,5 7 0,27 25 0,-1 4 76,-30-34-316,-1-1 0,1 0 0,0-1-1,0 1 1,15 10 0,-2-6-6586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1:13.9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1639 24575,'1'-6'0,"0"1"0,0 0 0,0 0 0,0 0 0,1-1 0,0 1 0,0 1 0,4-8 0,6-15 0,27-67 0,70-124 0,-36 77 0,-61 119 0,1 0 0,1 1 0,1 1 0,1 0 0,0 1 0,28-25 0,-10 13 0,0 1 0,70-45 0,-45 37 0,73-43 0,221-120 0,-289 163 0,-15 9 0,1 1 0,69-26 0,-28 21 0,179-38 0,229-37 0,-273 56 0,-133 29 0,-46 10 0,0 3 0,1 1 0,78-4 0,553 15-1365,-656-2-5461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07:21:16.5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24575,'12'1'0,"-1"0"0,0 1 0,0 0 0,0 1 0,17 7 0,6 1 0,189 61 0,-207-65 0,-1 0 0,1 1 0,-1 1 0,-1 0 0,22 18 0,-34-25 0,0-1 0,0 1 0,-1 0 0,1-1 0,-1 1 0,0 0 0,1 0 0,-1 0 0,0 0 0,0 0 0,0 0 0,0 0 0,-1 0 0,1 1 0,0-1 0,-1 0 0,0 0 0,1 1 0,-1-1 0,0 0 0,0 0 0,0 1 0,-1-1 0,1 0 0,0 1 0,-1-1 0,-1 4 0,-2 3 0,-1-1 0,0 1 0,0-1 0,-1 1 0,-8 8 0,-4 6 0,-20 28 0,-16 22 0,43-59 0,0 1 0,-1-2 0,-20 18 0,28-28 11,0 0 0,0 0-1,-1-1 1,1 1 0,-1-1 0,0 0-1,1 0 1,-1-1 0,0 0-1,0 0 1,-10 1 0,10-1-161,0-1 1,0 1 0,0 1-1,0-1 1,-1 1 0,2-1-1,-1 1 1,0 1-1,-8 4 1,0 5-6677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8B9889-596B-4CC2-9878-65B36FDCA036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0ED1D2-6932-4F3C-BBBE-88F63AD8FF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81064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96EE1-652B-CBC5-93D7-7CC02C65B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9FB257-13CF-DF10-F2F2-A6087F5A39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D6F0B6-BCC4-AD82-EDC7-72BA25B638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Round robin  - time slice for every task in ready state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based – based on priority 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725A6A-96DA-0170-72EA-DF02C5445F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0ED1D2-6932-4F3C-BBBE-88F63AD8FF56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20743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86B6BF-F0D4-83A3-C2E1-521A07B22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434972-C71C-1724-4554-9AA2751744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481473-90C7-BECB-9045-891C59F35E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Round robin  - time slice for every task in ready state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based – based on priority 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43582A-647D-7170-A961-8CFA42D22B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0ED1D2-6932-4F3C-BBBE-88F63AD8FF56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61783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A86E38-BD48-8FE1-D649-52D04BCC3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BE50DB-F424-709C-6F8F-C639D876F8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AC3DCB-7908-7A33-7082-2A728D7053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Round robin  - time slice for every task in ready state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based – based on priority 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55ED4E-D997-3A05-2CCF-351010FCC9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0ED1D2-6932-4F3C-BBBE-88F63AD8FF56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17094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49A7F6-CCB9-FBE7-9E53-88ECBF8B3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23EAEB-7C03-7157-ACB8-B75648FAED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43C19B-77F6-369A-C097-6EE795E17F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Round robin  - time slice for every task in ready state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based – based on priority 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161A8D-570F-9939-7B9F-EF0E10DFAE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0ED1D2-6932-4F3C-BBBE-88F63AD8FF56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79910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2BF09-58CD-65D0-ACB2-9FCF24626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66EDFC-FF70-B320-A068-3ADD18A210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5C33D5-FB4B-269A-3743-4F9E95B259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Round robin  - time slice for every task in ready state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based – based on priority 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675B2F-69AE-0F94-4C19-BCE076BE42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0ED1D2-6932-4F3C-BBBE-88F63AD8FF56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38805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CF9A4E-B238-9493-30F0-A873428D5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8D8FB0-BCF3-F81C-1564-F1C549FB10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BE586F-F24C-33CF-8125-2FD43D322C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Round robin  - time slice for every task in ready state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based – based on priority 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9E015E-C8C3-9D3C-3184-39ABAAA81E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0ED1D2-6932-4F3C-BBBE-88F63AD8FF56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44939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90800B-B28A-743D-8149-302D00812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C916C7-A232-1F18-3DF3-4268ED7926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05E202-6CCF-DCE7-3E02-DDD0D1DD0B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Round robin  - time slice for every task in ready state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based – based on priority 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54596B-CFE8-F74F-C5FC-51B0F1D47B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0ED1D2-6932-4F3C-BBBE-88F63AD8FF56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17053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12C55A-1633-A336-A032-2980CF019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1ACA7A-FAFF-DF92-D5A2-24A2146136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D14266-D092-A356-A4F3-D93A29822A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Round robin  - time slice for every task in ready state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based – based on priority 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53020A-F573-7D6E-D861-0E8F767ED0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0ED1D2-6932-4F3C-BBBE-88F63AD8FF56}" type="slidenum">
              <a:rPr lang="en-IN" smtClean="0"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43034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0ED1D2-6932-4F3C-BBBE-88F63AD8FF56}" type="slidenum">
              <a:rPr lang="en-IN" smtClean="0"/>
              <a:t>27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61740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33776E-2EF0-D4B0-9174-9FDD7A5BB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F5F9DA-5A07-A411-D2CE-D044401B57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113516-95F1-BC0B-5DCA-EE40416ECD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  <a:p>
            <a:r>
              <a:rPr lang="en-IN" dirty="0" err="1"/>
              <a:t>Taskhandle</a:t>
            </a:r>
            <a:r>
              <a:rPr lang="en-IN" dirty="0"/>
              <a:t> stores the address of </a:t>
            </a:r>
            <a:r>
              <a:rPr lang="en-IN" dirty="0" err="1"/>
              <a:t>tcb</a:t>
            </a:r>
            <a:endParaRPr lang="en-IN" dirty="0"/>
          </a:p>
          <a:p>
            <a:endParaRPr lang="en-IN" dirty="0"/>
          </a:p>
          <a:p>
            <a:r>
              <a:rPr lang="en-IN" dirty="0" err="1"/>
              <a:t>configMAX_PRIORITIES</a:t>
            </a:r>
            <a:r>
              <a:rPr lang="en-IN" dirty="0"/>
              <a:t> = 7</a:t>
            </a:r>
          </a:p>
          <a:p>
            <a:r>
              <a:rPr lang="en-IN" dirty="0"/>
              <a:t>Then 0, 1, 2, 3, 4, 5, 6 levels are possible (</a:t>
            </a:r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0</a:t>
            </a:r>
            <a:r>
              <a:rPr lang="en-IN" dirty="0"/>
              <a:t> to </a:t>
            </a:r>
            <a:r>
              <a:rPr lang="en-IN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configMAX_PRIORITIES</a:t>
            </a:r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– 1 </a:t>
            </a:r>
            <a:r>
              <a:rPr lang="en-IN" dirty="0"/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674A7E-2509-77AC-C05C-CF105C8AD0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0ED1D2-6932-4F3C-BBBE-88F63AD8FF56}" type="slidenum">
              <a:rPr lang="en-IN" smtClean="0"/>
              <a:t>31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45368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7078AE-8366-FAA5-D17B-BACCD46F0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ECDAA6-6D26-03B7-015A-5E2C2F2ABE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D24012-A16C-1168-F6CE-98EDD8BBA7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It is like id card . Like it has all the information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3AF73B-B08E-EB65-C827-8DB49CD118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0ED1D2-6932-4F3C-BBBE-88F63AD8FF56}" type="slidenum">
              <a:rPr lang="en-IN" smtClean="0"/>
              <a:t>32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62700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A5C99A-8591-C18E-8F2A-9D9245135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AA91BE-6DAD-F0FD-AAC3-C619C00BAD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335D52-A481-CBE6-E8EA-F2579D757C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It is like id card . Like it has all the information</a:t>
            </a:r>
          </a:p>
          <a:p>
            <a:endParaRPr lang="en-IN" dirty="0"/>
          </a:p>
          <a:p>
            <a:r>
              <a:rPr lang="en-IN" dirty="0" err="1"/>
              <a:t>Taskhandle</a:t>
            </a:r>
            <a:r>
              <a:rPr lang="en-IN" dirty="0"/>
              <a:t> stores the address of </a:t>
            </a:r>
            <a:r>
              <a:rPr lang="en-IN" dirty="0" err="1"/>
              <a:t>tcb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F1FB94-6FE3-09ED-7998-5386E06A33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0ED1D2-6932-4F3C-BBBE-88F63AD8FF56}" type="slidenum">
              <a:rPr lang="en-IN" smtClean="0"/>
              <a:t>33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40648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D739D9-87AC-A81E-2897-140D11AEB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F520D8-2976-15BB-5460-D9528C9265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D7EBA0-18B5-2437-220F-AEEC20C157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It is like id card . Like it has all the information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3B85C8-CE85-8A89-F2DA-BBD748D0D0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0ED1D2-6932-4F3C-BBBE-88F63AD8FF56}" type="slidenum">
              <a:rPr lang="en-IN" smtClean="0"/>
              <a:t>34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3084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05BD3C-EAE7-8D23-0B12-DAF9F70F5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3909A9-3AF9-002A-0AE7-36453F6393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90B31B-93CA-490F-8895-E5B6B22D25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It is like id card . Like it has all the information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B3BFCA-9A1D-4502-34E9-0ECB397550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0ED1D2-6932-4F3C-BBBE-88F63AD8FF56}" type="slidenum">
              <a:rPr lang="en-IN" smtClean="0"/>
              <a:t>35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398167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2D2F2-B173-A4E4-A4DF-5C63B14C0E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01941C-0980-469F-86AF-D65C35254A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573238-FCEB-A2AE-8214-7F0FCA804C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Round robin  - time slice for every task in ready state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based – based on priority 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769EDF-7159-09E6-8E7A-91AC78410D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0ED1D2-6932-4F3C-BBBE-88F63AD8FF56}" type="slidenum">
              <a:rPr lang="en-IN" smtClean="0"/>
              <a:t>39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716127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563D55-FF3B-CCAD-7BE7-ACA5BFDC7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99A091-2F05-3E54-147F-71F3E8AB3A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97DEBF-5685-3EF6-8B8F-7A045846A3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Round robin  - time slice for every task in ready state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based – based on priority 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782B42-5E32-DEDE-B4AF-13AC94B63B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0ED1D2-6932-4F3C-BBBE-88F63AD8FF56}" type="slidenum">
              <a:rPr lang="en-IN" smtClean="0"/>
              <a:t>40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216089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26D703-54B1-B586-6CF6-C2FFC22F3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5BFA00-301D-ED1A-1325-D61166E251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4F8781-7C8A-3407-4C2A-931F0F5931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Round robin  - time slice for every task in ready state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based – based on priority 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2AD118-3B69-18C6-A44D-1A07ADDFE0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0ED1D2-6932-4F3C-BBBE-88F63AD8FF56}" type="slidenum">
              <a:rPr lang="en-IN" smtClean="0"/>
              <a:t>41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362086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17F70D-1324-B008-46E1-841575FEC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6C4E70-2598-B50F-1690-2348CB959C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B3803D-5453-6808-7CEF-6629B6CB15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Round robin  - time slice for every task in ready state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based – based on priority 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925A60-BD97-85DF-64F9-BFD1680443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0ED1D2-6932-4F3C-BBBE-88F63AD8FF56}" type="slidenum">
              <a:rPr lang="en-IN" smtClean="0"/>
              <a:t>42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266642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A4DE14-A259-4980-F291-0DD605B9A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79BDB0-DF35-0450-4D58-7850AEE3A7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71E462-022A-3AA7-8A8E-C4AFEC1F63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Round robin  - time slice for every task in ready state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based – based on priority 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0367F7-FC71-7C47-ABBD-A273906EC2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0ED1D2-6932-4F3C-BBBE-88F63AD8FF56}" type="slidenum">
              <a:rPr lang="en-IN" smtClean="0"/>
              <a:t>43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002461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25735E-5E6C-B03E-A24A-AD629AD44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B83A1D-B599-A0ED-474D-C8FB7A2A80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B0DD85-F853-8B16-C21C-824839133A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It is like id card . Like it has all the information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D4B26A-F0CC-72A9-9414-992D87565B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0ED1D2-6932-4F3C-BBBE-88F63AD8FF56}" type="slidenum">
              <a:rPr lang="en-IN" smtClean="0"/>
              <a:t>44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198147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CC2159-9B1E-917D-5CE8-970D4C51A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2B18CA-98CF-06DF-71A9-5112C7032C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1956FE-0169-59C1-A295-754FD7B47D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Round robin  - time slice for every task in ready state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based – based on priority 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8BD292-991E-4F59-0BB4-8E284C610F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0ED1D2-6932-4F3C-BBBE-88F63AD8FF56}" type="slidenum">
              <a:rPr lang="en-IN" smtClean="0"/>
              <a:t>45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367898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Context switching – saving the execution context of running task and retrieving the execution context of new task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0ED1D2-6932-4F3C-BBBE-88F63AD8FF56}" type="slidenum">
              <a:rPr lang="en-IN" smtClean="0"/>
              <a:t>47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479707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Round robin  - time slice for every task in ready state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based – based on priority 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0ED1D2-6932-4F3C-BBBE-88F63AD8FF56}" type="slidenum">
              <a:rPr lang="en-IN" smtClean="0"/>
              <a:t>48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425595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39B39C-647D-7A5F-4C37-D190B58E5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84EA75-6BFC-F0C7-AD71-3F6D18EDCC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DA8345-9105-1E9C-2C76-DCD6B5332E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Round robin  - time slice for every task in ready state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based – based on priority 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73FB5C-70B4-C733-F317-37AF7E5DB6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0ED1D2-6932-4F3C-BBBE-88F63AD8FF56}" type="slidenum">
              <a:rPr lang="en-IN" smtClean="0"/>
              <a:t>49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082158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7D0462-5B24-D46E-B5B8-87CA76541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8E1154-C189-9A86-EBBD-8A777D5DA4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4FBFBE-76D3-B630-50B3-20B5DA50BB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Round robin  - time slice for every task in ready state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based – based on priority 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BF9F88-7B26-2E9B-40EF-EB658DE888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0ED1D2-6932-4F3C-BBBE-88F63AD8FF56}" type="slidenum">
              <a:rPr lang="en-IN" smtClean="0"/>
              <a:t>50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409485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C1C7C-64F9-7FD5-1C6A-02ACB3D81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BA4F6D-963E-E0DD-6404-806765611D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23B3CF-233C-954E-A57E-B76667BADF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Round robin  - time slice for every task in ready state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based – based on priority 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CC6BF5-BAA8-9C85-785E-E0082466E4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0ED1D2-6932-4F3C-BBBE-88F63AD8FF56}" type="slidenum">
              <a:rPr lang="en-IN" smtClean="0"/>
              <a:t>51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198983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F53E4-1785-53C2-69A9-625DBCA28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BFAF35-9D98-70F1-961C-FE7A2F6748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EF7ED7-3C31-E4BB-25A1-A2F895EC6E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Round robin  - time slice for every task in ready state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based – based on priority 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E0E92B-761E-A7BE-5D0E-90AC120A24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0ED1D2-6932-4F3C-BBBE-88F63AD8FF56}" type="slidenum">
              <a:rPr lang="en-IN" smtClean="0"/>
              <a:t>52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87546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75310C-AF97-FEE9-BD0E-AC7F13F4D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6C3D11-A7BD-4C27-810F-D2B7E1EEFE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BA7D07-CF39-1E68-8D2F-F7D6F3334A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Round robin  - time slice for every task in ready state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based – based on priority 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8791EE-1E9D-0800-2A08-C333D5054C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0ED1D2-6932-4F3C-BBBE-88F63AD8FF56}" type="slidenum">
              <a:rPr lang="en-IN" smtClean="0"/>
              <a:t>53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635693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4D194-6533-A052-6B33-C4A793247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9DCC02-9FDB-F853-49A6-E3E7E042D2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7B6B0A-3890-4070-C2DA-357C06E535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Round robin  - time slice for every task in ready state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based – based on priority 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357526-F873-AB59-3F33-F008DA5BEC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0ED1D2-6932-4F3C-BBBE-88F63AD8FF56}" type="slidenum">
              <a:rPr lang="en-IN" smtClean="0"/>
              <a:t>54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828335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D66465-00DF-811E-90AE-B2103BDFF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32191B-CDB6-CE31-6BA5-50C5EC30DD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DF09EA-E5B0-B725-AE5C-9C5C380B3A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Round robin  - time slice for every task in ready state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based – based on priority 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EE4524-4AA7-B09E-39A9-375A39A908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0ED1D2-6932-4F3C-BBBE-88F63AD8FF56}" type="slidenum">
              <a:rPr lang="en-IN" smtClean="0"/>
              <a:t>55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210370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762E9C-F72D-236A-BC1A-2249AD0A2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A92831-73B4-9282-BF06-AC6E9FAA42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C5C489-C112-B0A1-B8D4-D83C7EF10F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Round robin  - time slice for every task in ready state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based – based on priority 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9DF9F6-E0F8-CDE2-97F7-EF031C54E3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0ED1D2-6932-4F3C-BBBE-88F63AD8FF56}" type="slidenum">
              <a:rPr lang="en-IN" smtClean="0"/>
              <a:t>56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361078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BBFAA-8CCC-7F54-0700-1B4F006CC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B02E4C-8DC6-CCC9-6A17-08D9B63370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BD8174-E7AD-3363-E23A-82DC27B2C2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Round robin  - time slice for every task in ready state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based – based on priority 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0BE254-67E9-306E-9F2D-B17ECE0125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0ED1D2-6932-4F3C-BBBE-88F63AD8FF56}" type="slidenum">
              <a:rPr lang="en-IN" smtClean="0"/>
              <a:t>57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963943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A121DE-8597-7C08-18FC-EA4677F69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A791C8-FFC9-D97E-D430-B5DAAA09CC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4D756B-8D13-6453-6036-2799673EC4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Round robin  - time slice for every task in ready state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based – based on priority 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464F7A-7833-5F21-16CB-EB1BD75DE6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0ED1D2-6932-4F3C-BBBE-88F63AD8FF56}" type="slidenum">
              <a:rPr lang="en-IN" smtClean="0"/>
              <a:t>58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056021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1D9378-6D7A-32FF-7EC2-4D7BD480C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59FDA2-774D-CAF9-41EE-54F26BD5AB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AF36FF-723A-C4E3-CE0A-993A041DA0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Round robin  - time slice for every task in ready state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based – based on priority 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E4E3B4-33DD-F1F8-7A8A-D3F384AF9B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0ED1D2-6932-4F3C-BBBE-88F63AD8FF56}" type="slidenum">
              <a:rPr lang="en-IN" smtClean="0"/>
              <a:t>59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677247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BE3913-1FBB-DB42-FC1B-B2119939A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021001-BD95-79CE-77EC-1E7A8F4ED2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25169A-DEFF-89F4-4780-DC3571B3A7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Round robin  - time slice for every task in ready state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based – based on priority 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C5EFF8-3830-6024-25A2-F3FEAA8A0E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0ED1D2-6932-4F3C-BBBE-88F63AD8FF56}" type="slidenum">
              <a:rPr lang="en-IN" smtClean="0"/>
              <a:t>60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988178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F866BA-7EDB-3356-7712-97908B4DD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326B0A-2886-9BAF-9656-A1492D198D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FB9E6F-89E5-E3C3-DBB3-946F80C512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Round robin  - time slice for every task in ready state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based – based on priority 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57EEE4-97C8-ACA2-903F-BF461FC24E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0ED1D2-6932-4F3C-BBBE-88F63AD8FF56}" type="slidenum">
              <a:rPr lang="en-IN" smtClean="0"/>
              <a:t>61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249974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A533C4-17DC-456B-C2ED-E349C19AD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8C32B9-7C07-4883-0F31-99AC3A9D38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2EAEB5-EE11-EBD1-43AD-35E5FB35C0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Round robin  - time slice for every task in ready state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based – based on priority 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26B33C-7150-E6EA-0058-60BC117C92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0ED1D2-6932-4F3C-BBBE-88F63AD8FF56}" type="slidenum">
              <a:rPr lang="en-IN" smtClean="0"/>
              <a:t>62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062815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D15528-7F28-B95B-7AB4-1B25A9ABC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4FAA87-F93C-6904-1444-D18E5F7AE7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20F265-1BAE-142C-B67E-C9C0144B48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Round robin  - time slice for every task in ready state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based – based on priority 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F0D4E1-AB93-B3D5-0BFE-5DB988B5D9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0ED1D2-6932-4F3C-BBBE-88F63AD8FF56}" type="slidenum">
              <a:rPr lang="en-IN" smtClean="0"/>
              <a:t>63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586623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F4D2EC-7ACB-E715-97B8-E7D576EF2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3AFFAA-2166-2ADC-D85F-D871316E17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20A656-D1DB-F046-E0E3-D05191958E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Round robin  - time slice for every task in ready state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based – based on priority 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082871-C7EB-A354-A799-63446C021E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0ED1D2-6932-4F3C-BBBE-88F63AD8FF56}" type="slidenum">
              <a:rPr lang="en-IN" smtClean="0"/>
              <a:t>64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020331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B4B596-2367-AFB8-B92C-585ED79B8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13647C-C71D-E29D-7815-0243AB6D8E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B34847-29D9-C937-6AF4-684EBE9272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Round robin  - time slice for every task in ready state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based – based on priority 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A223A6-379A-05D6-4740-EA87BD02C8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0ED1D2-6932-4F3C-BBBE-88F63AD8FF56}" type="slidenum">
              <a:rPr lang="en-IN" smtClean="0"/>
              <a:t>65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182513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DC9A11-7AE5-5DFE-48C3-DD7B6E4DC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AD20B5-41C0-EE96-0428-308F17A278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C70D28-E4ED-01E5-8A3D-B4F92BD077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Round robin  - time slice for every task in ready state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based – based on priority 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058F3F-EBD7-BBD1-8E83-FEDD82DC45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0ED1D2-6932-4F3C-BBBE-88F63AD8FF56}" type="slidenum">
              <a:rPr lang="en-IN" smtClean="0"/>
              <a:t>66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419367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BE418A-6427-1860-BCED-9E8BEB505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7E41FA-6F48-15DD-B2D1-793375098F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653C4A-9314-1C92-9AAC-49D75FDE84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Round robin  - time slice for every task in ready state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based – based on priority 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B54834-3DAB-F58B-443D-DC5404B408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0ED1D2-6932-4F3C-BBBE-88F63AD8FF56}" type="slidenum">
              <a:rPr lang="en-IN" smtClean="0"/>
              <a:t>67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962827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65707-55BE-59DF-5A13-9D868DBB7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490497-627C-61C8-C879-9EA130793E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7EBD22-C251-C893-BC47-B95C34CF2A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Round robin  - time slice for every task in ready state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based – based on priority 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0FF8F4-BC55-B010-519F-7333329DEC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0ED1D2-6932-4F3C-BBBE-88F63AD8FF56}" type="slidenum">
              <a:rPr lang="en-IN" smtClean="0"/>
              <a:t>68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290182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B3E10E-8C35-57D6-2DA0-5553C3E22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40A813-9384-3B8F-E807-EED662983F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45BCD2-7A45-29EA-1BEE-0D989054E7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Round robin  - time slice for every task in ready state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based – based on priority 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0393DA-7D93-9620-F418-42BE558FA7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0ED1D2-6932-4F3C-BBBE-88F63AD8FF56}" type="slidenum">
              <a:rPr lang="en-IN" smtClean="0"/>
              <a:t>69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703822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C6C1DE-0FC7-1E01-6A13-581A689DF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CFA9FC-E00E-CF99-2C34-CC7EBCFC3A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46E23E-E1B5-46DD-9F3B-9DB92149B7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Round robin  - time slice for every task in ready state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based – based on priority 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774ABB-F601-EA81-57C8-2EA05DAB8F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0ED1D2-6932-4F3C-BBBE-88F63AD8FF56}" type="slidenum">
              <a:rPr lang="en-IN" smtClean="0"/>
              <a:t>70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474772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04109-DC76-B7B0-0DA6-740E49F5F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733DBC-7DE8-FCA3-9F6C-C46770E1EA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DE2B78-9E1C-91D5-B029-D2E7E880CF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Round robin  - time slice for every task in ready state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based – based on priority 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86F292-BDE6-2039-3E40-313D4CA79B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0ED1D2-6932-4F3C-BBBE-88F63AD8FF56}" type="slidenum">
              <a:rPr lang="en-IN" smtClean="0"/>
              <a:t>71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581923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91903D-594B-2CB1-4994-BBF7919D3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C9521F-5E3C-4E81-091E-051AB3CB9D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AB9608-7926-F428-DBD6-A1A6D7254F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Round robin  - time slice for every task in ready state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based – based on priority 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9F044E-BED7-D6E9-88C1-5D0AF06D49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0ED1D2-6932-4F3C-BBBE-88F63AD8FF56}" type="slidenum">
              <a:rPr lang="en-IN" smtClean="0"/>
              <a:t>72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2703887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A8A032-C140-8909-8EE0-7DB80D684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9A26E0-0B6C-538D-79F9-090596E1D2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7DD175-8EDF-ED68-A8EF-F0D804BE9C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Round robin  - time slice for every task in ready state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based – based on priority 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C8CAF0-D888-1795-F5ED-DAACB102F3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0ED1D2-6932-4F3C-BBBE-88F63AD8FF56}" type="slidenum">
              <a:rPr lang="en-IN" smtClean="0"/>
              <a:t>73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1581817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D1813-708A-07FE-F159-4893D5F27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28CABD-27F5-2A99-1E29-D6C4A3A4A7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9E2144-153F-010F-F335-17892C3134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Round robin  - time slice for every task in ready state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based – based on priority 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79C7FE-114E-E338-6F1E-88C98C58EA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0ED1D2-6932-4F3C-BBBE-88F63AD8FF56}" type="slidenum">
              <a:rPr lang="en-IN" smtClean="0"/>
              <a:t>74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4217956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552122-3B6D-54DA-1952-B9820C1D9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965540-6396-EB98-CA43-55F04E4160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CA3934-4505-7687-32D5-C0FB53BD03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Round robin  - time slice for every task in ready state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based – based on priority 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B8220F-2F22-BB03-ED4F-FDC9CC0DC5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0ED1D2-6932-4F3C-BBBE-88F63AD8FF56}" type="slidenum">
              <a:rPr lang="en-IN" smtClean="0"/>
              <a:t>75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7038522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6F691-76D3-42EA-9F52-B3D173938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730B85-D7E9-8DD9-DEF1-5A85C17171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9500F7-400E-7A34-EED7-94A294B0DE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Round robin  - time slice for every task in ready state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based – based on priority </a:t>
            </a:r>
          </a:p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Mutual exclusion is avoiding a task to execute the critical section (shared entity) which is already own by another task for execution</a:t>
            </a:r>
          </a:p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semaphore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 kernel object . So it can be used by multiple tasks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7140E3-FA15-CD63-4270-3D1B486DB1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0ED1D2-6932-4F3C-BBBE-88F63AD8FF56}" type="slidenum">
              <a:rPr lang="en-IN" smtClean="0"/>
              <a:t>76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6787874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24F3DB-B291-C452-BFA4-5B425D6DD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9B62C6-DF16-63E3-03D1-EA7E16AFA8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CD9A52-12B6-E582-FCAF-48E9F23D06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Round robin  - time slice for every task in ready state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based – based on priority </a:t>
            </a:r>
          </a:p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Mutual exclusion is avoiding a task to execute the critical section (shared entity) which is already own by another task for execution</a:t>
            </a:r>
          </a:p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semaphore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 kernel object . So it can be used by multiple tasks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34CAC6-F8D3-F940-6BA6-9F9A98D163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0ED1D2-6932-4F3C-BBBE-88F63AD8FF56}" type="slidenum">
              <a:rPr lang="en-IN" smtClean="0"/>
              <a:t>77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8098774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ACC91-AE5F-765B-6DB6-F6EDD8B295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0FF920-0721-B3B4-55BD-9BD34460B6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6E2EAD-2D8C-715C-CC49-B81D598FB0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Round robin  - time slice for every task in ready state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based – based on priority </a:t>
            </a:r>
          </a:p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Mutual exclusion is avoiding a task to execute the critical section (shared entity) which is already own by another task for execution</a:t>
            </a:r>
          </a:p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semaphore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 kernel object . So it can be used by multiple tasks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3C83F1-A2B2-D578-7392-9AFD503169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0ED1D2-6932-4F3C-BBBE-88F63AD8FF56}" type="slidenum">
              <a:rPr lang="en-IN" smtClean="0"/>
              <a:t>78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6563696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ACF56D-8420-ECD3-F565-164EDC12C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2B9D6D-384A-5F96-023B-7A0A824569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FCC15C-6254-9539-635A-5FBA7B228F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Round robin  - time slice for every task in ready state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based – based on priority </a:t>
            </a:r>
          </a:p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Mutual exclusion is avoiding a task to execute the critical section (shared entity) which is already own by another task for execution</a:t>
            </a:r>
          </a:p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semaphore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 kernel object . So it can be used by multiple tasks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20B44A-DFDE-AEED-2D50-54452E47F4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0ED1D2-6932-4F3C-BBBE-88F63AD8FF56}" type="slidenum">
              <a:rPr lang="en-IN" smtClean="0"/>
              <a:t>79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6599164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997DB-D057-D984-657F-907DF190A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A0B713-70AB-A23E-7832-485061029E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F54853-0D45-820C-CD11-E5357BDFD8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Round robin  - time slice for every task in ready state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based – based on priority </a:t>
            </a:r>
          </a:p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Mutual exclusion is avoiding a task to execute the critical section (shared entity) which is already own by another task for execution</a:t>
            </a:r>
          </a:p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semaphore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 kernel object . So it can be used by multiple tasks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918E73-AB5E-7D1B-6F98-7450A4F8DE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0ED1D2-6932-4F3C-BBBE-88F63AD8FF56}" type="slidenum">
              <a:rPr lang="en-IN" smtClean="0"/>
              <a:t>80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7934727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035B09-22FB-30F4-01F1-8CBFEEAB8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2375B5-6E88-887E-E491-BD0E7F2652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D7889E-FA7A-D020-ECA6-3F858D0238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Round robin  - time slice for every task in ready state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based – based on priority </a:t>
            </a:r>
          </a:p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Mutual exclusion is avoiding a task to execute the critical section (shared entity) which is already own by another task for execution</a:t>
            </a:r>
          </a:p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semaphore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 kernel object . So it can be used by multiple tasks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1CC9EC-BA1D-4FF9-A552-DBDD0AE716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0ED1D2-6932-4F3C-BBBE-88F63AD8FF56}" type="slidenum">
              <a:rPr lang="en-IN" smtClean="0"/>
              <a:t>81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279530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D5CA9-44D2-90AE-9C3B-774887803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B19690-547F-FE6A-07DF-CEA50C599F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C919E3-18A7-27D9-DF61-9B245A28E2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Round robin  - time slice for every task in ready state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based – based on priority </a:t>
            </a:r>
          </a:p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Mutual exclusion is avoiding a task to execute the critical section (shared entity) which is already own by another task for execution</a:t>
            </a:r>
          </a:p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semaphore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 kernel object . So it can be used by multiple tasks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13FA23-5843-334C-C039-950D1CE3F6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0ED1D2-6932-4F3C-BBBE-88F63AD8FF56}" type="slidenum">
              <a:rPr lang="en-IN" smtClean="0"/>
              <a:t>82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6941018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6D96A0-B945-E8DF-C631-886575705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E28BC7-F8AA-6B5F-9245-D1A621EAA5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5D26AC-150D-AEC5-8966-4A260CDB65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Round robin  - time slice for every task in ready state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based – based on priority </a:t>
            </a:r>
          </a:p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Mutual exclusion is avoiding a task to execute the critical section (shared entity) which is already own by another task for execution</a:t>
            </a:r>
          </a:p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semaphore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 kernel object . So it can be used by multiple tasks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E8E9BA-1D0C-9691-8933-9C966BAC2F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0ED1D2-6932-4F3C-BBBE-88F63AD8FF56}" type="slidenum">
              <a:rPr lang="en-IN" smtClean="0"/>
              <a:t>83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4722867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60567-60C7-A83B-3977-C78972DE4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24829F-C0DE-2CC0-2112-30BC955F27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DC037F-1545-21FF-4F37-F36C8151CB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Round robin  - time slice for every task in ready state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based – based on priority </a:t>
            </a:r>
          </a:p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Mutual exclusion is avoiding a task to execute the critical section (shared entity) which is already own by another task for execution</a:t>
            </a:r>
          </a:p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semaphore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 kernel object . So it can be used by multiple tasks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B96102-3924-7629-5694-A4945E92B0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0ED1D2-6932-4F3C-BBBE-88F63AD8FF56}" type="slidenum">
              <a:rPr lang="en-IN" smtClean="0"/>
              <a:t>84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7080445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0B44D0-FB46-BF25-7B17-754D29D4C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3E51B1-99E4-7CAF-C916-82EB80D2F8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227806-5B22-90D9-7CBF-BBA0D2F3FD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Round robin  - time slice for every task in ready state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based – based on priority </a:t>
            </a:r>
          </a:p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Mutual exclusion is avoiding a task to execute the critical section (shared entity) which is already own by another task for execution</a:t>
            </a:r>
          </a:p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semaphore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 kernel object . So it can be used by multiple tasks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934D2A-10C7-8D17-5668-38D9AC0442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0ED1D2-6932-4F3C-BBBE-88F63AD8FF56}" type="slidenum">
              <a:rPr lang="en-IN" smtClean="0"/>
              <a:t>85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2803726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4DC83B-3721-B11E-7CC0-E3AC4A439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F92BC4-0774-22F3-0D1C-DAF70E12E5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4A3501-A051-40A9-4CD6-91840EEA6F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Round robin  - time slice for every task in ready state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based – based on priority </a:t>
            </a:r>
          </a:p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Mutual exclusion is avoiding a task to execute the critical section (shared entity) which is already own by another task for execution</a:t>
            </a:r>
          </a:p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semaphore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 kernel object . So it can be used by multiple tasks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1F01C-A6F8-CFA8-8F47-0490380725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0ED1D2-6932-4F3C-BBBE-88F63AD8FF56}" type="slidenum">
              <a:rPr lang="en-IN" smtClean="0"/>
              <a:t>86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7263112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46182-9880-A07D-2414-5B85615E4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97DF1F-B923-04BB-EB22-21087FD749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A99DB6-42A7-0CD5-9FB7-333D10B8FD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Round robin  - time slice for every task in ready state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based – based on priority </a:t>
            </a:r>
          </a:p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Mutual exclusion is avoiding a task to execute the critical section (shared entity) which is already own by another task for execution</a:t>
            </a:r>
          </a:p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semaphore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 kernel object . So it can be used by multiple tasks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A23D8B-2E4A-B6C8-69CB-0E0FFC72C5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0ED1D2-6932-4F3C-BBBE-88F63AD8FF56}" type="slidenum">
              <a:rPr lang="en-IN" smtClean="0"/>
              <a:t>87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1342453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FA7A4D-AA92-A8E3-FC0C-E2D0EF2EE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33AD31-B65F-B8D2-A672-05170AB08B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D6AB3A-E3CB-4B84-5117-4B0F136528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Round robin  - time slice for every task in ready state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based – based on priority </a:t>
            </a:r>
          </a:p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Mutual exclusion is avoiding a task to execute the critical section (shared entity) which is already own by another task for execution</a:t>
            </a:r>
          </a:p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semaphore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 kernel object . So it can be used by multiple tasks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3DE1DE-79D5-5E49-9112-A64542CCBA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0ED1D2-6932-4F3C-BBBE-88F63AD8FF56}" type="slidenum">
              <a:rPr lang="en-IN" smtClean="0"/>
              <a:t>88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0063605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02ACD-B74E-5B96-1705-645AC4AD7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56BF57-DDE2-EC20-DE84-D2F5BB391A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2DC45D-33C5-FA48-FD20-BA99D20A83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Round robin  - time slice for every task in ready state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based – based on priority </a:t>
            </a:r>
          </a:p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Mutual exclusion is avoiding a task to execute the critical section (shared entity) which is already own by another task for execution</a:t>
            </a:r>
          </a:p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semaphore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 kernel object . So it can be used by multiple tasks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237013-899F-4593-13FB-7386AFE228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0ED1D2-6932-4F3C-BBBE-88F63AD8FF56}" type="slidenum">
              <a:rPr lang="en-IN" smtClean="0"/>
              <a:t>89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1224179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366CD-5DE9-93F9-49C3-80F62705B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F96D06-5AC9-C37D-3760-38298A72FA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516F65-1972-70FB-1749-E48899FED2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Round robin  - time slice for every task in ready state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based – based on priority </a:t>
            </a:r>
          </a:p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Mutual exclusion is avoiding a task to execute the critical section (shared entity) which is already own by another task for execution</a:t>
            </a:r>
          </a:p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semaphore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 kernel object . So it can be used by multiple tasks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6C0112-EAC0-3CC5-E1E6-04B537486A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0ED1D2-6932-4F3C-BBBE-88F63AD8FF56}" type="slidenum">
              <a:rPr lang="en-IN" smtClean="0"/>
              <a:t>90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886822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38E7D5-3901-81FC-A840-0A0F2B2FC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7548B5-7C65-A58A-0638-E58AE28660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11ACEC-B436-86F5-A645-07E9D44FA1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Round robin  - time slice for every task in ready state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based – based on priority </a:t>
            </a:r>
          </a:p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Mutual exclusion is avoiding a task to execute the critical section (shared entity) which is already own by another task for execution</a:t>
            </a:r>
          </a:p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semaphore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 kernel object . So it can be used by multiple tasks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C186EC-028C-0DD6-5C20-E43506578F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0ED1D2-6932-4F3C-BBBE-88F63AD8FF56}" type="slidenum">
              <a:rPr lang="en-IN" smtClean="0"/>
              <a:t>91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8408589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21DE56-7C01-C3D9-ADAB-5FF3A17FD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F06E43-7B95-8430-CA5C-27CC93CC86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BACAB3-9839-EE3A-C082-02B9112E14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Round robin  - time slice for every task in ready state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based – based on priority </a:t>
            </a:r>
          </a:p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Mutual exclusion is avoiding a task to execute the critical section (shared entity) which is already own by another task for execution</a:t>
            </a:r>
          </a:p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semaphore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 kernel object . So it can be used by multiple tasks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34E4E9-4243-EF94-E589-8B52F579C0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0ED1D2-6932-4F3C-BBBE-88F63AD8FF56}" type="slidenum">
              <a:rPr lang="en-IN" smtClean="0"/>
              <a:t>92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7912968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3C5932-77AE-6F27-41BB-4F4FE64C0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508CD2-9165-6E33-DCE5-9AFE2C0A9D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2AD56D-86AC-BA67-D3E2-0B88C94041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Round robin  - time slice for every task in ready state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based – based on priority </a:t>
            </a:r>
          </a:p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Mutual exclusion is avoiding a task to execute the critical section (shared entity) which is already own by another task for execution</a:t>
            </a:r>
          </a:p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semaphore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 kernel object . So it can be used by multiple tasks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B8E7D-8702-C217-0C2A-DB2D7A1894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0ED1D2-6932-4F3C-BBBE-88F63AD8FF56}" type="slidenum">
              <a:rPr lang="en-IN" smtClean="0"/>
              <a:t>93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4800918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1CDA7-4525-61BB-0512-1A77AD58B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20E54F-7062-689D-A41F-F947F23E62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127061-90E0-BCD1-98DF-97F0CEE497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Round robin  - time slice for every task in ready state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based – based on priority 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8367E8-2F40-F9EC-49CA-32D2299EA3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0ED1D2-6932-4F3C-BBBE-88F63AD8FF56}" type="slidenum">
              <a:rPr lang="en-IN" smtClean="0"/>
              <a:t>94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160631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C858B9-72BD-2E0B-7330-2A09F1474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E7FD81-128D-C459-6121-525535E854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DB1899-43B5-7D25-3FA4-E117F83566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Round robin  - time slice for every task in ready state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based – based on priority 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9D573A-E97E-B5C6-F75A-0212E9EABB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0ED1D2-6932-4F3C-BBBE-88F63AD8FF56}" type="slidenum">
              <a:rPr lang="en-IN" smtClean="0"/>
              <a:t>95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49164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73F46-2621-AD7A-8208-8CECDD9A09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79123E-EAB3-6912-CCDF-620EE39808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3A8BD6-E19D-11ED-6451-E17661B2D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E540C-6C61-421A-9EF9-BFF4049B8F1A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B2E017-1DA6-2657-63BC-02CF31275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A141F1-0041-4B9D-283B-52BCF6F78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83AA4-7296-4705-B153-13067D6D8F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59327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24FD0-D123-CF84-E886-132A62A33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5D157D-EFCA-F231-B421-995B665B4E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9C2B79-ED1E-46F6-B031-ADA02E94C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E540C-6C61-421A-9EF9-BFF4049B8F1A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6D6286-828D-7DC7-467A-447927642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85017A-111D-9AAB-2B76-447AA0895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83AA4-7296-4705-B153-13067D6D8F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714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2CA71-38C0-8F88-007D-0614F7578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63202D-0731-AEB2-2F69-AB14EACE73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4CDDFE-58F1-160A-15AC-607FFAD20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E540C-6C61-421A-9EF9-BFF4049B8F1A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029036-5070-3604-4CF9-85329E561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7A6271-05B5-5ECA-EEA5-F299F611A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83AA4-7296-4705-B153-13067D6D8F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9233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2E59D-2177-CEAC-D89C-E4812F7C4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10300-2DA3-E9E4-DD34-A6A429983C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C4C4F8-E0BF-3F68-DA9B-8E31AC45F3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40F29B-699E-03A2-737E-C0C8B4384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E540C-6C61-421A-9EF9-BFF4049B8F1A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4C29DD-6D57-5C62-C99C-216BAD8A0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BE2097-63C4-C83C-3D26-C3A82191A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83AA4-7296-4705-B153-13067D6D8F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0353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C1D8B-3079-2873-8865-4F96B5BC4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C5237B-C448-E13E-6755-E8C0B299FA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1536CB-D7B5-FF78-E563-74B948508B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694B16-A7C7-DBF0-3637-6D67D5149F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FB40A0-179A-6FF6-1558-A71FA635C0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A59455-3F77-39E7-16F2-8251BEE38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E540C-6C61-421A-9EF9-BFF4049B8F1A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953E42-78D5-C424-23A8-1C9D746E3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024330-FB64-FEB5-FE96-E43B22F4A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83AA4-7296-4705-B153-13067D6D8F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64340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5569F-28F9-A6BF-609E-973A07BB4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319442-2662-D507-D73F-10082F79C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E540C-6C61-421A-9EF9-BFF4049B8F1A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9177BF-8D5F-851E-DD77-CAECE4538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2CA22C-3F64-2793-9B77-5B851D7B5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83AA4-7296-4705-B153-13067D6D8F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494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4AF653-9EDB-6336-D0E5-65E58DF2A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E540C-6C61-421A-9EF9-BFF4049B8F1A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5AEAD9-5172-5815-F2E9-9C3A0A7CF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22EC64-7581-3DFA-C4EC-29C4760DF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83AA4-7296-4705-B153-13067D6D8F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97427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0D924-BDBF-C278-E048-8738EB2BF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AD2C45-3859-F409-BBAF-8D68924F58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D06DB1-EB30-1E91-00ED-98CFE9ED2E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D258D8-79B4-3941-8A8D-4244A90B4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E540C-6C61-421A-9EF9-BFF4049B8F1A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F3EF41-1F90-89CC-A85A-7EB51FF2C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01EFAE-17E6-0EB3-92A2-81FF0BE0D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83AA4-7296-4705-B153-13067D6D8F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03208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0EBF1-F144-EBB7-7261-1489F1F5C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C0282E-9B4C-FDC3-DC62-C08BED0ECE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393E42-08EE-43F0-44DD-7BDC813F18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8A2B86-E54C-78A5-C3D5-DCACEAA90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E540C-6C61-421A-9EF9-BFF4049B8F1A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EBA65C-FA2A-9DFB-2D4C-C7B3A3F81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F6921A-3568-0618-50FF-C9B0C224B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83AA4-7296-4705-B153-13067D6D8F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0127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26AE5-CAA7-6ABF-25EF-A2C57F28B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13E953-DDCA-700F-B0FB-53F6C54B6B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374AE8-47A6-2465-B0E1-2F272C50B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E540C-6C61-421A-9EF9-BFF4049B8F1A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93F0FB-C3E0-6863-00D5-286D2364A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8B81-C483-E127-6998-5494D0877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83AA4-7296-4705-B153-13067D6D8F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00837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49BB61-87C5-21C4-8FC7-94DBC519DB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45A210-1544-42DF-C972-52AFA21E05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DA21A4-4D1D-D5A6-B8BC-BCB67FC56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E540C-6C61-421A-9EF9-BFF4049B8F1A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26EADB-6DED-7F3A-17F6-1C1E89954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3287B3-AEA1-3B15-E5B5-31C131FA8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83AA4-7296-4705-B153-13067D6D8F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7849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F478D1-9C7D-89E8-A24D-7A4EF27FA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464CD3-D3BC-F80A-D9BA-2BF035A78C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6556AA-EFED-B3F9-B974-FB0A046573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0E540C-6C61-421A-9EF9-BFF4049B8F1A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A5AF56-BC2A-B95D-DBEA-6900D745AB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8ADC7-EC25-24FF-DB6B-7D8F7A5221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183AA4-7296-4705-B153-13067D6D8F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1126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customXml" Target="../ink/ink1.xml"/><Relationship Id="rId7" Type="http://schemas.openxmlformats.org/officeDocument/2006/relationships/image" Target="../media/image9.png"/><Relationship Id="rId12" Type="http://schemas.openxmlformats.org/officeDocument/2006/relationships/image" Target="../media/image1.png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.xml"/><Relationship Id="rId11" Type="http://schemas.openxmlformats.org/officeDocument/2006/relationships/image" Target="../media/image11.png"/><Relationship Id="rId5" Type="http://schemas.openxmlformats.org/officeDocument/2006/relationships/image" Target="../media/image8.png"/><Relationship Id="rId10" Type="http://schemas.openxmlformats.org/officeDocument/2006/relationships/customXml" Target="../ink/ink4.xml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microsoft.com/office/2007/relationships/hdphoto" Target="../media/hdphoto2.wd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microsoft.com/office/2007/relationships/hdphoto" Target="../media/hdphoto2.wd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microsoft.com/office/2007/relationships/hdphoto" Target="../media/hdphoto2.wdp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jpe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1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eertos.org/Documentation/02-Kernel/04-API-references/01-Task-creation/01-xTaskCreate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eertos.org/Documentation/02-Kernel/04-API-references/01-Task-creation/01-xTaskCreate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eertos.org/Documentation/02-Kernel/03-Supported-devices/02-Customization/#configsupport_dynamic_allocation" TargetMode="External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13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eertos.org/Documentation/02-Kernel/03-Supported-devices/02-Customization/#configsupport_dynamic_allocation" TargetMode="External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hyperlink" Target="https://www.freertos.org/Documentation/02-Kernel/02-Kernel-features/09-Memory-management/01-Memory-management" TargetMode="External"/><Relationship Id="rId4" Type="http://schemas.openxmlformats.org/officeDocument/2006/relationships/hyperlink" Target="https://www.freertos.org/Documentation/02-Kernel/03-Supported-devices/02-Customization/#configuse_mutexes" TargetMode="Externa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AE886-482A-9F93-6B10-95D3801243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RTOS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2B9FE96-B874-E698-3E27-64135E8C8F80}"/>
              </a:ext>
            </a:extLst>
          </p:cNvPr>
          <p:cNvGrpSpPr/>
          <p:nvPr/>
        </p:nvGrpSpPr>
        <p:grpSpPr>
          <a:xfrm>
            <a:off x="0" y="6472494"/>
            <a:ext cx="12192000" cy="400250"/>
            <a:chOff x="0" y="6460919"/>
            <a:chExt cx="12192000" cy="40025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B4A16E4-363F-B762-1996-1A5AA06F09AC}"/>
                </a:ext>
              </a:extLst>
            </p:cNvPr>
            <p:cNvSpPr/>
            <p:nvPr/>
          </p:nvSpPr>
          <p:spPr>
            <a:xfrm>
              <a:off x="0" y="6460919"/>
              <a:ext cx="12192000" cy="397079"/>
            </a:xfrm>
            <a:prstGeom prst="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dirty="0"/>
                <a:t>                   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Jai Raja Saravanam S                                                                                                        </a:t>
              </a:r>
              <a:r>
                <a:rPr lang="en-IN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Emcog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Solutions</a:t>
              </a:r>
              <a:r>
                <a:rPr lang="en-IN" dirty="0"/>
                <a:t> </a:t>
              </a: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6AA47986-4072-20ED-EE31-025EAD46202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734477" y="6478141"/>
              <a:ext cx="349866" cy="3830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338177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93E67-266E-6E2D-5B2E-571ADE2FDF13}"/>
              </a:ext>
            </a:extLst>
          </p:cNvPr>
          <p:cNvSpPr txBox="1">
            <a:spLocks/>
          </p:cNvSpPr>
          <p:nvPr/>
        </p:nvSpPr>
        <p:spPr>
          <a:xfrm>
            <a:off x="3067776" y="490559"/>
            <a:ext cx="6056448" cy="93503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 ways of programming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C275AD3-DE05-AC7C-3763-F000367A5C42}"/>
              </a:ext>
            </a:extLst>
          </p:cNvPr>
          <p:cNvSpPr txBox="1">
            <a:spLocks/>
          </p:cNvSpPr>
          <p:nvPr/>
        </p:nvSpPr>
        <p:spPr>
          <a:xfrm>
            <a:off x="486919" y="1652088"/>
            <a:ext cx="10672693" cy="237102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Bare metal without interrupt (Super loop without interrupt)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 loop with Interrupt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RTOS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43C106D-17FF-7139-4C80-86FF1C80A3E8}"/>
              </a:ext>
            </a:extLst>
          </p:cNvPr>
          <p:cNvGrpSpPr/>
          <p:nvPr/>
        </p:nvGrpSpPr>
        <p:grpSpPr>
          <a:xfrm>
            <a:off x="0" y="6472494"/>
            <a:ext cx="12192000" cy="400250"/>
            <a:chOff x="0" y="6460919"/>
            <a:chExt cx="12192000" cy="40025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BD63036-BFFE-ABA1-522F-69D902690003}"/>
                </a:ext>
              </a:extLst>
            </p:cNvPr>
            <p:cNvSpPr/>
            <p:nvPr/>
          </p:nvSpPr>
          <p:spPr>
            <a:xfrm>
              <a:off x="0" y="6460919"/>
              <a:ext cx="12192000" cy="397079"/>
            </a:xfrm>
            <a:prstGeom prst="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dirty="0"/>
                <a:t>                   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Jai Raja Saravanam S                                                                                                        </a:t>
              </a:r>
              <a:r>
                <a:rPr lang="en-IN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Emcog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Solutions</a:t>
              </a:r>
              <a:r>
                <a:rPr lang="en-IN" dirty="0"/>
                <a:t> </a:t>
              </a: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43EB4B5-B3BF-A479-8174-1920C6B84BE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734477" y="6478141"/>
              <a:ext cx="349866" cy="3830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095374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063948-9301-F6D3-5A0F-6789A2C5C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2CAE42DE-673F-71F0-B562-0598EE374872}"/>
              </a:ext>
            </a:extLst>
          </p:cNvPr>
          <p:cNvSpPr txBox="1">
            <a:spLocks/>
          </p:cNvSpPr>
          <p:nvPr/>
        </p:nvSpPr>
        <p:spPr>
          <a:xfrm>
            <a:off x="547992" y="267311"/>
            <a:ext cx="11096011" cy="60133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Activity 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C84552-4860-3EE4-69D3-FE51AAB36A64}"/>
              </a:ext>
            </a:extLst>
          </p:cNvPr>
          <p:cNvSpPr txBox="1"/>
          <p:nvPr/>
        </p:nvSpPr>
        <p:spPr>
          <a:xfrm>
            <a:off x="264803" y="983055"/>
            <a:ext cx="113792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Glow three LED one after the other with one sec delay</a:t>
            </a:r>
          </a:p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Objective  :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delay using HAL layer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E041140-D417-1802-4B97-1F4047A17EDF}"/>
              </a:ext>
            </a:extLst>
          </p:cNvPr>
          <p:cNvGrpSpPr/>
          <p:nvPr/>
        </p:nvGrpSpPr>
        <p:grpSpPr>
          <a:xfrm>
            <a:off x="4825289" y="3429000"/>
            <a:ext cx="2541421" cy="3031919"/>
            <a:chOff x="4705685" y="3660711"/>
            <a:chExt cx="1782880" cy="2344902"/>
          </a:xfrm>
        </p:grpSpPr>
        <p:pic>
          <p:nvPicPr>
            <p:cNvPr id="1028" name="Picture 4" descr="Premium Vector | Set of light emitting diodes LED">
              <a:extLst>
                <a:ext uri="{FF2B5EF4-FFF2-40B4-BE49-F238E27FC236}">
                  <a16:creationId xmlns:a16="http://schemas.microsoft.com/office/drawing/2014/main" id="{E1E033EF-579B-CBC6-4ACA-C81E1957CC1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05686" y="3660711"/>
              <a:ext cx="1782879" cy="17828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13857752-05FF-0AAD-2CB2-3523EC4B10F2}"/>
                </a:ext>
              </a:extLst>
            </p:cNvPr>
            <p:cNvCxnSpPr/>
            <p:nvPr/>
          </p:nvCxnSpPr>
          <p:spPr>
            <a:xfrm>
              <a:off x="4705685" y="5484230"/>
              <a:ext cx="1782879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4F26145-277D-D163-6BC2-D84FDA17C7FD}"/>
                </a:ext>
              </a:extLst>
            </p:cNvPr>
            <p:cNvSpPr txBox="1"/>
            <p:nvPr/>
          </p:nvSpPr>
          <p:spPr>
            <a:xfrm>
              <a:off x="4705685" y="5636285"/>
              <a:ext cx="1782879" cy="3693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Glow left to right</a:t>
              </a:r>
              <a:endParaRPr lang="en-IN" dirty="0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D0E1F240-B7F9-FCC5-7142-679441B7FA5A}"/>
              </a:ext>
            </a:extLst>
          </p:cNvPr>
          <p:cNvGrpSpPr/>
          <p:nvPr/>
        </p:nvGrpSpPr>
        <p:grpSpPr>
          <a:xfrm>
            <a:off x="0" y="6472494"/>
            <a:ext cx="12192000" cy="400250"/>
            <a:chOff x="0" y="6460919"/>
            <a:chExt cx="12192000" cy="4002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CE83FEB-E44D-D38F-F149-3AE12EA853BE}"/>
                </a:ext>
              </a:extLst>
            </p:cNvPr>
            <p:cNvSpPr/>
            <p:nvPr/>
          </p:nvSpPr>
          <p:spPr>
            <a:xfrm>
              <a:off x="0" y="6460919"/>
              <a:ext cx="12192000" cy="397079"/>
            </a:xfrm>
            <a:prstGeom prst="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dirty="0"/>
                <a:t>                   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Jai Raja Saravanam S                                                                                                        </a:t>
              </a:r>
              <a:r>
                <a:rPr lang="en-IN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Emcog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Solutions</a:t>
              </a:r>
              <a:r>
                <a:rPr lang="en-IN" dirty="0"/>
                <a:t> </a:t>
              </a: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29F7F32-AF95-5460-A8A4-3B9068630D1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734477" y="6478141"/>
              <a:ext cx="349866" cy="3830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409756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1C851-457B-D8B9-60BA-A0F1AC46E2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04A4A37-2865-D1E7-59B2-743143A648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32560" y="180043"/>
            <a:ext cx="9144000" cy="610497"/>
          </a:xfrm>
        </p:spPr>
        <p:txBody>
          <a:bodyPr>
            <a:norm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83815C-884A-6098-A6B9-D097F0CD189A}"/>
              </a:ext>
            </a:extLst>
          </p:cNvPr>
          <p:cNvSpPr txBox="1">
            <a:spLocks/>
          </p:cNvSpPr>
          <p:nvPr/>
        </p:nvSpPr>
        <p:spPr>
          <a:xfrm>
            <a:off x="365760" y="660266"/>
            <a:ext cx="11277600" cy="122706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 register which increments (UP) or decrements(Down) based on input clock pulse</a:t>
            </a:r>
          </a:p>
          <a:p>
            <a:pPr algn="just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8 bit timer (UP),</a:t>
            </a:r>
          </a:p>
        </p:txBody>
      </p:sp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B3ECE74F-2D4D-1270-33C6-14DC1FD1B154}"/>
              </a:ext>
            </a:extLst>
          </p:cNvPr>
          <p:cNvGraphicFramePr>
            <a:graphicFrameLocks noGrp="1"/>
          </p:cNvGraphicFramePr>
          <p:nvPr/>
        </p:nvGraphicFramePr>
        <p:xfrm>
          <a:off x="3224046" y="2244477"/>
          <a:ext cx="3919224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9903">
                  <a:extLst>
                    <a:ext uri="{9D8B030D-6E8A-4147-A177-3AD203B41FA5}">
                      <a16:colId xmlns:a16="http://schemas.microsoft.com/office/drawing/2014/main" val="1597303889"/>
                    </a:ext>
                  </a:extLst>
                </a:gridCol>
                <a:gridCol w="489903">
                  <a:extLst>
                    <a:ext uri="{9D8B030D-6E8A-4147-A177-3AD203B41FA5}">
                      <a16:colId xmlns:a16="http://schemas.microsoft.com/office/drawing/2014/main" val="2667570025"/>
                    </a:ext>
                  </a:extLst>
                </a:gridCol>
                <a:gridCol w="489903">
                  <a:extLst>
                    <a:ext uri="{9D8B030D-6E8A-4147-A177-3AD203B41FA5}">
                      <a16:colId xmlns:a16="http://schemas.microsoft.com/office/drawing/2014/main" val="3561279095"/>
                    </a:ext>
                  </a:extLst>
                </a:gridCol>
                <a:gridCol w="489903">
                  <a:extLst>
                    <a:ext uri="{9D8B030D-6E8A-4147-A177-3AD203B41FA5}">
                      <a16:colId xmlns:a16="http://schemas.microsoft.com/office/drawing/2014/main" val="1970924819"/>
                    </a:ext>
                  </a:extLst>
                </a:gridCol>
                <a:gridCol w="489903">
                  <a:extLst>
                    <a:ext uri="{9D8B030D-6E8A-4147-A177-3AD203B41FA5}">
                      <a16:colId xmlns:a16="http://schemas.microsoft.com/office/drawing/2014/main" val="1070162645"/>
                    </a:ext>
                  </a:extLst>
                </a:gridCol>
                <a:gridCol w="489903">
                  <a:extLst>
                    <a:ext uri="{9D8B030D-6E8A-4147-A177-3AD203B41FA5}">
                      <a16:colId xmlns:a16="http://schemas.microsoft.com/office/drawing/2014/main" val="1969194729"/>
                    </a:ext>
                  </a:extLst>
                </a:gridCol>
                <a:gridCol w="489903">
                  <a:extLst>
                    <a:ext uri="{9D8B030D-6E8A-4147-A177-3AD203B41FA5}">
                      <a16:colId xmlns:a16="http://schemas.microsoft.com/office/drawing/2014/main" val="2866082984"/>
                    </a:ext>
                  </a:extLst>
                </a:gridCol>
                <a:gridCol w="489903">
                  <a:extLst>
                    <a:ext uri="{9D8B030D-6E8A-4147-A177-3AD203B41FA5}">
                      <a16:colId xmlns:a16="http://schemas.microsoft.com/office/drawing/2014/main" val="3763324804"/>
                    </a:ext>
                  </a:extLst>
                </a:gridCol>
              </a:tblGrid>
              <a:tr h="231789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1579153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D3EB26D5-40DB-1223-678B-B5205DEE0A29}"/>
              </a:ext>
            </a:extLst>
          </p:cNvPr>
          <p:cNvSpPr txBox="1"/>
          <p:nvPr/>
        </p:nvSpPr>
        <p:spPr>
          <a:xfrm>
            <a:off x="1218210" y="2279503"/>
            <a:ext cx="39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t0</a:t>
            </a:r>
            <a:endParaRPr lang="en-IN" dirty="0"/>
          </a:p>
        </p:txBody>
      </p:sp>
      <p:pic>
        <p:nvPicPr>
          <p:cNvPr id="36" name="Picture 2" descr="1.4 System Timing">
            <a:extLst>
              <a:ext uri="{FF2B5EF4-FFF2-40B4-BE49-F238E27FC236}">
                <a16:creationId xmlns:a16="http://schemas.microsoft.com/office/drawing/2014/main" id="{40192C9B-9E3B-40D9-EE55-5F135F0A1E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1200" y="149157"/>
            <a:ext cx="2895600" cy="844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2" descr="1.4 System Timing">
            <a:extLst>
              <a:ext uri="{FF2B5EF4-FFF2-40B4-BE49-F238E27FC236}">
                <a16:creationId xmlns:a16="http://schemas.microsoft.com/office/drawing/2014/main" id="{6A13FDD3-AF57-E7AF-8EE8-4DE1DF3640D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22" t="41507" r="77587" b="20603"/>
          <a:stretch>
            <a:fillRect/>
          </a:stretch>
        </p:blipFill>
        <p:spPr bwMode="auto">
          <a:xfrm>
            <a:off x="2081428" y="2285117"/>
            <a:ext cx="477520" cy="320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Isosceles Triangle 37">
            <a:extLst>
              <a:ext uri="{FF2B5EF4-FFF2-40B4-BE49-F238E27FC236}">
                <a16:creationId xmlns:a16="http://schemas.microsoft.com/office/drawing/2014/main" id="{2D93391B-E32D-B8D3-739F-CF536ED34E15}"/>
              </a:ext>
            </a:extLst>
          </p:cNvPr>
          <p:cNvSpPr/>
          <p:nvPr/>
        </p:nvSpPr>
        <p:spPr>
          <a:xfrm>
            <a:off x="2297329" y="2401094"/>
            <a:ext cx="45719" cy="45719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0321DC73-750E-6F51-8FE0-FD923227B74B}"/>
              </a:ext>
            </a:extLst>
          </p:cNvPr>
          <p:cNvGraphicFramePr>
            <a:graphicFrameLocks noGrp="1"/>
          </p:cNvGraphicFramePr>
          <p:nvPr/>
        </p:nvGraphicFramePr>
        <p:xfrm>
          <a:off x="3229352" y="2840669"/>
          <a:ext cx="3919224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9903">
                  <a:extLst>
                    <a:ext uri="{9D8B030D-6E8A-4147-A177-3AD203B41FA5}">
                      <a16:colId xmlns:a16="http://schemas.microsoft.com/office/drawing/2014/main" val="1597303889"/>
                    </a:ext>
                  </a:extLst>
                </a:gridCol>
                <a:gridCol w="489903">
                  <a:extLst>
                    <a:ext uri="{9D8B030D-6E8A-4147-A177-3AD203B41FA5}">
                      <a16:colId xmlns:a16="http://schemas.microsoft.com/office/drawing/2014/main" val="2667570025"/>
                    </a:ext>
                  </a:extLst>
                </a:gridCol>
                <a:gridCol w="489903">
                  <a:extLst>
                    <a:ext uri="{9D8B030D-6E8A-4147-A177-3AD203B41FA5}">
                      <a16:colId xmlns:a16="http://schemas.microsoft.com/office/drawing/2014/main" val="3561279095"/>
                    </a:ext>
                  </a:extLst>
                </a:gridCol>
                <a:gridCol w="489903">
                  <a:extLst>
                    <a:ext uri="{9D8B030D-6E8A-4147-A177-3AD203B41FA5}">
                      <a16:colId xmlns:a16="http://schemas.microsoft.com/office/drawing/2014/main" val="1970924819"/>
                    </a:ext>
                  </a:extLst>
                </a:gridCol>
                <a:gridCol w="489903">
                  <a:extLst>
                    <a:ext uri="{9D8B030D-6E8A-4147-A177-3AD203B41FA5}">
                      <a16:colId xmlns:a16="http://schemas.microsoft.com/office/drawing/2014/main" val="1070162645"/>
                    </a:ext>
                  </a:extLst>
                </a:gridCol>
                <a:gridCol w="489903">
                  <a:extLst>
                    <a:ext uri="{9D8B030D-6E8A-4147-A177-3AD203B41FA5}">
                      <a16:colId xmlns:a16="http://schemas.microsoft.com/office/drawing/2014/main" val="1969194729"/>
                    </a:ext>
                  </a:extLst>
                </a:gridCol>
                <a:gridCol w="489903">
                  <a:extLst>
                    <a:ext uri="{9D8B030D-6E8A-4147-A177-3AD203B41FA5}">
                      <a16:colId xmlns:a16="http://schemas.microsoft.com/office/drawing/2014/main" val="2866082984"/>
                    </a:ext>
                  </a:extLst>
                </a:gridCol>
                <a:gridCol w="489903">
                  <a:extLst>
                    <a:ext uri="{9D8B030D-6E8A-4147-A177-3AD203B41FA5}">
                      <a16:colId xmlns:a16="http://schemas.microsoft.com/office/drawing/2014/main" val="3763324804"/>
                    </a:ext>
                  </a:extLst>
                </a:gridCol>
              </a:tblGrid>
              <a:tr h="231789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1579153"/>
                  </a:ext>
                </a:extLst>
              </a:tr>
            </a:tbl>
          </a:graphicData>
        </a:graphic>
      </p:graphicFrame>
      <p:sp>
        <p:nvSpPr>
          <p:cNvPr id="40" name="TextBox 39">
            <a:extLst>
              <a:ext uri="{FF2B5EF4-FFF2-40B4-BE49-F238E27FC236}">
                <a16:creationId xmlns:a16="http://schemas.microsoft.com/office/drawing/2014/main" id="{1ADB40B9-57DD-91F8-8C34-4E122F47A2C5}"/>
              </a:ext>
            </a:extLst>
          </p:cNvPr>
          <p:cNvSpPr txBox="1"/>
          <p:nvPr/>
        </p:nvSpPr>
        <p:spPr>
          <a:xfrm>
            <a:off x="1223516" y="2875695"/>
            <a:ext cx="39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t1</a:t>
            </a:r>
            <a:endParaRPr lang="en-IN" dirty="0"/>
          </a:p>
        </p:txBody>
      </p:sp>
      <p:pic>
        <p:nvPicPr>
          <p:cNvPr id="41" name="Picture 2" descr="1.4 System Timing">
            <a:extLst>
              <a:ext uri="{FF2B5EF4-FFF2-40B4-BE49-F238E27FC236}">
                <a16:creationId xmlns:a16="http://schemas.microsoft.com/office/drawing/2014/main" id="{4F368E3B-924D-11C3-D110-D906779E213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22" t="41507" r="77587" b="20603"/>
          <a:stretch>
            <a:fillRect/>
          </a:stretch>
        </p:blipFill>
        <p:spPr bwMode="auto">
          <a:xfrm>
            <a:off x="2086734" y="2881309"/>
            <a:ext cx="477520" cy="320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" name="Isosceles Triangle 41">
            <a:extLst>
              <a:ext uri="{FF2B5EF4-FFF2-40B4-BE49-F238E27FC236}">
                <a16:creationId xmlns:a16="http://schemas.microsoft.com/office/drawing/2014/main" id="{F0A1A8AE-4655-008D-8A47-CB78F1AF2DAE}"/>
              </a:ext>
            </a:extLst>
          </p:cNvPr>
          <p:cNvSpPr/>
          <p:nvPr/>
        </p:nvSpPr>
        <p:spPr>
          <a:xfrm>
            <a:off x="2302635" y="2997286"/>
            <a:ext cx="45719" cy="45719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23DC6918-CF2E-834D-1CCC-F11C4B340A91}"/>
              </a:ext>
            </a:extLst>
          </p:cNvPr>
          <p:cNvGraphicFramePr>
            <a:graphicFrameLocks noGrp="1"/>
          </p:cNvGraphicFramePr>
          <p:nvPr/>
        </p:nvGraphicFramePr>
        <p:xfrm>
          <a:off x="3221732" y="3381689"/>
          <a:ext cx="3919224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9903">
                  <a:extLst>
                    <a:ext uri="{9D8B030D-6E8A-4147-A177-3AD203B41FA5}">
                      <a16:colId xmlns:a16="http://schemas.microsoft.com/office/drawing/2014/main" val="1597303889"/>
                    </a:ext>
                  </a:extLst>
                </a:gridCol>
                <a:gridCol w="489903">
                  <a:extLst>
                    <a:ext uri="{9D8B030D-6E8A-4147-A177-3AD203B41FA5}">
                      <a16:colId xmlns:a16="http://schemas.microsoft.com/office/drawing/2014/main" val="2667570025"/>
                    </a:ext>
                  </a:extLst>
                </a:gridCol>
                <a:gridCol w="489903">
                  <a:extLst>
                    <a:ext uri="{9D8B030D-6E8A-4147-A177-3AD203B41FA5}">
                      <a16:colId xmlns:a16="http://schemas.microsoft.com/office/drawing/2014/main" val="3561279095"/>
                    </a:ext>
                  </a:extLst>
                </a:gridCol>
                <a:gridCol w="489903">
                  <a:extLst>
                    <a:ext uri="{9D8B030D-6E8A-4147-A177-3AD203B41FA5}">
                      <a16:colId xmlns:a16="http://schemas.microsoft.com/office/drawing/2014/main" val="1970924819"/>
                    </a:ext>
                  </a:extLst>
                </a:gridCol>
                <a:gridCol w="489903">
                  <a:extLst>
                    <a:ext uri="{9D8B030D-6E8A-4147-A177-3AD203B41FA5}">
                      <a16:colId xmlns:a16="http://schemas.microsoft.com/office/drawing/2014/main" val="1070162645"/>
                    </a:ext>
                  </a:extLst>
                </a:gridCol>
                <a:gridCol w="489903">
                  <a:extLst>
                    <a:ext uri="{9D8B030D-6E8A-4147-A177-3AD203B41FA5}">
                      <a16:colId xmlns:a16="http://schemas.microsoft.com/office/drawing/2014/main" val="1969194729"/>
                    </a:ext>
                  </a:extLst>
                </a:gridCol>
                <a:gridCol w="489903">
                  <a:extLst>
                    <a:ext uri="{9D8B030D-6E8A-4147-A177-3AD203B41FA5}">
                      <a16:colId xmlns:a16="http://schemas.microsoft.com/office/drawing/2014/main" val="2866082984"/>
                    </a:ext>
                  </a:extLst>
                </a:gridCol>
                <a:gridCol w="489903">
                  <a:extLst>
                    <a:ext uri="{9D8B030D-6E8A-4147-A177-3AD203B41FA5}">
                      <a16:colId xmlns:a16="http://schemas.microsoft.com/office/drawing/2014/main" val="3763324804"/>
                    </a:ext>
                  </a:extLst>
                </a:gridCol>
              </a:tblGrid>
              <a:tr h="231789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1579153"/>
                  </a:ext>
                </a:extLst>
              </a:tr>
            </a:tbl>
          </a:graphicData>
        </a:graphic>
      </p:graphicFrame>
      <p:sp>
        <p:nvSpPr>
          <p:cNvPr id="44" name="TextBox 43">
            <a:extLst>
              <a:ext uri="{FF2B5EF4-FFF2-40B4-BE49-F238E27FC236}">
                <a16:creationId xmlns:a16="http://schemas.microsoft.com/office/drawing/2014/main" id="{4AC87998-E0C5-05DF-B151-2C76CE283578}"/>
              </a:ext>
            </a:extLst>
          </p:cNvPr>
          <p:cNvSpPr txBox="1"/>
          <p:nvPr/>
        </p:nvSpPr>
        <p:spPr>
          <a:xfrm>
            <a:off x="1215896" y="3416715"/>
            <a:ext cx="39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t2</a:t>
            </a:r>
            <a:endParaRPr lang="en-IN" dirty="0"/>
          </a:p>
        </p:txBody>
      </p:sp>
      <p:pic>
        <p:nvPicPr>
          <p:cNvPr id="45" name="Picture 2" descr="1.4 System Timing">
            <a:extLst>
              <a:ext uri="{FF2B5EF4-FFF2-40B4-BE49-F238E27FC236}">
                <a16:creationId xmlns:a16="http://schemas.microsoft.com/office/drawing/2014/main" id="{924F092F-B40F-FE52-600F-E78FC525D75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22" t="41507" r="77587" b="20603"/>
          <a:stretch>
            <a:fillRect/>
          </a:stretch>
        </p:blipFill>
        <p:spPr bwMode="auto">
          <a:xfrm>
            <a:off x="2079114" y="3422329"/>
            <a:ext cx="477520" cy="320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6" name="Isosceles Triangle 45">
            <a:extLst>
              <a:ext uri="{FF2B5EF4-FFF2-40B4-BE49-F238E27FC236}">
                <a16:creationId xmlns:a16="http://schemas.microsoft.com/office/drawing/2014/main" id="{790B3C1A-BD56-922D-FD55-FD21D39C8BD6}"/>
              </a:ext>
            </a:extLst>
          </p:cNvPr>
          <p:cNvSpPr/>
          <p:nvPr/>
        </p:nvSpPr>
        <p:spPr>
          <a:xfrm>
            <a:off x="2295015" y="3538306"/>
            <a:ext cx="45719" cy="45719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47" name="Table 46">
            <a:extLst>
              <a:ext uri="{FF2B5EF4-FFF2-40B4-BE49-F238E27FC236}">
                <a16:creationId xmlns:a16="http://schemas.microsoft.com/office/drawing/2014/main" id="{B0DEE02E-D983-C7CA-366D-E146B61B51C0}"/>
              </a:ext>
            </a:extLst>
          </p:cNvPr>
          <p:cNvGraphicFramePr>
            <a:graphicFrameLocks noGrp="1"/>
          </p:cNvGraphicFramePr>
          <p:nvPr/>
        </p:nvGraphicFramePr>
        <p:xfrm>
          <a:off x="3221732" y="3930329"/>
          <a:ext cx="3919224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9903">
                  <a:extLst>
                    <a:ext uri="{9D8B030D-6E8A-4147-A177-3AD203B41FA5}">
                      <a16:colId xmlns:a16="http://schemas.microsoft.com/office/drawing/2014/main" val="1597303889"/>
                    </a:ext>
                  </a:extLst>
                </a:gridCol>
                <a:gridCol w="489903">
                  <a:extLst>
                    <a:ext uri="{9D8B030D-6E8A-4147-A177-3AD203B41FA5}">
                      <a16:colId xmlns:a16="http://schemas.microsoft.com/office/drawing/2014/main" val="2667570025"/>
                    </a:ext>
                  </a:extLst>
                </a:gridCol>
                <a:gridCol w="489903">
                  <a:extLst>
                    <a:ext uri="{9D8B030D-6E8A-4147-A177-3AD203B41FA5}">
                      <a16:colId xmlns:a16="http://schemas.microsoft.com/office/drawing/2014/main" val="3561279095"/>
                    </a:ext>
                  </a:extLst>
                </a:gridCol>
                <a:gridCol w="489903">
                  <a:extLst>
                    <a:ext uri="{9D8B030D-6E8A-4147-A177-3AD203B41FA5}">
                      <a16:colId xmlns:a16="http://schemas.microsoft.com/office/drawing/2014/main" val="1970924819"/>
                    </a:ext>
                  </a:extLst>
                </a:gridCol>
                <a:gridCol w="489903">
                  <a:extLst>
                    <a:ext uri="{9D8B030D-6E8A-4147-A177-3AD203B41FA5}">
                      <a16:colId xmlns:a16="http://schemas.microsoft.com/office/drawing/2014/main" val="1070162645"/>
                    </a:ext>
                  </a:extLst>
                </a:gridCol>
                <a:gridCol w="489903">
                  <a:extLst>
                    <a:ext uri="{9D8B030D-6E8A-4147-A177-3AD203B41FA5}">
                      <a16:colId xmlns:a16="http://schemas.microsoft.com/office/drawing/2014/main" val="1969194729"/>
                    </a:ext>
                  </a:extLst>
                </a:gridCol>
                <a:gridCol w="489903">
                  <a:extLst>
                    <a:ext uri="{9D8B030D-6E8A-4147-A177-3AD203B41FA5}">
                      <a16:colId xmlns:a16="http://schemas.microsoft.com/office/drawing/2014/main" val="2866082984"/>
                    </a:ext>
                  </a:extLst>
                </a:gridCol>
                <a:gridCol w="489903">
                  <a:extLst>
                    <a:ext uri="{9D8B030D-6E8A-4147-A177-3AD203B41FA5}">
                      <a16:colId xmlns:a16="http://schemas.microsoft.com/office/drawing/2014/main" val="3763324804"/>
                    </a:ext>
                  </a:extLst>
                </a:gridCol>
              </a:tblGrid>
              <a:tr h="231789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1579153"/>
                  </a:ext>
                </a:extLst>
              </a:tr>
            </a:tbl>
          </a:graphicData>
        </a:graphic>
      </p:graphicFrame>
      <p:sp>
        <p:nvSpPr>
          <p:cNvPr id="48" name="TextBox 47">
            <a:extLst>
              <a:ext uri="{FF2B5EF4-FFF2-40B4-BE49-F238E27FC236}">
                <a16:creationId xmlns:a16="http://schemas.microsoft.com/office/drawing/2014/main" id="{439FB9A4-52AF-B5B9-865A-B2FF23144122}"/>
              </a:ext>
            </a:extLst>
          </p:cNvPr>
          <p:cNvSpPr txBox="1"/>
          <p:nvPr/>
        </p:nvSpPr>
        <p:spPr>
          <a:xfrm>
            <a:off x="1215896" y="3965355"/>
            <a:ext cx="39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t3</a:t>
            </a:r>
            <a:endParaRPr lang="en-IN" dirty="0"/>
          </a:p>
        </p:txBody>
      </p:sp>
      <p:pic>
        <p:nvPicPr>
          <p:cNvPr id="49" name="Picture 2" descr="1.4 System Timing">
            <a:extLst>
              <a:ext uri="{FF2B5EF4-FFF2-40B4-BE49-F238E27FC236}">
                <a16:creationId xmlns:a16="http://schemas.microsoft.com/office/drawing/2014/main" id="{F3E03909-5269-A5AE-0B17-AD19BFFEF3F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22" t="41507" r="77587" b="20603"/>
          <a:stretch>
            <a:fillRect/>
          </a:stretch>
        </p:blipFill>
        <p:spPr bwMode="auto">
          <a:xfrm>
            <a:off x="2079114" y="3970969"/>
            <a:ext cx="477520" cy="320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0" name="Isosceles Triangle 49">
            <a:extLst>
              <a:ext uri="{FF2B5EF4-FFF2-40B4-BE49-F238E27FC236}">
                <a16:creationId xmlns:a16="http://schemas.microsoft.com/office/drawing/2014/main" id="{53BAB909-D110-C8BC-9725-45C8ACEFE343}"/>
              </a:ext>
            </a:extLst>
          </p:cNvPr>
          <p:cNvSpPr/>
          <p:nvPr/>
        </p:nvSpPr>
        <p:spPr>
          <a:xfrm>
            <a:off x="2295015" y="4086946"/>
            <a:ext cx="45719" cy="45719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4EC3BED-7377-1985-865F-8FA7BB48E517}"/>
              </a:ext>
            </a:extLst>
          </p:cNvPr>
          <p:cNvSpPr txBox="1"/>
          <p:nvPr/>
        </p:nvSpPr>
        <p:spPr>
          <a:xfrm>
            <a:off x="7808368" y="2219585"/>
            <a:ext cx="26339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Decimal equivalent =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IN" sz="1600" b="1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0A21739-41EC-71E3-8601-4A6EAD3B7568}"/>
              </a:ext>
            </a:extLst>
          </p:cNvPr>
          <p:cNvSpPr txBox="1"/>
          <p:nvPr/>
        </p:nvSpPr>
        <p:spPr>
          <a:xfrm>
            <a:off x="7808368" y="2828009"/>
            <a:ext cx="26339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Decimal equivalent =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IN" sz="1600" b="1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46B08FF-E323-DCE0-6F1A-A35F2F892EC2}"/>
              </a:ext>
            </a:extLst>
          </p:cNvPr>
          <p:cNvSpPr txBox="1"/>
          <p:nvPr/>
        </p:nvSpPr>
        <p:spPr>
          <a:xfrm>
            <a:off x="7808368" y="3436433"/>
            <a:ext cx="26339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Decimal equivalent =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IN" sz="1600" b="1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18E671F-4AD3-5E61-5AD2-5A0B483E00ED}"/>
              </a:ext>
            </a:extLst>
          </p:cNvPr>
          <p:cNvSpPr txBox="1"/>
          <p:nvPr/>
        </p:nvSpPr>
        <p:spPr>
          <a:xfrm>
            <a:off x="7808368" y="4044857"/>
            <a:ext cx="26339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Decimal equivalent =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IN" sz="1600" b="1" dirty="0"/>
          </a:p>
        </p:txBody>
      </p:sp>
      <p:graphicFrame>
        <p:nvGraphicFramePr>
          <p:cNvPr id="55" name="Table 54">
            <a:extLst>
              <a:ext uri="{FF2B5EF4-FFF2-40B4-BE49-F238E27FC236}">
                <a16:creationId xmlns:a16="http://schemas.microsoft.com/office/drawing/2014/main" id="{09EB0274-B01E-C1DD-9765-E822E0682D4B}"/>
              </a:ext>
            </a:extLst>
          </p:cNvPr>
          <p:cNvGraphicFramePr>
            <a:graphicFrameLocks noGrp="1"/>
          </p:cNvGraphicFramePr>
          <p:nvPr/>
        </p:nvGraphicFramePr>
        <p:xfrm>
          <a:off x="3221732" y="5125145"/>
          <a:ext cx="3919224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9903">
                  <a:extLst>
                    <a:ext uri="{9D8B030D-6E8A-4147-A177-3AD203B41FA5}">
                      <a16:colId xmlns:a16="http://schemas.microsoft.com/office/drawing/2014/main" val="1597303889"/>
                    </a:ext>
                  </a:extLst>
                </a:gridCol>
                <a:gridCol w="489903">
                  <a:extLst>
                    <a:ext uri="{9D8B030D-6E8A-4147-A177-3AD203B41FA5}">
                      <a16:colId xmlns:a16="http://schemas.microsoft.com/office/drawing/2014/main" val="2667570025"/>
                    </a:ext>
                  </a:extLst>
                </a:gridCol>
                <a:gridCol w="489903">
                  <a:extLst>
                    <a:ext uri="{9D8B030D-6E8A-4147-A177-3AD203B41FA5}">
                      <a16:colId xmlns:a16="http://schemas.microsoft.com/office/drawing/2014/main" val="3561279095"/>
                    </a:ext>
                  </a:extLst>
                </a:gridCol>
                <a:gridCol w="489903">
                  <a:extLst>
                    <a:ext uri="{9D8B030D-6E8A-4147-A177-3AD203B41FA5}">
                      <a16:colId xmlns:a16="http://schemas.microsoft.com/office/drawing/2014/main" val="1970924819"/>
                    </a:ext>
                  </a:extLst>
                </a:gridCol>
                <a:gridCol w="489903">
                  <a:extLst>
                    <a:ext uri="{9D8B030D-6E8A-4147-A177-3AD203B41FA5}">
                      <a16:colId xmlns:a16="http://schemas.microsoft.com/office/drawing/2014/main" val="1070162645"/>
                    </a:ext>
                  </a:extLst>
                </a:gridCol>
                <a:gridCol w="489903">
                  <a:extLst>
                    <a:ext uri="{9D8B030D-6E8A-4147-A177-3AD203B41FA5}">
                      <a16:colId xmlns:a16="http://schemas.microsoft.com/office/drawing/2014/main" val="1969194729"/>
                    </a:ext>
                  </a:extLst>
                </a:gridCol>
                <a:gridCol w="489903">
                  <a:extLst>
                    <a:ext uri="{9D8B030D-6E8A-4147-A177-3AD203B41FA5}">
                      <a16:colId xmlns:a16="http://schemas.microsoft.com/office/drawing/2014/main" val="2866082984"/>
                    </a:ext>
                  </a:extLst>
                </a:gridCol>
                <a:gridCol w="489903">
                  <a:extLst>
                    <a:ext uri="{9D8B030D-6E8A-4147-A177-3AD203B41FA5}">
                      <a16:colId xmlns:a16="http://schemas.microsoft.com/office/drawing/2014/main" val="3763324804"/>
                    </a:ext>
                  </a:extLst>
                </a:gridCol>
              </a:tblGrid>
              <a:tr h="231789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1579153"/>
                  </a:ext>
                </a:extLst>
              </a:tr>
            </a:tbl>
          </a:graphicData>
        </a:graphic>
      </p:graphicFrame>
      <p:sp>
        <p:nvSpPr>
          <p:cNvPr id="56" name="TextBox 55">
            <a:extLst>
              <a:ext uri="{FF2B5EF4-FFF2-40B4-BE49-F238E27FC236}">
                <a16:creationId xmlns:a16="http://schemas.microsoft.com/office/drawing/2014/main" id="{59FD68DE-9C3C-FAC6-8185-13652D5612D7}"/>
              </a:ext>
            </a:extLst>
          </p:cNvPr>
          <p:cNvSpPr txBox="1"/>
          <p:nvPr/>
        </p:nvSpPr>
        <p:spPr>
          <a:xfrm>
            <a:off x="1215896" y="5160171"/>
            <a:ext cx="39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tn</a:t>
            </a:r>
            <a:endParaRPr lang="en-IN" dirty="0"/>
          </a:p>
        </p:txBody>
      </p:sp>
      <p:pic>
        <p:nvPicPr>
          <p:cNvPr id="57" name="Picture 2" descr="1.4 System Timing">
            <a:extLst>
              <a:ext uri="{FF2B5EF4-FFF2-40B4-BE49-F238E27FC236}">
                <a16:creationId xmlns:a16="http://schemas.microsoft.com/office/drawing/2014/main" id="{7CFFAEFD-DF1B-A7D9-6AAC-50CDA7AAF0E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22" t="41507" r="77587" b="20603"/>
          <a:stretch>
            <a:fillRect/>
          </a:stretch>
        </p:blipFill>
        <p:spPr bwMode="auto">
          <a:xfrm>
            <a:off x="2079114" y="5165785"/>
            <a:ext cx="477520" cy="320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8" name="Isosceles Triangle 57">
            <a:extLst>
              <a:ext uri="{FF2B5EF4-FFF2-40B4-BE49-F238E27FC236}">
                <a16:creationId xmlns:a16="http://schemas.microsoft.com/office/drawing/2014/main" id="{35834EB3-7C14-4CDD-4655-47532FD3FD6E}"/>
              </a:ext>
            </a:extLst>
          </p:cNvPr>
          <p:cNvSpPr/>
          <p:nvPr/>
        </p:nvSpPr>
        <p:spPr>
          <a:xfrm>
            <a:off x="2295015" y="5281762"/>
            <a:ext cx="45719" cy="45719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07A24D7-B5D1-C3F4-8018-409B675E45FD}"/>
              </a:ext>
            </a:extLst>
          </p:cNvPr>
          <p:cNvSpPr txBox="1"/>
          <p:nvPr/>
        </p:nvSpPr>
        <p:spPr>
          <a:xfrm>
            <a:off x="7808368" y="5239673"/>
            <a:ext cx="26339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Decimal equivalent =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255</a:t>
            </a:r>
            <a:endParaRPr lang="en-IN" sz="1600" b="1" dirty="0"/>
          </a:p>
        </p:txBody>
      </p:sp>
      <p:graphicFrame>
        <p:nvGraphicFramePr>
          <p:cNvPr id="60" name="Table 59">
            <a:extLst>
              <a:ext uri="{FF2B5EF4-FFF2-40B4-BE49-F238E27FC236}">
                <a16:creationId xmlns:a16="http://schemas.microsoft.com/office/drawing/2014/main" id="{DD2B06C5-B8D5-D03B-8558-5C731116FDEA}"/>
              </a:ext>
            </a:extLst>
          </p:cNvPr>
          <p:cNvGraphicFramePr>
            <a:graphicFrameLocks noGrp="1"/>
          </p:cNvGraphicFramePr>
          <p:nvPr/>
        </p:nvGraphicFramePr>
        <p:xfrm>
          <a:off x="3223660" y="5694234"/>
          <a:ext cx="3919224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9903">
                  <a:extLst>
                    <a:ext uri="{9D8B030D-6E8A-4147-A177-3AD203B41FA5}">
                      <a16:colId xmlns:a16="http://schemas.microsoft.com/office/drawing/2014/main" val="1597303889"/>
                    </a:ext>
                  </a:extLst>
                </a:gridCol>
                <a:gridCol w="489903">
                  <a:extLst>
                    <a:ext uri="{9D8B030D-6E8A-4147-A177-3AD203B41FA5}">
                      <a16:colId xmlns:a16="http://schemas.microsoft.com/office/drawing/2014/main" val="2667570025"/>
                    </a:ext>
                  </a:extLst>
                </a:gridCol>
                <a:gridCol w="489903">
                  <a:extLst>
                    <a:ext uri="{9D8B030D-6E8A-4147-A177-3AD203B41FA5}">
                      <a16:colId xmlns:a16="http://schemas.microsoft.com/office/drawing/2014/main" val="3561279095"/>
                    </a:ext>
                  </a:extLst>
                </a:gridCol>
                <a:gridCol w="489903">
                  <a:extLst>
                    <a:ext uri="{9D8B030D-6E8A-4147-A177-3AD203B41FA5}">
                      <a16:colId xmlns:a16="http://schemas.microsoft.com/office/drawing/2014/main" val="1970924819"/>
                    </a:ext>
                  </a:extLst>
                </a:gridCol>
                <a:gridCol w="489903">
                  <a:extLst>
                    <a:ext uri="{9D8B030D-6E8A-4147-A177-3AD203B41FA5}">
                      <a16:colId xmlns:a16="http://schemas.microsoft.com/office/drawing/2014/main" val="1070162645"/>
                    </a:ext>
                  </a:extLst>
                </a:gridCol>
                <a:gridCol w="489903">
                  <a:extLst>
                    <a:ext uri="{9D8B030D-6E8A-4147-A177-3AD203B41FA5}">
                      <a16:colId xmlns:a16="http://schemas.microsoft.com/office/drawing/2014/main" val="1969194729"/>
                    </a:ext>
                  </a:extLst>
                </a:gridCol>
                <a:gridCol w="489903">
                  <a:extLst>
                    <a:ext uri="{9D8B030D-6E8A-4147-A177-3AD203B41FA5}">
                      <a16:colId xmlns:a16="http://schemas.microsoft.com/office/drawing/2014/main" val="2866082984"/>
                    </a:ext>
                  </a:extLst>
                </a:gridCol>
                <a:gridCol w="489903">
                  <a:extLst>
                    <a:ext uri="{9D8B030D-6E8A-4147-A177-3AD203B41FA5}">
                      <a16:colId xmlns:a16="http://schemas.microsoft.com/office/drawing/2014/main" val="3763324804"/>
                    </a:ext>
                  </a:extLst>
                </a:gridCol>
              </a:tblGrid>
              <a:tr h="231789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1579153"/>
                  </a:ext>
                </a:extLst>
              </a:tr>
            </a:tbl>
          </a:graphicData>
        </a:graphic>
      </p:graphicFrame>
      <p:sp>
        <p:nvSpPr>
          <p:cNvPr id="61" name="TextBox 60">
            <a:extLst>
              <a:ext uri="{FF2B5EF4-FFF2-40B4-BE49-F238E27FC236}">
                <a16:creationId xmlns:a16="http://schemas.microsoft.com/office/drawing/2014/main" id="{1641C3F1-28CB-BB95-17A6-2399FCF6211B}"/>
              </a:ext>
            </a:extLst>
          </p:cNvPr>
          <p:cNvSpPr txBox="1"/>
          <p:nvPr/>
        </p:nvSpPr>
        <p:spPr>
          <a:xfrm>
            <a:off x="1217824" y="5729260"/>
            <a:ext cx="6473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tn+1</a:t>
            </a:r>
            <a:endParaRPr lang="en-IN" dirty="0"/>
          </a:p>
        </p:txBody>
      </p:sp>
      <p:pic>
        <p:nvPicPr>
          <p:cNvPr id="62" name="Picture 2" descr="1.4 System Timing">
            <a:extLst>
              <a:ext uri="{FF2B5EF4-FFF2-40B4-BE49-F238E27FC236}">
                <a16:creationId xmlns:a16="http://schemas.microsoft.com/office/drawing/2014/main" id="{F5A362DE-2E3C-D5D0-EDE3-953E907D735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22" t="41507" r="77587" b="20603"/>
          <a:stretch>
            <a:fillRect/>
          </a:stretch>
        </p:blipFill>
        <p:spPr bwMode="auto">
          <a:xfrm>
            <a:off x="2081042" y="5734874"/>
            <a:ext cx="477520" cy="320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Isosceles Triangle 62">
            <a:extLst>
              <a:ext uri="{FF2B5EF4-FFF2-40B4-BE49-F238E27FC236}">
                <a16:creationId xmlns:a16="http://schemas.microsoft.com/office/drawing/2014/main" id="{9DAEED4F-D8E3-ECAB-9251-523765DEFE1C}"/>
              </a:ext>
            </a:extLst>
          </p:cNvPr>
          <p:cNvSpPr/>
          <p:nvPr/>
        </p:nvSpPr>
        <p:spPr>
          <a:xfrm>
            <a:off x="2296943" y="5850851"/>
            <a:ext cx="45719" cy="45719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565437F-6C61-7ED4-3F06-079B65185226}"/>
              </a:ext>
            </a:extLst>
          </p:cNvPr>
          <p:cNvSpPr txBox="1"/>
          <p:nvPr/>
        </p:nvSpPr>
        <p:spPr>
          <a:xfrm>
            <a:off x="7810296" y="5808762"/>
            <a:ext cx="26339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Decimal equivalent =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IN" sz="1600" b="1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E69D1CF-8FE1-9AD8-9B25-C2084872067B}"/>
              </a:ext>
            </a:extLst>
          </p:cNvPr>
          <p:cNvSpPr txBox="1"/>
          <p:nvPr/>
        </p:nvSpPr>
        <p:spPr>
          <a:xfrm>
            <a:off x="5043168" y="4044857"/>
            <a:ext cx="3962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/>
              <a:t>.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B1DCF6F-54C9-6AD3-AD56-11836E6A0FE5}"/>
              </a:ext>
            </a:extLst>
          </p:cNvPr>
          <p:cNvSpPr txBox="1"/>
          <p:nvPr/>
        </p:nvSpPr>
        <p:spPr>
          <a:xfrm>
            <a:off x="5044184" y="4186581"/>
            <a:ext cx="3962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/>
              <a:t>.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C8FC27B-4B5D-6529-3C60-D4EE187DC73E}"/>
              </a:ext>
            </a:extLst>
          </p:cNvPr>
          <p:cNvSpPr txBox="1"/>
          <p:nvPr/>
        </p:nvSpPr>
        <p:spPr>
          <a:xfrm>
            <a:off x="5044184" y="4334401"/>
            <a:ext cx="3962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/>
              <a:t>.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7952FE2-A932-71FE-D04E-678C0F5C8C89}"/>
              </a:ext>
            </a:extLst>
          </p:cNvPr>
          <p:cNvSpPr txBox="1"/>
          <p:nvPr/>
        </p:nvSpPr>
        <p:spPr>
          <a:xfrm>
            <a:off x="5044184" y="4482221"/>
            <a:ext cx="3962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/>
              <a:t>.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2D16B98-822F-B994-8A35-2E5FF3088CCA}"/>
              </a:ext>
            </a:extLst>
          </p:cNvPr>
          <p:cNvSpPr txBox="1"/>
          <p:nvPr/>
        </p:nvSpPr>
        <p:spPr>
          <a:xfrm>
            <a:off x="5044184" y="4630041"/>
            <a:ext cx="3962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/>
              <a:t>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59A23D40-1234-18B4-50A0-5EEA5229C454}"/>
                  </a:ext>
                </a:extLst>
              </p14:cNvPr>
              <p14:cNvContentPartPr/>
              <p14:nvPr/>
            </p14:nvContentPartPr>
            <p14:xfrm>
              <a:off x="7213760" y="5323680"/>
              <a:ext cx="286560" cy="53568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59A23D40-1234-18B4-50A0-5EEA5229C45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207640" y="5317560"/>
                <a:ext cx="298800" cy="54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263C87FD-9629-1524-79D0-A8767ED3B18B}"/>
                  </a:ext>
                </a:extLst>
              </p14:cNvPr>
              <p14:cNvContentPartPr/>
              <p14:nvPr/>
            </p14:nvContentPartPr>
            <p14:xfrm>
              <a:off x="7222400" y="5791320"/>
              <a:ext cx="112680" cy="15048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263C87FD-9629-1524-79D0-A8767ED3B18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216280" y="5785200"/>
                <a:ext cx="124920" cy="162720"/>
              </a:xfrm>
              <a:prstGeom prst="rect">
                <a:avLst/>
              </a:prstGeom>
            </p:spPr>
          </p:pic>
        </mc:Fallback>
      </mc:AlternateContent>
      <p:grpSp>
        <p:nvGrpSpPr>
          <p:cNvPr id="78" name="Group 77">
            <a:extLst>
              <a:ext uri="{FF2B5EF4-FFF2-40B4-BE49-F238E27FC236}">
                <a16:creationId xmlns:a16="http://schemas.microsoft.com/office/drawing/2014/main" id="{F653C99F-556F-3D17-22DA-E1D486C580A0}"/>
              </a:ext>
            </a:extLst>
          </p:cNvPr>
          <p:cNvGrpSpPr/>
          <p:nvPr/>
        </p:nvGrpSpPr>
        <p:grpSpPr>
          <a:xfrm>
            <a:off x="7477640" y="4683600"/>
            <a:ext cx="1460880" cy="670680"/>
            <a:chOff x="7477640" y="4683600"/>
            <a:chExt cx="1460880" cy="670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31A496EE-9416-D4B5-54C6-6C821A73F875}"/>
                    </a:ext>
                  </a:extLst>
                </p14:cNvPr>
                <p14:cNvContentPartPr/>
                <p14:nvPr/>
              </p14:nvContentPartPr>
              <p14:xfrm>
                <a:off x="7477640" y="4764240"/>
                <a:ext cx="1270080" cy="59004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31A496EE-9416-D4B5-54C6-6C821A73F87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471520" y="4758120"/>
                  <a:ext cx="1282320" cy="60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72424613-1F7D-C68F-693D-28C21A41B560}"/>
                    </a:ext>
                  </a:extLst>
                </p14:cNvPr>
                <p14:cNvContentPartPr/>
                <p14:nvPr/>
              </p14:nvContentPartPr>
              <p14:xfrm>
                <a:off x="8767880" y="4683600"/>
                <a:ext cx="170640" cy="20484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72424613-1F7D-C68F-693D-28C21A41B56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761760" y="4677120"/>
                  <a:ext cx="182880" cy="2170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79" name="TextBox 78">
            <a:extLst>
              <a:ext uri="{FF2B5EF4-FFF2-40B4-BE49-F238E27FC236}">
                <a16:creationId xmlns:a16="http://schemas.microsoft.com/office/drawing/2014/main" id="{0CD9C359-37F5-A24E-57CC-F7B9ECC0E0A7}"/>
              </a:ext>
            </a:extLst>
          </p:cNvPr>
          <p:cNvSpPr txBox="1"/>
          <p:nvPr/>
        </p:nvSpPr>
        <p:spPr>
          <a:xfrm>
            <a:off x="8958680" y="4594718"/>
            <a:ext cx="1270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Overflow</a:t>
            </a:r>
            <a:endParaRPr lang="en-IN" b="1" dirty="0">
              <a:solidFill>
                <a:srgbClr val="FF0000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D8EE0EF-40B2-CA1A-5347-BD430B9DF7AE}"/>
              </a:ext>
            </a:extLst>
          </p:cNvPr>
          <p:cNvGrpSpPr/>
          <p:nvPr/>
        </p:nvGrpSpPr>
        <p:grpSpPr>
          <a:xfrm>
            <a:off x="0" y="6472494"/>
            <a:ext cx="12192000" cy="400250"/>
            <a:chOff x="0" y="6460919"/>
            <a:chExt cx="12192000" cy="4002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5379A18-08B8-17A3-1D82-621D56855A6D}"/>
                </a:ext>
              </a:extLst>
            </p:cNvPr>
            <p:cNvSpPr/>
            <p:nvPr/>
          </p:nvSpPr>
          <p:spPr>
            <a:xfrm>
              <a:off x="0" y="6460919"/>
              <a:ext cx="12192000" cy="397079"/>
            </a:xfrm>
            <a:prstGeom prst="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dirty="0"/>
                <a:t>                   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Jai Raja Saravanam S                                                                                                        </a:t>
              </a:r>
              <a:r>
                <a:rPr lang="en-IN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Emcog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Solutions</a:t>
              </a:r>
              <a:r>
                <a:rPr lang="en-IN" dirty="0"/>
                <a:t> </a:t>
              </a: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47AA8E2-BD88-2039-C83D-C2082D537FA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8734477" y="6478141"/>
              <a:ext cx="349866" cy="383028"/>
            </a:xfrm>
            <a:prstGeom prst="rect">
              <a:avLst/>
            </a:prstGeom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FBAFB2D1-1674-D466-6FA7-DCBE9331DD84}"/>
              </a:ext>
            </a:extLst>
          </p:cNvPr>
          <p:cNvSpPr txBox="1"/>
          <p:nvPr/>
        </p:nvSpPr>
        <p:spPr>
          <a:xfrm>
            <a:off x="10750396" y="4467628"/>
            <a:ext cx="110350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to measure time</a:t>
            </a:r>
            <a:endParaRPr lang="en-IN" sz="1600" b="1" dirty="0">
              <a:solidFill>
                <a:srgbClr val="FF0000"/>
              </a:solidFill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77D6EDC-AC94-3FFE-658B-0B71DE4D3F86}"/>
              </a:ext>
            </a:extLst>
          </p:cNvPr>
          <p:cNvCxnSpPr>
            <a:stCxn id="79" idx="3"/>
          </p:cNvCxnSpPr>
          <p:nvPr/>
        </p:nvCxnSpPr>
        <p:spPr>
          <a:xfrm flipV="1">
            <a:off x="10228760" y="4764240"/>
            <a:ext cx="521636" cy="1514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23130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B7532-C8FF-282B-7988-504EEA99A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0436B8C-9B66-48BF-7327-6F39286269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78192" y="119175"/>
            <a:ext cx="9144000" cy="610497"/>
          </a:xfrm>
        </p:spPr>
        <p:txBody>
          <a:bodyPr>
            <a:norm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Timer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CB30AFC-CA25-585B-318B-DD85410E464B}"/>
              </a:ext>
            </a:extLst>
          </p:cNvPr>
          <p:cNvGrpSpPr/>
          <p:nvPr/>
        </p:nvGrpSpPr>
        <p:grpSpPr>
          <a:xfrm>
            <a:off x="0" y="6472494"/>
            <a:ext cx="12192000" cy="400250"/>
            <a:chOff x="0" y="6460919"/>
            <a:chExt cx="12192000" cy="40025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68D07BA4-4FBB-4CD8-5E41-9CBFF128611F}"/>
                </a:ext>
              </a:extLst>
            </p:cNvPr>
            <p:cNvSpPr/>
            <p:nvPr/>
          </p:nvSpPr>
          <p:spPr>
            <a:xfrm>
              <a:off x="0" y="6460919"/>
              <a:ext cx="12192000" cy="397079"/>
            </a:xfrm>
            <a:prstGeom prst="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dirty="0"/>
                <a:t>                   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Jai Raja Saravanam S                                                                                                        </a:t>
              </a:r>
              <a:r>
                <a:rPr lang="en-IN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Emcog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Solutions</a:t>
              </a:r>
              <a:r>
                <a:rPr lang="en-IN" dirty="0"/>
                <a:t> </a:t>
              </a:r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CD432ADE-CDB0-1ADB-7BDE-04DE0F62783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734477" y="6478141"/>
              <a:ext cx="349866" cy="383028"/>
            </a:xfrm>
            <a:prstGeom prst="rect">
              <a:avLst/>
            </a:prstGeom>
          </p:spPr>
        </p:pic>
      </p:grp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97767B76-D943-4689-1062-A7E5C5236F3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98173425"/>
              </p:ext>
            </p:extLst>
          </p:nvPr>
        </p:nvGraphicFramePr>
        <p:xfrm>
          <a:off x="1170646" y="79468"/>
          <a:ext cx="9713661" cy="54462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Title 1">
            <a:extLst>
              <a:ext uri="{FF2B5EF4-FFF2-40B4-BE49-F238E27FC236}">
                <a16:creationId xmlns:a16="http://schemas.microsoft.com/office/drawing/2014/main" id="{07815B49-5179-12F7-C4E7-5F0694AEDF5A}"/>
              </a:ext>
            </a:extLst>
          </p:cNvPr>
          <p:cNvSpPr txBox="1">
            <a:spLocks/>
          </p:cNvSpPr>
          <p:nvPr/>
        </p:nvSpPr>
        <p:spPr>
          <a:xfrm>
            <a:off x="1022225" y="3107912"/>
            <a:ext cx="4582160" cy="610497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Based on Book definition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Uses </a:t>
            </a:r>
            <a:r>
              <a:rPr lang="en-IN" sz="1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internal clock</a:t>
            </a:r>
          </a:p>
          <a:p>
            <a:pPr algn="l"/>
            <a:r>
              <a:rPr lang="en-IN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Based on Purpose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It is used to </a:t>
            </a:r>
            <a:r>
              <a:rPr lang="en-IN" sz="1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measure Time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EB3846F-CDA2-FF49-98B6-7BCD65F2E943}"/>
              </a:ext>
            </a:extLst>
          </p:cNvPr>
          <p:cNvSpPr txBox="1">
            <a:spLocks/>
          </p:cNvSpPr>
          <p:nvPr/>
        </p:nvSpPr>
        <p:spPr>
          <a:xfrm>
            <a:off x="6516862" y="3107913"/>
            <a:ext cx="4942408" cy="610497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Based on Book definition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Uses </a:t>
            </a:r>
            <a:r>
              <a:rPr lang="en-IN" sz="1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External clock</a:t>
            </a:r>
          </a:p>
          <a:p>
            <a:pPr algn="l"/>
            <a:r>
              <a:rPr lang="en-IN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Based on Purpose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It is used to </a:t>
            </a:r>
            <a:r>
              <a:rPr lang="en-IN" sz="1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count event</a:t>
            </a:r>
          </a:p>
        </p:txBody>
      </p:sp>
    </p:spTree>
    <p:extLst>
      <p:ext uri="{BB962C8B-B14F-4D97-AF65-F5344CB8AC3E}">
        <p14:creationId xmlns:p14="http://schemas.microsoft.com/office/powerpoint/2010/main" val="27273214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8FC18F-5165-D2F9-D51B-B8F3C486B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547CD6C7-EC90-33A5-247D-713E4F08DB17}"/>
              </a:ext>
            </a:extLst>
          </p:cNvPr>
          <p:cNvSpPr/>
          <p:nvPr/>
        </p:nvSpPr>
        <p:spPr>
          <a:xfrm>
            <a:off x="1628760" y="1249026"/>
            <a:ext cx="9519138" cy="4763153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BDDFB8E-4262-3C2A-98FE-1924A24579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0513"/>
            <a:ext cx="9144000" cy="610497"/>
          </a:xfrm>
        </p:spPr>
        <p:txBody>
          <a:bodyPr>
            <a:norm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Timer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72C2C62-1E26-F031-337B-159A27418439}"/>
              </a:ext>
            </a:extLst>
          </p:cNvPr>
          <p:cNvGrpSpPr/>
          <p:nvPr/>
        </p:nvGrpSpPr>
        <p:grpSpPr>
          <a:xfrm>
            <a:off x="0" y="6472494"/>
            <a:ext cx="12192000" cy="400250"/>
            <a:chOff x="0" y="6460919"/>
            <a:chExt cx="12192000" cy="40025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D870DC43-6F5C-12AA-EA12-C0A0BBAF95FF}"/>
                </a:ext>
              </a:extLst>
            </p:cNvPr>
            <p:cNvSpPr/>
            <p:nvPr/>
          </p:nvSpPr>
          <p:spPr>
            <a:xfrm>
              <a:off x="0" y="6460919"/>
              <a:ext cx="12192000" cy="397079"/>
            </a:xfrm>
            <a:prstGeom prst="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dirty="0"/>
                <a:t>                   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Jai Raja Saravanam S                                                                                                        </a:t>
              </a:r>
              <a:r>
                <a:rPr lang="en-IN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Emcog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Solutions</a:t>
              </a:r>
              <a:r>
                <a:rPr lang="en-IN" dirty="0"/>
                <a:t> </a:t>
              </a:r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63EBC8C1-1872-5D35-219D-F3827B01173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734477" y="6478141"/>
              <a:ext cx="349866" cy="383028"/>
            </a:xfrm>
            <a:prstGeom prst="rect">
              <a:avLst/>
            </a:prstGeom>
          </p:spPr>
        </p:pic>
      </p:grpSp>
      <p:sp>
        <p:nvSpPr>
          <p:cNvPr id="33" name="Title 1">
            <a:extLst>
              <a:ext uri="{FF2B5EF4-FFF2-40B4-BE49-F238E27FC236}">
                <a16:creationId xmlns:a16="http://schemas.microsoft.com/office/drawing/2014/main" id="{65366DF9-C5CF-D044-7F21-68F5D9FF6F57}"/>
              </a:ext>
            </a:extLst>
          </p:cNvPr>
          <p:cNvSpPr txBox="1">
            <a:spLocks/>
          </p:cNvSpPr>
          <p:nvPr/>
        </p:nvSpPr>
        <p:spPr>
          <a:xfrm>
            <a:off x="5075989" y="1385511"/>
            <a:ext cx="2728152" cy="56235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STM32F103C8T6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B834891-ED81-AE81-5264-C6AE9894A76A}"/>
              </a:ext>
            </a:extLst>
          </p:cNvPr>
          <p:cNvCxnSpPr>
            <a:cxnSpLocks/>
          </p:cNvCxnSpPr>
          <p:nvPr/>
        </p:nvCxnSpPr>
        <p:spPr>
          <a:xfrm>
            <a:off x="3142600" y="2068394"/>
            <a:ext cx="0" cy="2667890"/>
          </a:xfrm>
          <a:prstGeom prst="line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B7E41263-12C5-B62B-52E3-72F8250C8C05}"/>
              </a:ext>
            </a:extLst>
          </p:cNvPr>
          <p:cNvCxnSpPr>
            <a:cxnSpLocks/>
            <a:stCxn id="42" idx="3"/>
          </p:cNvCxnSpPr>
          <p:nvPr/>
        </p:nvCxnSpPr>
        <p:spPr>
          <a:xfrm>
            <a:off x="1468479" y="2083241"/>
            <a:ext cx="1674120" cy="0"/>
          </a:xfrm>
          <a:prstGeom prst="line">
            <a:avLst/>
          </a:prstGeom>
          <a:ln w="38100"/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ECBA2098-B3E3-D195-6D3A-B57741C46FB1}"/>
              </a:ext>
            </a:extLst>
          </p:cNvPr>
          <p:cNvCxnSpPr>
            <a:cxnSpLocks/>
          </p:cNvCxnSpPr>
          <p:nvPr/>
        </p:nvCxnSpPr>
        <p:spPr>
          <a:xfrm>
            <a:off x="2610216" y="4723452"/>
            <a:ext cx="541001" cy="3082"/>
          </a:xfrm>
          <a:prstGeom prst="line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91E64A92-2213-C7C0-5EB7-4F170481FC26}"/>
              </a:ext>
            </a:extLst>
          </p:cNvPr>
          <p:cNvSpPr/>
          <p:nvPr/>
        </p:nvSpPr>
        <p:spPr>
          <a:xfrm>
            <a:off x="1799620" y="4348033"/>
            <a:ext cx="1111552" cy="747484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dirty="0"/>
              <a:t>Internal</a:t>
            </a:r>
          </a:p>
          <a:p>
            <a:pPr algn="ctr"/>
            <a:r>
              <a:rPr lang="en-IN" sz="2000" dirty="0"/>
              <a:t>Clock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C439674-BD70-D9E4-3CD8-232FBF5903EB}"/>
              </a:ext>
            </a:extLst>
          </p:cNvPr>
          <p:cNvSpPr/>
          <p:nvPr/>
        </p:nvSpPr>
        <p:spPr>
          <a:xfrm>
            <a:off x="433971" y="1792025"/>
            <a:ext cx="1034508" cy="582431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dirty="0"/>
              <a:t>Button</a:t>
            </a:r>
          </a:p>
        </p:txBody>
      </p:sp>
      <p:sp>
        <p:nvSpPr>
          <p:cNvPr id="43" name="Title 1">
            <a:extLst>
              <a:ext uri="{FF2B5EF4-FFF2-40B4-BE49-F238E27FC236}">
                <a16:creationId xmlns:a16="http://schemas.microsoft.com/office/drawing/2014/main" id="{FA02BB68-0189-B78B-AD7C-23343113DE68}"/>
              </a:ext>
            </a:extLst>
          </p:cNvPr>
          <p:cNvSpPr txBox="1">
            <a:spLocks/>
          </p:cNvSpPr>
          <p:nvPr/>
        </p:nvSpPr>
        <p:spPr>
          <a:xfrm>
            <a:off x="1500764" y="1565843"/>
            <a:ext cx="1951193" cy="4919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External Clock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7D232C49-B612-296E-E395-87AF7119FD50}"/>
              </a:ext>
            </a:extLst>
          </p:cNvPr>
          <p:cNvCxnSpPr>
            <a:cxnSpLocks/>
          </p:cNvCxnSpPr>
          <p:nvPr/>
        </p:nvCxnSpPr>
        <p:spPr>
          <a:xfrm>
            <a:off x="4880403" y="3472454"/>
            <a:ext cx="495369" cy="0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925B9508-352E-F95A-6D4E-FFD9B15968CB}"/>
              </a:ext>
            </a:extLst>
          </p:cNvPr>
          <p:cNvGrpSpPr/>
          <p:nvPr/>
        </p:nvGrpSpPr>
        <p:grpSpPr>
          <a:xfrm>
            <a:off x="5382623" y="2060916"/>
            <a:ext cx="5597028" cy="2590752"/>
            <a:chOff x="5377804" y="2527739"/>
            <a:chExt cx="5864285" cy="2476240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667732CC-5FC6-687A-34F2-BB65398C97DB}"/>
                </a:ext>
              </a:extLst>
            </p:cNvPr>
            <p:cNvSpPr/>
            <p:nvPr/>
          </p:nvSpPr>
          <p:spPr>
            <a:xfrm>
              <a:off x="5377804" y="2527739"/>
              <a:ext cx="4986707" cy="1965443"/>
            </a:xfrm>
            <a:prstGeom prst="rect">
              <a:avLst/>
            </a:prstGeom>
            <a:ln w="381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35" name="Title 1">
              <a:extLst>
                <a:ext uri="{FF2B5EF4-FFF2-40B4-BE49-F238E27FC236}">
                  <a16:creationId xmlns:a16="http://schemas.microsoft.com/office/drawing/2014/main" id="{20459458-97D4-6F2A-0A48-65843DAE2412}"/>
                </a:ext>
              </a:extLst>
            </p:cNvPr>
            <p:cNvSpPr txBox="1">
              <a:spLocks/>
            </p:cNvSpPr>
            <p:nvPr/>
          </p:nvSpPr>
          <p:spPr>
            <a:xfrm>
              <a:off x="6820524" y="2692969"/>
              <a:ext cx="1982293" cy="556540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IN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Timer</a:t>
              </a:r>
            </a:p>
          </p:txBody>
        </p:sp>
        <p:sp>
          <p:nvSpPr>
            <p:cNvPr id="37" name="Title 1">
              <a:extLst>
                <a:ext uri="{FF2B5EF4-FFF2-40B4-BE49-F238E27FC236}">
                  <a16:creationId xmlns:a16="http://schemas.microsoft.com/office/drawing/2014/main" id="{420FCCA2-62C1-560E-E002-FEF318C72FA7}"/>
                </a:ext>
              </a:extLst>
            </p:cNvPr>
            <p:cNvSpPr txBox="1">
              <a:spLocks/>
            </p:cNvSpPr>
            <p:nvPr/>
          </p:nvSpPr>
          <p:spPr>
            <a:xfrm>
              <a:off x="6045667" y="4007690"/>
              <a:ext cx="3650980" cy="332838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 lnSpcReduction="100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16 Bit timer register </a:t>
              </a:r>
            </a:p>
          </p:txBody>
        </p: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A82870DA-53A0-CA95-F5F9-6ADDC686D222}"/>
                </a:ext>
              </a:extLst>
            </p:cNvPr>
            <p:cNvCxnSpPr>
              <a:cxnSpLocks/>
            </p:cNvCxnSpPr>
            <p:nvPr/>
          </p:nvCxnSpPr>
          <p:spPr>
            <a:xfrm>
              <a:off x="10364511" y="3452894"/>
              <a:ext cx="877578" cy="0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90165B8B-7473-D320-437D-3DC99DC0FAC5}"/>
                </a:ext>
              </a:extLst>
            </p:cNvPr>
            <p:cNvCxnSpPr>
              <a:cxnSpLocks/>
            </p:cNvCxnSpPr>
            <p:nvPr/>
          </p:nvCxnSpPr>
          <p:spPr>
            <a:xfrm>
              <a:off x="6596132" y="4493182"/>
              <a:ext cx="0" cy="510797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339EB4E5-1F06-A75D-4DCF-D8B495620E6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02817" y="4503958"/>
              <a:ext cx="0" cy="483966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90836340-1266-CDCE-4798-99426955E87B}"/>
              </a:ext>
            </a:extLst>
          </p:cNvPr>
          <p:cNvSpPr/>
          <p:nvPr/>
        </p:nvSpPr>
        <p:spPr>
          <a:xfrm>
            <a:off x="3604613" y="3111943"/>
            <a:ext cx="1268939" cy="747484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dirty="0" err="1"/>
              <a:t>Prescaler</a:t>
            </a:r>
            <a:endParaRPr lang="en-IN" sz="2000" dirty="0"/>
          </a:p>
          <a:p>
            <a:pPr algn="ctr"/>
            <a:r>
              <a:rPr lang="en-IN" sz="2000" dirty="0"/>
              <a:t>( 32 bit )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2BF4975C-B42A-70BB-3E38-15AC21238627}"/>
              </a:ext>
            </a:extLst>
          </p:cNvPr>
          <p:cNvCxnSpPr>
            <a:cxnSpLocks/>
          </p:cNvCxnSpPr>
          <p:nvPr/>
        </p:nvCxnSpPr>
        <p:spPr>
          <a:xfrm>
            <a:off x="3162284" y="3462726"/>
            <a:ext cx="445877" cy="0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6E49A06C-7F2A-EA99-77C8-3520430FBE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6138890"/>
              </p:ext>
            </p:extLst>
          </p:nvPr>
        </p:nvGraphicFramePr>
        <p:xfrm>
          <a:off x="5771017" y="2927921"/>
          <a:ext cx="3982656" cy="51200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7832">
                  <a:extLst>
                    <a:ext uri="{9D8B030D-6E8A-4147-A177-3AD203B41FA5}">
                      <a16:colId xmlns:a16="http://schemas.microsoft.com/office/drawing/2014/main" val="1597303889"/>
                    </a:ext>
                  </a:extLst>
                </a:gridCol>
                <a:gridCol w="497832">
                  <a:extLst>
                    <a:ext uri="{9D8B030D-6E8A-4147-A177-3AD203B41FA5}">
                      <a16:colId xmlns:a16="http://schemas.microsoft.com/office/drawing/2014/main" val="2667570025"/>
                    </a:ext>
                  </a:extLst>
                </a:gridCol>
                <a:gridCol w="497832">
                  <a:extLst>
                    <a:ext uri="{9D8B030D-6E8A-4147-A177-3AD203B41FA5}">
                      <a16:colId xmlns:a16="http://schemas.microsoft.com/office/drawing/2014/main" val="3561279095"/>
                    </a:ext>
                  </a:extLst>
                </a:gridCol>
                <a:gridCol w="497832">
                  <a:extLst>
                    <a:ext uri="{9D8B030D-6E8A-4147-A177-3AD203B41FA5}">
                      <a16:colId xmlns:a16="http://schemas.microsoft.com/office/drawing/2014/main" val="1970924819"/>
                    </a:ext>
                  </a:extLst>
                </a:gridCol>
                <a:gridCol w="497832">
                  <a:extLst>
                    <a:ext uri="{9D8B030D-6E8A-4147-A177-3AD203B41FA5}">
                      <a16:colId xmlns:a16="http://schemas.microsoft.com/office/drawing/2014/main" val="1070162645"/>
                    </a:ext>
                  </a:extLst>
                </a:gridCol>
                <a:gridCol w="497832">
                  <a:extLst>
                    <a:ext uri="{9D8B030D-6E8A-4147-A177-3AD203B41FA5}">
                      <a16:colId xmlns:a16="http://schemas.microsoft.com/office/drawing/2014/main" val="1969194729"/>
                    </a:ext>
                  </a:extLst>
                </a:gridCol>
                <a:gridCol w="497832">
                  <a:extLst>
                    <a:ext uri="{9D8B030D-6E8A-4147-A177-3AD203B41FA5}">
                      <a16:colId xmlns:a16="http://schemas.microsoft.com/office/drawing/2014/main" val="2866082984"/>
                    </a:ext>
                  </a:extLst>
                </a:gridCol>
                <a:gridCol w="497832">
                  <a:extLst>
                    <a:ext uri="{9D8B030D-6E8A-4147-A177-3AD203B41FA5}">
                      <a16:colId xmlns:a16="http://schemas.microsoft.com/office/drawing/2014/main" val="3763324804"/>
                    </a:ext>
                  </a:extLst>
                </a:gridCol>
              </a:tblGrid>
              <a:tr h="51200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1579153"/>
                  </a:ext>
                </a:extLst>
              </a:tr>
            </a:tbl>
          </a:graphicData>
        </a:graphic>
      </p:graphicFrame>
      <p:grpSp>
        <p:nvGrpSpPr>
          <p:cNvPr id="6" name="Group 5">
            <a:extLst>
              <a:ext uri="{FF2B5EF4-FFF2-40B4-BE49-F238E27FC236}">
                <a16:creationId xmlns:a16="http://schemas.microsoft.com/office/drawing/2014/main" id="{636003D7-A8AC-BF30-CDF5-8BDC83918CED}"/>
              </a:ext>
            </a:extLst>
          </p:cNvPr>
          <p:cNvGrpSpPr/>
          <p:nvPr/>
        </p:nvGrpSpPr>
        <p:grpSpPr>
          <a:xfrm>
            <a:off x="5367269" y="4674528"/>
            <a:ext cx="4759444" cy="1136166"/>
            <a:chOff x="5377804" y="2527739"/>
            <a:chExt cx="4986707" cy="196544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D3E87E7-EFAC-0554-D45C-DC2B7C6507FC}"/>
                </a:ext>
              </a:extLst>
            </p:cNvPr>
            <p:cNvSpPr/>
            <p:nvPr/>
          </p:nvSpPr>
          <p:spPr>
            <a:xfrm>
              <a:off x="5377804" y="2527739"/>
              <a:ext cx="4986707" cy="1965443"/>
            </a:xfrm>
            <a:prstGeom prst="rect">
              <a:avLst/>
            </a:prstGeom>
            <a:ln w="381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8" name="Title 1">
              <a:extLst>
                <a:ext uri="{FF2B5EF4-FFF2-40B4-BE49-F238E27FC236}">
                  <a16:creationId xmlns:a16="http://schemas.microsoft.com/office/drawing/2014/main" id="{25C7CF7E-193F-7624-02F6-04BA0D33EEAE}"/>
                </a:ext>
              </a:extLst>
            </p:cNvPr>
            <p:cNvSpPr txBox="1">
              <a:spLocks/>
            </p:cNvSpPr>
            <p:nvPr/>
          </p:nvSpPr>
          <p:spPr>
            <a:xfrm>
              <a:off x="6820525" y="2788622"/>
              <a:ext cx="1982293" cy="556540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 fontScale="70000" lnSpcReduction="200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IN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ARR</a:t>
              </a:r>
            </a:p>
          </p:txBody>
        </p:sp>
        <p:sp>
          <p:nvSpPr>
            <p:cNvPr id="9" name="Title 1">
              <a:extLst>
                <a:ext uri="{FF2B5EF4-FFF2-40B4-BE49-F238E27FC236}">
                  <a16:creationId xmlns:a16="http://schemas.microsoft.com/office/drawing/2014/main" id="{B03E16CE-E6C0-5536-7AE7-898FF53E9567}"/>
                </a:ext>
              </a:extLst>
            </p:cNvPr>
            <p:cNvSpPr txBox="1">
              <a:spLocks/>
            </p:cNvSpPr>
            <p:nvPr/>
          </p:nvSpPr>
          <p:spPr>
            <a:xfrm>
              <a:off x="6045667" y="3606046"/>
              <a:ext cx="3650980" cy="734482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16 Bit  register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123313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E50E3-7692-811E-D117-6EB02B721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63BC7C6-0211-5BEA-0DED-49479D0231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0513"/>
            <a:ext cx="9144000" cy="610497"/>
          </a:xfrm>
        </p:spPr>
        <p:txBody>
          <a:bodyPr>
            <a:norm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STM32F103C8T6 – Timer Peripheral &amp; Configuration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7DB51C8-38FB-33A7-11F4-E64F5C0C89F7}"/>
              </a:ext>
            </a:extLst>
          </p:cNvPr>
          <p:cNvGrpSpPr/>
          <p:nvPr/>
        </p:nvGrpSpPr>
        <p:grpSpPr>
          <a:xfrm>
            <a:off x="0" y="6472494"/>
            <a:ext cx="12192000" cy="400250"/>
            <a:chOff x="0" y="6460919"/>
            <a:chExt cx="12192000" cy="40025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ACB9742-073E-269B-A7BD-817DFE4EA0A3}"/>
                </a:ext>
              </a:extLst>
            </p:cNvPr>
            <p:cNvSpPr/>
            <p:nvPr/>
          </p:nvSpPr>
          <p:spPr>
            <a:xfrm>
              <a:off x="0" y="6460919"/>
              <a:ext cx="12192000" cy="397079"/>
            </a:xfrm>
            <a:prstGeom prst="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dirty="0"/>
                <a:t>                   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Jai Raja Saravanam S                                                                                                        </a:t>
              </a:r>
              <a:r>
                <a:rPr lang="en-IN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Emcog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Solutions</a:t>
              </a:r>
              <a:r>
                <a:rPr lang="en-IN" dirty="0"/>
                <a:t> </a:t>
              </a:r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EBA0757C-AE33-C002-E3F3-C34014E3A16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734477" y="6478141"/>
              <a:ext cx="349866" cy="383028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57557D3-6119-6924-CF62-E42C7EF1FA3D}"/>
              </a:ext>
            </a:extLst>
          </p:cNvPr>
          <p:cNvSpPr txBox="1">
            <a:spLocks/>
          </p:cNvSpPr>
          <p:nvPr/>
        </p:nvSpPr>
        <p:spPr>
          <a:xfrm>
            <a:off x="376450" y="583657"/>
            <a:ext cx="10495068" cy="20038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14350" indent="-514350" algn="l">
              <a:spcAft>
                <a:spcPts val="1200"/>
              </a:spcAft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Timer 1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Advanced Timer – 16 bit timer (APB2)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l">
              <a:spcAft>
                <a:spcPts val="1200"/>
              </a:spcAft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Timer 2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General Purpose Timer – 16 bit timer (APB1)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l">
              <a:spcAft>
                <a:spcPts val="1200"/>
              </a:spcAft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Timer 3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General Purpose Timer – 16 bit timer (APB1)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l">
              <a:spcAft>
                <a:spcPts val="1200"/>
              </a:spcAft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Timer 4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General Purpose Timer – 16 bit timer (APB1)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3A48B16-5DD2-9B39-5980-2BD42752D91E}"/>
              </a:ext>
            </a:extLst>
          </p:cNvPr>
          <p:cNvSpPr/>
          <p:nvPr/>
        </p:nvSpPr>
        <p:spPr>
          <a:xfrm>
            <a:off x="356995" y="1702338"/>
            <a:ext cx="7765602" cy="38910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CCA9B5-134B-BCDB-D883-0920132E548C}"/>
              </a:ext>
            </a:extLst>
          </p:cNvPr>
          <p:cNvSpPr txBox="1"/>
          <p:nvPr/>
        </p:nvSpPr>
        <p:spPr>
          <a:xfrm>
            <a:off x="1246602" y="2782851"/>
            <a:ext cx="9411181" cy="3416320"/>
          </a:xfrm>
          <a:prstGeom prst="rect">
            <a:avLst/>
          </a:prstGeom>
          <a:noFill/>
          <a:ln w="38100"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Let’s configure </a:t>
            </a:r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tim3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generate </a:t>
            </a:r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sec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</a:t>
            </a:r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internal clock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(Timer mode)</a:t>
            </a:r>
          </a:p>
          <a:p>
            <a:pPr lvl="2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configure in this way . We need to know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clock source 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input clock frequency 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timer counter width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frequency (Time delay needed)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prescaler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71600" lvl="2" indent="-45720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value of auto reload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IN" sz="24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IN" sz="2400" dirty="0" err="1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postscaler</a:t>
            </a:r>
            <a:r>
              <a:rPr lang="en-IN" sz="24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present Calculate for post scaler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9F2353-2440-443B-5BA0-14FCE272905D}"/>
              </a:ext>
            </a:extLst>
          </p:cNvPr>
          <p:cNvSpPr txBox="1"/>
          <p:nvPr/>
        </p:nvSpPr>
        <p:spPr>
          <a:xfrm>
            <a:off x="4876801" y="3590396"/>
            <a:ext cx="24973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I</a:t>
            </a:r>
            <a:r>
              <a:rPr lang="en-IN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nternal </a:t>
            </a: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IN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lock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4496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59B6F6-6323-6000-65AE-4A728A22C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EEB53DC-47CC-6BE5-A993-EBA20363F4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0513"/>
            <a:ext cx="9144000" cy="610497"/>
          </a:xfrm>
        </p:spPr>
        <p:txBody>
          <a:bodyPr>
            <a:norm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STM32F103C8T6 – Timer 3 – </a:t>
            </a:r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 clock frequency</a:t>
            </a:r>
            <a:endParaRPr lang="en-I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8BCD99A-9CF4-A73F-274B-B45B40D529BF}"/>
              </a:ext>
            </a:extLst>
          </p:cNvPr>
          <p:cNvGrpSpPr/>
          <p:nvPr/>
        </p:nvGrpSpPr>
        <p:grpSpPr>
          <a:xfrm>
            <a:off x="0" y="6472494"/>
            <a:ext cx="12192000" cy="400250"/>
            <a:chOff x="0" y="6460919"/>
            <a:chExt cx="12192000" cy="40025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C54351E1-C73F-1D95-3EE7-9A8637FEE83B}"/>
                </a:ext>
              </a:extLst>
            </p:cNvPr>
            <p:cNvSpPr/>
            <p:nvPr/>
          </p:nvSpPr>
          <p:spPr>
            <a:xfrm>
              <a:off x="0" y="6460919"/>
              <a:ext cx="12192000" cy="397079"/>
            </a:xfrm>
            <a:prstGeom prst="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dirty="0"/>
                <a:t>                   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Jai Raja Saravanam S                                                                                                        </a:t>
              </a:r>
              <a:r>
                <a:rPr lang="en-IN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Emcog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Solutions</a:t>
              </a:r>
              <a:r>
                <a:rPr lang="en-IN" dirty="0"/>
                <a:t> </a:t>
              </a:r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0256E31F-5355-5E73-BAEE-A0B9E6F3EDB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734477" y="6478141"/>
              <a:ext cx="349866" cy="383028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23F52C6-2573-D3F0-4028-675393CE105C}"/>
              </a:ext>
            </a:extLst>
          </p:cNvPr>
          <p:cNvSpPr txBox="1">
            <a:spLocks/>
          </p:cNvSpPr>
          <p:nvPr/>
        </p:nvSpPr>
        <p:spPr>
          <a:xfrm>
            <a:off x="172932" y="457616"/>
            <a:ext cx="10495068" cy="53502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1200"/>
              </a:spcAft>
            </a:pPr>
            <a:r>
              <a:rPr lang="en-IN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Timer 3 </a:t>
            </a:r>
            <a:r>
              <a:rPr lang="en-IN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General Purpose Timer – 16 bit timer (APB1)</a:t>
            </a:r>
            <a:endParaRPr lang="en-IN" sz="24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1BFC68A-0499-194F-AEA5-8ED28EFBD87C}"/>
              </a:ext>
            </a:extLst>
          </p:cNvPr>
          <p:cNvSpPr txBox="1">
            <a:spLocks/>
          </p:cNvSpPr>
          <p:nvPr/>
        </p:nvSpPr>
        <p:spPr>
          <a:xfrm>
            <a:off x="3598094" y="6003305"/>
            <a:ext cx="4568757" cy="39707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 : STM32 reference manual pg.367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E266DE9-566F-35E2-2BCA-4F631A62D2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3879" y="1111202"/>
            <a:ext cx="6550464" cy="5000738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7E63FA5-1643-DE51-CA94-B6738003E18A}"/>
              </a:ext>
            </a:extLst>
          </p:cNvPr>
          <p:cNvSpPr/>
          <p:nvPr/>
        </p:nvSpPr>
        <p:spPr>
          <a:xfrm>
            <a:off x="8356060" y="4552544"/>
            <a:ext cx="378417" cy="51556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45D6722-72EA-D8B5-63E0-4864A15D934B}"/>
              </a:ext>
            </a:extLst>
          </p:cNvPr>
          <p:cNvSpPr/>
          <p:nvPr/>
        </p:nvSpPr>
        <p:spPr>
          <a:xfrm>
            <a:off x="8166851" y="3054486"/>
            <a:ext cx="567626" cy="30155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7125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E8D2B5-2B46-4F5B-3EE2-13070D7C5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0E625B9-37D6-62C0-5F38-1288A73AA2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70271" y="802224"/>
            <a:ext cx="11012129" cy="489427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097EED52-E162-88E4-D95F-FC259969F6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0513"/>
            <a:ext cx="9144000" cy="610497"/>
          </a:xfrm>
        </p:spPr>
        <p:txBody>
          <a:bodyPr>
            <a:norm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STM32F103C8T6 – Timer 3 – </a:t>
            </a:r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 clock frequency</a:t>
            </a:r>
            <a:endParaRPr lang="en-I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A63E12A-F5AE-168C-F603-5C52D4110032}"/>
              </a:ext>
            </a:extLst>
          </p:cNvPr>
          <p:cNvGrpSpPr/>
          <p:nvPr/>
        </p:nvGrpSpPr>
        <p:grpSpPr>
          <a:xfrm>
            <a:off x="0" y="6472494"/>
            <a:ext cx="12192000" cy="400250"/>
            <a:chOff x="0" y="6460919"/>
            <a:chExt cx="12192000" cy="40025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6024F685-DCAA-8667-1691-3986AFFD9037}"/>
                </a:ext>
              </a:extLst>
            </p:cNvPr>
            <p:cNvSpPr/>
            <p:nvPr/>
          </p:nvSpPr>
          <p:spPr>
            <a:xfrm>
              <a:off x="0" y="6460919"/>
              <a:ext cx="12192000" cy="397079"/>
            </a:xfrm>
            <a:prstGeom prst="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dirty="0"/>
                <a:t>                   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Jai Raja Saravanam S                                                                                                        </a:t>
              </a:r>
              <a:r>
                <a:rPr lang="en-IN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Emcog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Solutions</a:t>
              </a:r>
              <a:r>
                <a:rPr lang="en-IN" dirty="0"/>
                <a:t> </a:t>
              </a:r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64C0B71C-AF57-32F3-3EC0-E57E8447411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734477" y="6478141"/>
              <a:ext cx="349866" cy="383028"/>
            </a:xfrm>
            <a:prstGeom prst="rect">
              <a:avLst/>
            </a:prstGeom>
          </p:spPr>
        </p:pic>
      </p:grpSp>
      <p:sp>
        <p:nvSpPr>
          <p:cNvPr id="7" name="Title 1">
            <a:extLst>
              <a:ext uri="{FF2B5EF4-FFF2-40B4-BE49-F238E27FC236}">
                <a16:creationId xmlns:a16="http://schemas.microsoft.com/office/drawing/2014/main" id="{EFEA4408-E239-4E1A-A6D6-D79FEC7D5F3C}"/>
              </a:ext>
            </a:extLst>
          </p:cNvPr>
          <p:cNvSpPr txBox="1">
            <a:spLocks/>
          </p:cNvSpPr>
          <p:nvPr/>
        </p:nvSpPr>
        <p:spPr>
          <a:xfrm>
            <a:off x="4340653" y="5880171"/>
            <a:ext cx="4568757" cy="39707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 : STM32CubeIDE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0B587E0-6341-929B-079A-7716B9946010}"/>
              </a:ext>
            </a:extLst>
          </p:cNvPr>
          <p:cNvSpPr/>
          <p:nvPr/>
        </p:nvSpPr>
        <p:spPr>
          <a:xfrm>
            <a:off x="9379450" y="3768475"/>
            <a:ext cx="2035278" cy="35417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7514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B90350-3D1E-8117-81A9-E9B8845D9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B784B27-262B-3865-E97F-FA4738B664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0513"/>
            <a:ext cx="9144000" cy="610497"/>
          </a:xfrm>
        </p:spPr>
        <p:txBody>
          <a:bodyPr>
            <a:norm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STM32F103C8T6 – Timer 3 Configuration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D871943-0BA1-AB13-C222-363894CCE144}"/>
              </a:ext>
            </a:extLst>
          </p:cNvPr>
          <p:cNvGrpSpPr/>
          <p:nvPr/>
        </p:nvGrpSpPr>
        <p:grpSpPr>
          <a:xfrm>
            <a:off x="0" y="6472494"/>
            <a:ext cx="12192000" cy="397079"/>
            <a:chOff x="0" y="6472494"/>
            <a:chExt cx="12192000" cy="397079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1A75675-4511-A6E8-9094-CC697AFEB1CB}"/>
                </a:ext>
              </a:extLst>
            </p:cNvPr>
            <p:cNvSpPr/>
            <p:nvPr/>
          </p:nvSpPr>
          <p:spPr>
            <a:xfrm>
              <a:off x="0" y="6472494"/>
              <a:ext cx="12192000" cy="397079"/>
            </a:xfrm>
            <a:prstGeom prst="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dirty="0"/>
                <a:t>                   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Jai Raja Saravanam S                                                                                                        </a:t>
              </a:r>
              <a:r>
                <a:rPr lang="en-IN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Emcog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Solutions</a:t>
              </a:r>
              <a:r>
                <a:rPr lang="en-IN" dirty="0"/>
                <a:t> </a:t>
              </a:r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F40672D5-092E-5269-78C3-57186EE5B9F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734477" y="6478141"/>
              <a:ext cx="349866" cy="383028"/>
            </a:xfrm>
            <a:prstGeom prst="rect">
              <a:avLst/>
            </a:prstGeom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8E9F89EB-1FA7-FF03-5C4C-C12D1D28724B}"/>
              </a:ext>
            </a:extLst>
          </p:cNvPr>
          <p:cNvGrpSpPr/>
          <p:nvPr/>
        </p:nvGrpSpPr>
        <p:grpSpPr>
          <a:xfrm>
            <a:off x="695996" y="944220"/>
            <a:ext cx="10876571" cy="5016759"/>
            <a:chOff x="1246602" y="2768907"/>
            <a:chExt cx="9675249" cy="3557635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9E5FEEF-FFFF-138B-A5BD-DF0F668A3997}"/>
                </a:ext>
              </a:extLst>
            </p:cNvPr>
            <p:cNvSpPr txBox="1"/>
            <p:nvPr/>
          </p:nvSpPr>
          <p:spPr>
            <a:xfrm>
              <a:off x="1246602" y="2768907"/>
              <a:ext cx="9411181" cy="3557635"/>
            </a:xfrm>
            <a:prstGeom prst="rect">
              <a:avLst/>
            </a:prstGeom>
            <a:noFill/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txBody>
            <a:bodyPr wrap="square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IN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Let’s configure </a:t>
              </a:r>
              <a:r>
                <a:rPr lang="en-IN" sz="28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tim3</a:t>
              </a:r>
              <a:r>
                <a:rPr lang="en-IN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to generate </a:t>
              </a:r>
              <a:r>
                <a:rPr lang="en-IN" sz="28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 sec </a:t>
              </a:r>
              <a:r>
                <a:rPr lang="en-IN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with </a:t>
              </a:r>
              <a:r>
                <a:rPr lang="en-IN" sz="28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internal clock </a:t>
              </a:r>
              <a:r>
                <a:rPr lang="en-IN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(Timer mode)</a:t>
              </a:r>
            </a:p>
            <a:p>
              <a:pPr lvl="2">
                <a:spcAft>
                  <a:spcPts val="600"/>
                </a:spcAft>
              </a:pPr>
              <a:r>
                <a:rPr lang="en-IN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To configure in this way . We need to know</a:t>
              </a:r>
            </a:p>
            <a:p>
              <a:pPr marL="1371600" lvl="2" indent="-457200">
                <a:spcAft>
                  <a:spcPts val="600"/>
                </a:spcAft>
                <a:buFont typeface="+mj-lt"/>
                <a:buAutoNum type="arabicPeriod"/>
              </a:pPr>
              <a:r>
                <a:rPr lang="en-IN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The clock source </a:t>
              </a:r>
            </a:p>
            <a:p>
              <a:pPr marL="1371600" lvl="2" indent="-457200">
                <a:spcAft>
                  <a:spcPts val="600"/>
                </a:spcAft>
                <a:buFont typeface="+mj-lt"/>
                <a:buAutoNum type="arabicPeriod"/>
              </a:pPr>
              <a:r>
                <a:rPr lang="en-IN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The input clock frequency </a:t>
              </a:r>
            </a:p>
            <a:p>
              <a:pPr marL="1371600" lvl="2" indent="-457200">
                <a:spcAft>
                  <a:spcPts val="600"/>
                </a:spcAft>
                <a:buFont typeface="+mj-lt"/>
                <a:buAutoNum type="arabicPeriod"/>
              </a:pPr>
              <a:r>
                <a:rPr lang="en-IN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The timer counter width</a:t>
              </a:r>
            </a:p>
            <a:p>
              <a:pPr marL="1371600" lvl="2" indent="-457200">
                <a:spcAft>
                  <a:spcPts val="600"/>
                </a:spcAft>
                <a:buFont typeface="+mj-lt"/>
                <a:buAutoNum type="arabicPeriod"/>
              </a:pPr>
              <a:r>
                <a:rPr lang="en-IN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Output frequency (Time delay needed)</a:t>
              </a:r>
            </a:p>
            <a:p>
              <a:pPr marL="1371600" lvl="2" indent="-457200">
                <a:spcAft>
                  <a:spcPts val="600"/>
                </a:spcAft>
                <a:buFont typeface="+mj-lt"/>
                <a:buAutoNum type="arabicPeriod"/>
              </a:pPr>
              <a:r>
                <a:rPr lang="en-IN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Calculate </a:t>
              </a:r>
              <a:r>
                <a:rPr lang="en-IN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prescaler</a:t>
              </a:r>
              <a:endParaRPr lang="en-IN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1371600" lvl="2" indent="-457200">
                <a:spcAft>
                  <a:spcPts val="600"/>
                </a:spcAft>
                <a:buFont typeface="+mj-lt"/>
                <a:buAutoNum type="arabicPeriod"/>
              </a:pPr>
              <a:r>
                <a:rPr lang="en-IN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Find value of auto reload</a:t>
              </a:r>
            </a:p>
            <a:p>
              <a:pPr marL="1371600" lvl="2" indent="-457200">
                <a:spcAft>
                  <a:spcPts val="600"/>
                </a:spcAft>
                <a:buFont typeface="+mj-lt"/>
                <a:buAutoNum type="arabicPeriod"/>
              </a:pPr>
              <a:r>
                <a:rPr lang="en-IN" sz="2800" dirty="0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If </a:t>
              </a:r>
              <a:r>
                <a:rPr lang="en-IN" sz="2800" dirty="0" err="1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postscaler</a:t>
              </a:r>
              <a:r>
                <a:rPr lang="en-IN" sz="2800" dirty="0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is present Calculate for post scaler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603482E-51A4-E930-65A6-2FD6CA69FB38}"/>
                </a:ext>
              </a:extLst>
            </p:cNvPr>
            <p:cNvSpPr txBox="1"/>
            <p:nvPr/>
          </p:nvSpPr>
          <p:spPr>
            <a:xfrm>
              <a:off x="4633527" y="3808423"/>
              <a:ext cx="2497394" cy="37104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28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- Internal Clock </a:t>
              </a:r>
              <a:endParaRPr lang="en-IN" sz="2800" dirty="0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0138DF6-F83C-FDEA-5570-806A4E930689}"/>
                </a:ext>
              </a:extLst>
            </p:cNvPr>
            <p:cNvSpPr txBox="1"/>
            <p:nvPr/>
          </p:nvSpPr>
          <p:spPr>
            <a:xfrm>
              <a:off x="5818536" y="4160798"/>
              <a:ext cx="2497394" cy="37104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28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- 8MHz</a:t>
              </a:r>
              <a:endParaRPr lang="en-IN" sz="2800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2DE0EA5-ADFF-464B-87A2-4240735722E2}"/>
                </a:ext>
              </a:extLst>
            </p:cNvPr>
            <p:cNvSpPr txBox="1"/>
            <p:nvPr/>
          </p:nvSpPr>
          <p:spPr>
            <a:xfrm>
              <a:off x="5572602" y="4506595"/>
              <a:ext cx="5349249" cy="37104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28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- 16 bit – 2^16 = 65535 count value </a:t>
              </a:r>
              <a:endParaRPr lang="en-IN" sz="2800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B36A536-D8DD-52D8-14C3-DF8D9D1AE8D4}"/>
                </a:ext>
              </a:extLst>
            </p:cNvPr>
            <p:cNvSpPr txBox="1"/>
            <p:nvPr/>
          </p:nvSpPr>
          <p:spPr>
            <a:xfrm>
              <a:off x="7416655" y="4875495"/>
              <a:ext cx="2665233" cy="37104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N" sz="28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- 1Hz – 1 second</a:t>
              </a:r>
              <a:endParaRPr lang="en-IN" dirty="0"/>
            </a:p>
          </p:txBody>
        </p:sp>
      </p:grpSp>
    </p:spTree>
    <p:extLst>
      <p:ext uri="{BB962C8B-B14F-4D97-AF65-F5344CB8AC3E}">
        <p14:creationId xmlns:p14="http://schemas.microsoft.com/office/powerpoint/2010/main" val="31411016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EB1B4-95E3-BBFF-3C63-2031320C0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Box 60">
            <a:extLst>
              <a:ext uri="{FF2B5EF4-FFF2-40B4-BE49-F238E27FC236}">
                <a16:creationId xmlns:a16="http://schemas.microsoft.com/office/drawing/2014/main" id="{CAB48C35-532E-EDD3-C23C-5FFABE6A597F}"/>
              </a:ext>
            </a:extLst>
          </p:cNvPr>
          <p:cNvSpPr txBox="1"/>
          <p:nvPr/>
        </p:nvSpPr>
        <p:spPr>
          <a:xfrm>
            <a:off x="8996189" y="4728346"/>
            <a:ext cx="2390466" cy="120032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7612706-C397-A35B-6757-22B281EE76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0513"/>
            <a:ext cx="9144000" cy="610497"/>
          </a:xfrm>
        </p:spPr>
        <p:txBody>
          <a:bodyPr>
            <a:norm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STM32F103C8T6 – Timer 3 Configuration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965B6BD-AAD9-4038-016F-EDDCC5A08FE9}"/>
              </a:ext>
            </a:extLst>
          </p:cNvPr>
          <p:cNvGrpSpPr/>
          <p:nvPr/>
        </p:nvGrpSpPr>
        <p:grpSpPr>
          <a:xfrm>
            <a:off x="0" y="6472494"/>
            <a:ext cx="12192000" cy="400250"/>
            <a:chOff x="0" y="6460919"/>
            <a:chExt cx="12192000" cy="40025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AC42BA0-A113-7C48-D58F-73321B82FEFE}"/>
                </a:ext>
              </a:extLst>
            </p:cNvPr>
            <p:cNvSpPr/>
            <p:nvPr/>
          </p:nvSpPr>
          <p:spPr>
            <a:xfrm>
              <a:off x="0" y="6460919"/>
              <a:ext cx="12192000" cy="397079"/>
            </a:xfrm>
            <a:prstGeom prst="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dirty="0"/>
                <a:t>                   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Jai Raja Saravanam S                                                                                                        </a:t>
              </a:r>
              <a:r>
                <a:rPr lang="en-IN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Emcog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Solutions</a:t>
              </a:r>
              <a:r>
                <a:rPr lang="en-IN" dirty="0"/>
                <a:t> </a:t>
              </a:r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64F6D87D-136E-6530-1A84-25276E06004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734477" y="6478141"/>
              <a:ext cx="349866" cy="383028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50CFE0A-3BB5-C213-F7BB-88FB45E536B2}"/>
              </a:ext>
            </a:extLst>
          </p:cNvPr>
          <p:cNvSpPr txBox="1">
            <a:spLocks/>
          </p:cNvSpPr>
          <p:nvPr/>
        </p:nvSpPr>
        <p:spPr>
          <a:xfrm>
            <a:off x="317456" y="628376"/>
            <a:ext cx="10655344" cy="44728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1200"/>
              </a:spcAft>
            </a:pPr>
            <a:r>
              <a:rPr lang="en-IN" sz="24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are going to make 1Hz from 8MHz using </a:t>
            </a:r>
            <a:r>
              <a:rPr lang="en-IN" sz="2400" b="1" dirty="0" err="1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Prescaler</a:t>
            </a:r>
            <a:r>
              <a:rPr lang="en-IN" sz="24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2400" b="1" dirty="0" err="1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AutoReloadRegister</a:t>
            </a:r>
            <a:r>
              <a:rPr lang="en-IN" sz="24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1CAA206-4700-6527-C03F-12305E2C8AFD}"/>
              </a:ext>
            </a:extLst>
          </p:cNvPr>
          <p:cNvSpPr txBox="1">
            <a:spLocks/>
          </p:cNvSpPr>
          <p:nvPr/>
        </p:nvSpPr>
        <p:spPr>
          <a:xfrm>
            <a:off x="717183" y="301750"/>
            <a:ext cx="10655344" cy="47185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spcAft>
                <a:spcPts val="600"/>
              </a:spcAft>
            </a:pP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Prescaler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16 bit </a:t>
            </a:r>
          </a:p>
          <a:p>
            <a:pPr algn="just">
              <a:spcAft>
                <a:spcPts val="600"/>
              </a:spcAft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 it can store a value of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upto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2^16 = 65535</a:t>
            </a:r>
          </a:p>
          <a:p>
            <a:pPr algn="just">
              <a:spcAft>
                <a:spcPts val="600"/>
              </a:spcAft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 Example, If we choose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prescaler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2 , then for 2 pulse , the counter is incremented 1 .</a:t>
            </a:r>
          </a:p>
          <a:p>
            <a:pPr algn="just">
              <a:spcAft>
                <a:spcPts val="600"/>
              </a:spcAft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600"/>
              </a:spcAft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600"/>
              </a:spcAft>
            </a:pP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600"/>
              </a:spcAft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600"/>
              </a:spcAft>
            </a:pP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AutoReloadRegister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16 bit</a:t>
            </a:r>
          </a:p>
          <a:p>
            <a:pPr algn="just">
              <a:spcAft>
                <a:spcPts val="600"/>
              </a:spcAft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 it can store a value of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upto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2^16 = 65535</a:t>
            </a:r>
          </a:p>
          <a:p>
            <a:pPr algn="just">
              <a:spcAft>
                <a:spcPts val="600"/>
              </a:spcAft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Example, If we store 1000 , The auto Reload register clear the counter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regiter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generate a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Event </a:t>
            </a:r>
          </a:p>
          <a:p>
            <a:pPr algn="just">
              <a:spcAft>
                <a:spcPts val="600"/>
              </a:spcAft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600"/>
              </a:spcAft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39BF18A-97C0-3728-8008-DAA5F8A819D2}"/>
              </a:ext>
            </a:extLst>
          </p:cNvPr>
          <p:cNvGrpSpPr/>
          <p:nvPr/>
        </p:nvGrpSpPr>
        <p:grpSpPr>
          <a:xfrm>
            <a:off x="2069453" y="2135170"/>
            <a:ext cx="2066691" cy="791791"/>
            <a:chOff x="918140" y="2484932"/>
            <a:chExt cx="2066691" cy="791791"/>
          </a:xfrm>
        </p:grpSpPr>
        <p:pic>
          <p:nvPicPr>
            <p:cNvPr id="11" name="Picture 2" descr="1.4 System Timing">
              <a:extLst>
                <a:ext uri="{FF2B5EF4-FFF2-40B4-BE49-F238E27FC236}">
                  <a16:creationId xmlns:a16="http://schemas.microsoft.com/office/drawing/2014/main" id="{8F5BCF26-CEE3-3B25-CA2B-0AA63E17807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50000"/>
                      </a14:imgEffect>
                      <a14:imgEffect>
                        <a14:brightnessContrast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9987" r="77639" b="20000"/>
            <a:stretch>
              <a:fillRect/>
            </a:stretch>
          </p:blipFill>
          <p:spPr bwMode="auto">
            <a:xfrm>
              <a:off x="918140" y="2484932"/>
              <a:ext cx="1211719" cy="7905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2" descr="1.4 System Timing">
              <a:extLst>
                <a:ext uri="{FF2B5EF4-FFF2-40B4-BE49-F238E27FC236}">
                  <a16:creationId xmlns:a16="http://schemas.microsoft.com/office/drawing/2014/main" id="{055E0DDB-1ACA-8FE9-AD9D-F42B94F30E1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50000"/>
                      </a14:imgEffect>
                      <a14:imgEffect>
                        <a14:brightnessContrast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195" t="29987" r="77639" b="20000"/>
            <a:stretch>
              <a:fillRect/>
            </a:stretch>
          </p:blipFill>
          <p:spPr bwMode="auto">
            <a:xfrm>
              <a:off x="2000430" y="2486153"/>
              <a:ext cx="984401" cy="7905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7" name="Picture 2" descr="1.4 System Timing">
            <a:extLst>
              <a:ext uri="{FF2B5EF4-FFF2-40B4-BE49-F238E27FC236}">
                <a16:creationId xmlns:a16="http://schemas.microsoft.com/office/drawing/2014/main" id="{C3BB9851-DE4B-244C-C73E-B67A5F8AE72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195" t="29987" r="77639" b="20000"/>
          <a:stretch>
            <a:fillRect/>
          </a:stretch>
        </p:blipFill>
        <p:spPr bwMode="auto">
          <a:xfrm>
            <a:off x="7164386" y="2164354"/>
            <a:ext cx="984401" cy="790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1A0D86BD-16F7-C3C9-1D42-6C889EAAC8D7}"/>
              </a:ext>
            </a:extLst>
          </p:cNvPr>
          <p:cNvSpPr txBox="1"/>
          <p:nvPr/>
        </p:nvSpPr>
        <p:spPr>
          <a:xfrm>
            <a:off x="4899141" y="2417131"/>
            <a:ext cx="1560925" cy="46166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Prescaler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A87F7CF-F2E7-FA53-C9E2-4C560488ABE3}"/>
              </a:ext>
            </a:extLst>
          </p:cNvPr>
          <p:cNvCxnSpPr>
            <a:cxnSpLocks/>
          </p:cNvCxnSpPr>
          <p:nvPr/>
        </p:nvCxnSpPr>
        <p:spPr>
          <a:xfrm flipV="1">
            <a:off x="4358079" y="2647963"/>
            <a:ext cx="471942" cy="407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99DF210-578A-FBCD-9965-2F1D04BE3D0E}"/>
              </a:ext>
            </a:extLst>
          </p:cNvPr>
          <p:cNvCxnSpPr/>
          <p:nvPr/>
        </p:nvCxnSpPr>
        <p:spPr>
          <a:xfrm flipV="1">
            <a:off x="6529186" y="2647964"/>
            <a:ext cx="495342" cy="1169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E8CD2ABE-7FBF-385F-F7FC-4560214E5046}"/>
              </a:ext>
            </a:extLst>
          </p:cNvPr>
          <p:cNvSpPr txBox="1"/>
          <p:nvPr/>
        </p:nvSpPr>
        <p:spPr>
          <a:xfrm>
            <a:off x="2675312" y="2835292"/>
            <a:ext cx="16077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Clock </a:t>
            </a:r>
            <a:endParaRPr lang="en-IN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45A5A95-DAEF-84C0-788B-EBA1854F4B6F}"/>
              </a:ext>
            </a:extLst>
          </p:cNvPr>
          <p:cNvSpPr txBox="1"/>
          <p:nvPr/>
        </p:nvSpPr>
        <p:spPr>
          <a:xfrm>
            <a:off x="6950459" y="2863333"/>
            <a:ext cx="16077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Clock to timer</a:t>
            </a:r>
            <a:endParaRPr lang="en-IN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F4495FF-64A2-0461-35CA-4F6E00CE61F3}"/>
              </a:ext>
            </a:extLst>
          </p:cNvPr>
          <p:cNvSpPr txBox="1"/>
          <p:nvPr/>
        </p:nvSpPr>
        <p:spPr>
          <a:xfrm>
            <a:off x="4646520" y="5622769"/>
            <a:ext cx="1877580" cy="46166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Tim counter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E81CC1B-5E14-5F44-486F-BAE94D7A2CBE}"/>
              </a:ext>
            </a:extLst>
          </p:cNvPr>
          <p:cNvSpPr txBox="1"/>
          <p:nvPr/>
        </p:nvSpPr>
        <p:spPr>
          <a:xfrm>
            <a:off x="4633376" y="4620135"/>
            <a:ext cx="1944852" cy="46166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Auto Reload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DA524AC-A0DA-DF91-96AE-6364E28FAE2A}"/>
              </a:ext>
            </a:extLst>
          </p:cNvPr>
          <p:cNvCxnSpPr>
            <a:cxnSpLocks/>
            <a:stCxn id="31" idx="3"/>
          </p:cNvCxnSpPr>
          <p:nvPr/>
        </p:nvCxnSpPr>
        <p:spPr>
          <a:xfrm flipV="1">
            <a:off x="6524100" y="5853601"/>
            <a:ext cx="773853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463A7F8F-932D-6C36-2B2A-C6A9B0B8C68D}"/>
              </a:ext>
            </a:extLst>
          </p:cNvPr>
          <p:cNvCxnSpPr>
            <a:cxnSpLocks/>
          </p:cNvCxnSpPr>
          <p:nvPr/>
        </p:nvCxnSpPr>
        <p:spPr>
          <a:xfrm flipV="1">
            <a:off x="3872667" y="5853601"/>
            <a:ext cx="773853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91C64DBC-A079-5073-E827-4B0701BB6966}"/>
              </a:ext>
            </a:extLst>
          </p:cNvPr>
          <p:cNvSpPr txBox="1"/>
          <p:nvPr/>
        </p:nvSpPr>
        <p:spPr>
          <a:xfrm>
            <a:off x="2365520" y="5648153"/>
            <a:ext cx="16077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Clock to timer</a:t>
            </a:r>
            <a:endParaRPr lang="en-IN" dirty="0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9E7ECB8-86AE-1BD3-0726-5713274BB725}"/>
              </a:ext>
            </a:extLst>
          </p:cNvPr>
          <p:cNvCxnSpPr>
            <a:cxnSpLocks/>
          </p:cNvCxnSpPr>
          <p:nvPr/>
        </p:nvCxnSpPr>
        <p:spPr>
          <a:xfrm rot="10800000" flipV="1">
            <a:off x="6550018" y="4865894"/>
            <a:ext cx="361008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8BB5F0AB-AD1A-5B1B-B0BC-50DF2B8DE487}"/>
              </a:ext>
            </a:extLst>
          </p:cNvPr>
          <p:cNvCxnSpPr/>
          <p:nvPr/>
        </p:nvCxnSpPr>
        <p:spPr>
          <a:xfrm>
            <a:off x="6911026" y="4840784"/>
            <a:ext cx="0" cy="103070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18B08DD6-9901-1CFF-96BB-42EDBAE3C118}"/>
              </a:ext>
            </a:extLst>
          </p:cNvPr>
          <p:cNvCxnSpPr>
            <a:cxnSpLocks/>
          </p:cNvCxnSpPr>
          <p:nvPr/>
        </p:nvCxnSpPr>
        <p:spPr>
          <a:xfrm>
            <a:off x="5564528" y="5093967"/>
            <a:ext cx="0" cy="55418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: Curved 43">
            <a:extLst>
              <a:ext uri="{FF2B5EF4-FFF2-40B4-BE49-F238E27FC236}">
                <a16:creationId xmlns:a16="http://schemas.microsoft.com/office/drawing/2014/main" id="{22A40075-6529-8C7E-89F0-65210030D259}"/>
              </a:ext>
            </a:extLst>
          </p:cNvPr>
          <p:cNvCxnSpPr>
            <a:cxnSpLocks/>
          </p:cNvCxnSpPr>
          <p:nvPr/>
        </p:nvCxnSpPr>
        <p:spPr>
          <a:xfrm>
            <a:off x="5585310" y="5223502"/>
            <a:ext cx="670473" cy="190945"/>
          </a:xfrm>
          <a:prstGeom prst="curved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60BC0750-6C94-99DC-7C93-CE80BCD6C51C}"/>
              </a:ext>
            </a:extLst>
          </p:cNvPr>
          <p:cNvSpPr txBox="1"/>
          <p:nvPr/>
        </p:nvSpPr>
        <p:spPr>
          <a:xfrm>
            <a:off x="6226942" y="5238723"/>
            <a:ext cx="4382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endParaRPr lang="en-IN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CEC2D9E-6F83-E8C9-4C35-ED8620D0766C}"/>
              </a:ext>
            </a:extLst>
          </p:cNvPr>
          <p:cNvSpPr txBox="1"/>
          <p:nvPr/>
        </p:nvSpPr>
        <p:spPr>
          <a:xfrm>
            <a:off x="9152600" y="4910118"/>
            <a:ext cx="22340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    - 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Event</a:t>
            </a:r>
            <a:endParaRPr lang="en-IN" dirty="0"/>
          </a:p>
        </p:txBody>
      </p:sp>
      <p:cxnSp>
        <p:nvCxnSpPr>
          <p:cNvPr id="57" name="Connector: Curved 56">
            <a:extLst>
              <a:ext uri="{FF2B5EF4-FFF2-40B4-BE49-F238E27FC236}">
                <a16:creationId xmlns:a16="http://schemas.microsoft.com/office/drawing/2014/main" id="{7B902376-D717-2664-CF4D-E4A99FE60006}"/>
              </a:ext>
            </a:extLst>
          </p:cNvPr>
          <p:cNvCxnSpPr>
            <a:cxnSpLocks/>
          </p:cNvCxnSpPr>
          <p:nvPr/>
        </p:nvCxnSpPr>
        <p:spPr>
          <a:xfrm>
            <a:off x="9120359" y="5395744"/>
            <a:ext cx="414349" cy="173770"/>
          </a:xfrm>
          <a:prstGeom prst="curved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89E4E475-4E15-CBBF-DCED-2E0BA7BFE42A}"/>
              </a:ext>
            </a:extLst>
          </p:cNvPr>
          <p:cNvSpPr txBox="1"/>
          <p:nvPr/>
        </p:nvSpPr>
        <p:spPr>
          <a:xfrm>
            <a:off x="9534708" y="5285701"/>
            <a:ext cx="18519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891387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384358-964D-2B85-8D6F-3867F0CA5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8FB2E31D-FC1D-E51F-794E-8F3E8EF92A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0513"/>
            <a:ext cx="9144000" cy="610497"/>
          </a:xfrm>
        </p:spPr>
        <p:txBody>
          <a:bodyPr>
            <a:norm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STM32F103C8T6 – Timer 3 Configuration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2E00EBD-0C5B-78D1-4DBA-0325B05924C2}"/>
              </a:ext>
            </a:extLst>
          </p:cNvPr>
          <p:cNvGrpSpPr/>
          <p:nvPr/>
        </p:nvGrpSpPr>
        <p:grpSpPr>
          <a:xfrm>
            <a:off x="0" y="6472494"/>
            <a:ext cx="12192000" cy="400250"/>
            <a:chOff x="0" y="6460919"/>
            <a:chExt cx="12192000" cy="40025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C0F96241-ED9B-4ED6-85A1-996B347EA6AE}"/>
                </a:ext>
              </a:extLst>
            </p:cNvPr>
            <p:cNvSpPr/>
            <p:nvPr/>
          </p:nvSpPr>
          <p:spPr>
            <a:xfrm>
              <a:off x="0" y="6460919"/>
              <a:ext cx="12192000" cy="397079"/>
            </a:xfrm>
            <a:prstGeom prst="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dirty="0"/>
                <a:t>                   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Jai Raja Saravanam S                                                                                                        </a:t>
              </a:r>
              <a:r>
                <a:rPr lang="en-IN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Emcog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Solutions</a:t>
              </a:r>
              <a:r>
                <a:rPr lang="en-IN" dirty="0"/>
                <a:t> </a:t>
              </a:r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838335A2-1AB7-03A0-C1F7-1F464CD1029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734477" y="6478141"/>
              <a:ext cx="349866" cy="383028"/>
            </a:xfrm>
            <a:prstGeom prst="rect">
              <a:avLst/>
            </a:prstGeom>
          </p:spPr>
        </p:pic>
      </p:grpSp>
      <p:sp>
        <p:nvSpPr>
          <p:cNvPr id="10" name="Title 1">
            <a:extLst>
              <a:ext uri="{FF2B5EF4-FFF2-40B4-BE49-F238E27FC236}">
                <a16:creationId xmlns:a16="http://schemas.microsoft.com/office/drawing/2014/main" id="{C6EAC193-0899-961F-2787-A8CC0C2FDA9B}"/>
              </a:ext>
            </a:extLst>
          </p:cNvPr>
          <p:cNvSpPr txBox="1">
            <a:spLocks/>
          </p:cNvSpPr>
          <p:nvPr/>
        </p:nvSpPr>
        <p:spPr>
          <a:xfrm>
            <a:off x="450114" y="448309"/>
            <a:ext cx="10655344" cy="574414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spcAft>
                <a:spcPts val="600"/>
              </a:spcAft>
            </a:pPr>
            <a:r>
              <a:rPr lang="en-IN" sz="26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Let us consider different case to understand </a:t>
            </a:r>
            <a:r>
              <a:rPr lang="en-IN" sz="2600" b="1" dirty="0" err="1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prescaler</a:t>
            </a:r>
            <a:r>
              <a:rPr lang="en-IN" sz="26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2600" b="1" dirty="0" err="1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AutoReloadRegister</a:t>
            </a:r>
            <a:endParaRPr lang="en-IN" sz="2600" b="1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1200"/>
              </a:spcAft>
            </a:pPr>
            <a:endParaRPr lang="en-IN" sz="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1200"/>
              </a:spcAft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 </a:t>
            </a:r>
            <a:r>
              <a:rPr lang="en-IN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Prescaler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1 and </a:t>
            </a:r>
            <a:r>
              <a:rPr lang="en-IN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AutoReloadRegister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65535</a:t>
            </a:r>
          </a:p>
          <a:p>
            <a:pPr algn="just">
              <a:spcAft>
                <a:spcPts val="1200"/>
              </a:spcAft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 8Mhz / </a:t>
            </a:r>
            <a:r>
              <a:rPr lang="en-IN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Prescaler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8Mhz / 1 = 8Mhz </a:t>
            </a:r>
          </a:p>
          <a:p>
            <a:pPr algn="just">
              <a:spcAft>
                <a:spcPts val="1200"/>
              </a:spcAft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One pulse time is T = 1 / f = 1/ 8Mhz = 0.125 </a:t>
            </a:r>
            <a:r>
              <a:rPr lang="en-IN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usec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>
              <a:spcAft>
                <a:spcPts val="1200"/>
              </a:spcAft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So totally (65535 + 1) counts = 65536 pulse  = 0.125usec X 65536</a:t>
            </a:r>
          </a:p>
          <a:p>
            <a:pPr algn="just">
              <a:spcAft>
                <a:spcPts val="1200"/>
              </a:spcAft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              Time = 8192 </a:t>
            </a:r>
            <a:r>
              <a:rPr lang="en-IN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usec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= </a:t>
            </a: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8.192 msec</a:t>
            </a:r>
          </a:p>
          <a:p>
            <a:pPr algn="just">
              <a:spcAft>
                <a:spcPts val="1200"/>
              </a:spcAft>
            </a:pPr>
            <a:endParaRPr lang="en-IN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1200"/>
              </a:spcAft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 </a:t>
            </a:r>
            <a:r>
              <a:rPr lang="en-IN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Prescaler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1 and </a:t>
            </a:r>
            <a:r>
              <a:rPr lang="en-IN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AutoReloadRegister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32767</a:t>
            </a:r>
          </a:p>
          <a:p>
            <a:pPr algn="just">
              <a:spcAft>
                <a:spcPts val="1200"/>
              </a:spcAft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 8Mhz / </a:t>
            </a:r>
            <a:r>
              <a:rPr lang="en-IN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Prescaler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8Mhz / 1 = 8Mhz </a:t>
            </a:r>
          </a:p>
          <a:p>
            <a:pPr algn="just">
              <a:spcAft>
                <a:spcPts val="1200"/>
              </a:spcAft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One pulse time is T = 1 / f = 1/ 8Mhz = 0.125 </a:t>
            </a:r>
            <a:r>
              <a:rPr lang="en-IN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usec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>
              <a:spcAft>
                <a:spcPts val="1200"/>
              </a:spcAft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So totally (32767 + 1) counts = 32768 pulse  = 0.125usec X 32768</a:t>
            </a:r>
          </a:p>
          <a:p>
            <a:pPr algn="just">
              <a:spcAft>
                <a:spcPts val="1200"/>
              </a:spcAft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              Time = 4092 </a:t>
            </a:r>
            <a:r>
              <a:rPr lang="en-IN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usec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= </a:t>
            </a: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4.092 msec</a:t>
            </a:r>
          </a:p>
          <a:p>
            <a:pPr algn="just">
              <a:spcAft>
                <a:spcPts val="600"/>
              </a:spcAft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600"/>
              </a:spcAft>
            </a:pPr>
            <a:r>
              <a:rPr lang="en-IN" sz="2400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 by Reducing </a:t>
            </a:r>
            <a:r>
              <a:rPr lang="en-IN" sz="2400" dirty="0" err="1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AutoReloadRegister</a:t>
            </a:r>
            <a:r>
              <a:rPr lang="en-IN" sz="2400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time period is decreased  Frequency will get increased</a:t>
            </a:r>
            <a:endParaRPr lang="en-IN" sz="2400" dirty="0">
              <a:solidFill>
                <a:schemeClr val="accent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C7977BF-0303-193C-DE4D-11E15DAC01A8}"/>
              </a:ext>
            </a:extLst>
          </p:cNvPr>
          <p:cNvGrpSpPr/>
          <p:nvPr/>
        </p:nvGrpSpPr>
        <p:grpSpPr>
          <a:xfrm>
            <a:off x="7824295" y="1275966"/>
            <a:ext cx="2635526" cy="1539512"/>
            <a:chOff x="7824295" y="1275966"/>
            <a:chExt cx="2635526" cy="1539512"/>
          </a:xfrm>
        </p:grpSpPr>
        <p:pic>
          <p:nvPicPr>
            <p:cNvPr id="17" name="Picture 2" descr="1.4 System Timing">
              <a:extLst>
                <a:ext uri="{FF2B5EF4-FFF2-40B4-BE49-F238E27FC236}">
                  <a16:creationId xmlns:a16="http://schemas.microsoft.com/office/drawing/2014/main" id="{5531084D-3507-8327-90A2-7C992D8B951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50000"/>
                      </a14:imgEffect>
                      <a14:imgEffect>
                        <a14:brightnessContrast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195" t="29987" r="77639" b="20000"/>
            <a:stretch>
              <a:fillRect/>
            </a:stretch>
          </p:blipFill>
          <p:spPr bwMode="auto">
            <a:xfrm>
              <a:off x="7824295" y="1275966"/>
              <a:ext cx="2635526" cy="114458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FA588E8-B53E-A18B-670B-373C39624AFF}"/>
                </a:ext>
              </a:extLst>
            </p:cNvPr>
            <p:cNvSpPr txBox="1"/>
            <p:nvPr/>
          </p:nvSpPr>
          <p:spPr>
            <a:xfrm>
              <a:off x="8105534" y="2446146"/>
              <a:ext cx="160775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8.192 m</a:t>
              </a:r>
              <a:r>
                <a:rPr lang="en-IN" sz="1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sec</a:t>
              </a:r>
              <a:endParaRPr lang="en-IN" dirty="0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0BB44C7-CDA5-2517-76BF-7F2C0834FAE0}"/>
                </a:ext>
              </a:extLst>
            </p:cNvPr>
            <p:cNvGrpSpPr/>
            <p:nvPr/>
          </p:nvGrpSpPr>
          <p:grpSpPr>
            <a:xfrm>
              <a:off x="8148387" y="2304811"/>
              <a:ext cx="1158173" cy="183503"/>
              <a:chOff x="2451370" y="5872914"/>
              <a:chExt cx="1375410" cy="174928"/>
            </a:xfrm>
          </p:grpSpPr>
          <p:cxnSp>
            <p:nvCxnSpPr>
              <p:cNvPr id="4" name="Straight Connector 3">
                <a:extLst>
                  <a:ext uri="{FF2B5EF4-FFF2-40B4-BE49-F238E27FC236}">
                    <a16:creationId xmlns:a16="http://schemas.microsoft.com/office/drawing/2014/main" id="{FF18EE64-2F08-D919-9C79-563E70A0B638}"/>
                  </a:ext>
                </a:extLst>
              </p:cNvPr>
              <p:cNvCxnSpPr/>
              <p:nvPr/>
            </p:nvCxnSpPr>
            <p:spPr>
              <a:xfrm>
                <a:off x="2451370" y="5963055"/>
                <a:ext cx="137160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DF38FA8F-2298-0982-F4B4-2A1693CACFF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26780" y="5878267"/>
                <a:ext cx="0" cy="16957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3B111B23-9619-9F38-CD73-0143FB9F5C5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57853" y="5872914"/>
                <a:ext cx="0" cy="16957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F88DAE5-F40B-C1DC-BC97-847D83CA94B2}"/>
              </a:ext>
            </a:extLst>
          </p:cNvPr>
          <p:cNvGrpSpPr/>
          <p:nvPr/>
        </p:nvGrpSpPr>
        <p:grpSpPr>
          <a:xfrm>
            <a:off x="7766580" y="3751573"/>
            <a:ext cx="2635526" cy="1539512"/>
            <a:chOff x="7824295" y="1275966"/>
            <a:chExt cx="2635526" cy="1539512"/>
          </a:xfrm>
        </p:grpSpPr>
        <p:pic>
          <p:nvPicPr>
            <p:cNvPr id="16" name="Picture 2" descr="1.4 System Timing">
              <a:extLst>
                <a:ext uri="{FF2B5EF4-FFF2-40B4-BE49-F238E27FC236}">
                  <a16:creationId xmlns:a16="http://schemas.microsoft.com/office/drawing/2014/main" id="{DE26BC5A-CF3B-6964-6404-05A5F7B6958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50000"/>
                      </a14:imgEffect>
                      <a14:imgEffect>
                        <a14:brightnessContrast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195" t="29987" r="77639" b="20000"/>
            <a:stretch>
              <a:fillRect/>
            </a:stretch>
          </p:blipFill>
          <p:spPr bwMode="auto">
            <a:xfrm>
              <a:off x="7824295" y="1275966"/>
              <a:ext cx="2635526" cy="114458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5BDB077-438F-39A4-9F15-6968EC671B0E}"/>
                </a:ext>
              </a:extLst>
            </p:cNvPr>
            <p:cNvSpPr txBox="1"/>
            <p:nvPr/>
          </p:nvSpPr>
          <p:spPr>
            <a:xfrm>
              <a:off x="8105534" y="2446146"/>
              <a:ext cx="160775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4.092 m</a:t>
              </a:r>
              <a:r>
                <a:rPr lang="en-IN" sz="1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sec</a:t>
              </a:r>
              <a:endParaRPr lang="en-IN" dirty="0"/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40B6A582-D17F-7819-A35D-2B0CE66B854B}"/>
                </a:ext>
              </a:extLst>
            </p:cNvPr>
            <p:cNvGrpSpPr/>
            <p:nvPr/>
          </p:nvGrpSpPr>
          <p:grpSpPr>
            <a:xfrm>
              <a:off x="8148387" y="2304811"/>
              <a:ext cx="1158173" cy="183503"/>
              <a:chOff x="2451370" y="5872914"/>
              <a:chExt cx="1375410" cy="174928"/>
            </a:xfrm>
          </p:grpSpPr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8B7F47CB-3099-638A-6DFC-EAE8F2B08484}"/>
                  </a:ext>
                </a:extLst>
              </p:cNvPr>
              <p:cNvCxnSpPr/>
              <p:nvPr/>
            </p:nvCxnSpPr>
            <p:spPr>
              <a:xfrm>
                <a:off x="2451370" y="5963055"/>
                <a:ext cx="137160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6CC5DC28-4736-3C22-D9C1-F24925062CE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26780" y="5878267"/>
                <a:ext cx="0" cy="16957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272A0808-94E5-5076-5D94-A74AFB69743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57853" y="5872914"/>
                <a:ext cx="0" cy="16957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701310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D162C9-CF49-1413-57FF-076971109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FF24A4A-9401-FC59-E923-6B56075685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0513"/>
            <a:ext cx="9144000" cy="610497"/>
          </a:xfrm>
        </p:spPr>
        <p:txBody>
          <a:bodyPr>
            <a:norm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STM32F103C8T6 – Timer 3 Configuration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BBEFD3E-2922-DE32-6590-490D46ABEE94}"/>
              </a:ext>
            </a:extLst>
          </p:cNvPr>
          <p:cNvGrpSpPr/>
          <p:nvPr/>
        </p:nvGrpSpPr>
        <p:grpSpPr>
          <a:xfrm>
            <a:off x="0" y="6472494"/>
            <a:ext cx="12192000" cy="400250"/>
            <a:chOff x="0" y="6460919"/>
            <a:chExt cx="12192000" cy="40025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2436E52-18BD-B1B9-B38A-B343EAC55203}"/>
                </a:ext>
              </a:extLst>
            </p:cNvPr>
            <p:cNvSpPr/>
            <p:nvPr/>
          </p:nvSpPr>
          <p:spPr>
            <a:xfrm>
              <a:off x="0" y="6460919"/>
              <a:ext cx="12192000" cy="397079"/>
            </a:xfrm>
            <a:prstGeom prst="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dirty="0"/>
                <a:t>                   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Jai Raja Saravanam S                                                                                                        </a:t>
              </a:r>
              <a:r>
                <a:rPr lang="en-IN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Emcog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Solutions</a:t>
              </a:r>
              <a:r>
                <a:rPr lang="en-IN" dirty="0"/>
                <a:t> </a:t>
              </a:r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719AF3DA-A1EB-2B73-3691-EBC59FD7906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734477" y="6478141"/>
              <a:ext cx="349866" cy="383028"/>
            </a:xfrm>
            <a:prstGeom prst="rect">
              <a:avLst/>
            </a:prstGeom>
          </p:spPr>
        </p:pic>
      </p:grpSp>
      <p:sp>
        <p:nvSpPr>
          <p:cNvPr id="10" name="Title 1">
            <a:extLst>
              <a:ext uri="{FF2B5EF4-FFF2-40B4-BE49-F238E27FC236}">
                <a16:creationId xmlns:a16="http://schemas.microsoft.com/office/drawing/2014/main" id="{ED2A8933-6414-3EE3-C95E-7FEF3913D0D8}"/>
              </a:ext>
            </a:extLst>
          </p:cNvPr>
          <p:cNvSpPr txBox="1">
            <a:spLocks/>
          </p:cNvSpPr>
          <p:nvPr/>
        </p:nvSpPr>
        <p:spPr>
          <a:xfrm>
            <a:off x="473262" y="431822"/>
            <a:ext cx="10655344" cy="573971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spcAft>
                <a:spcPts val="600"/>
              </a:spcAft>
            </a:pPr>
            <a:r>
              <a:rPr lang="en-IN" sz="26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Let us consider different case to understand </a:t>
            </a:r>
            <a:r>
              <a:rPr lang="en-IN" sz="2600" b="1" dirty="0" err="1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prescaler</a:t>
            </a:r>
            <a:r>
              <a:rPr lang="en-IN" sz="26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2600" b="1" dirty="0" err="1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AutoReloadRegister</a:t>
            </a:r>
            <a:endParaRPr lang="en-IN" sz="2600" b="1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600"/>
              </a:spcAft>
            </a:pPr>
            <a:endParaRPr lang="en-IN" sz="200" b="1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600"/>
              </a:spcAft>
            </a:pPr>
            <a:endParaRPr lang="en-IN" sz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1200"/>
              </a:spcAft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 </a:t>
            </a:r>
            <a:r>
              <a:rPr lang="en-IN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Prescaler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2 and </a:t>
            </a:r>
            <a:r>
              <a:rPr lang="en-IN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AutoReloadRegister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65535</a:t>
            </a:r>
          </a:p>
          <a:p>
            <a:pPr algn="just">
              <a:spcAft>
                <a:spcPts val="1200"/>
              </a:spcAft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 8Mhz / </a:t>
            </a:r>
            <a:r>
              <a:rPr lang="en-IN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Prescaler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8Mhz / 2 = 4Mhz </a:t>
            </a:r>
          </a:p>
          <a:p>
            <a:pPr algn="just">
              <a:spcAft>
                <a:spcPts val="1200"/>
              </a:spcAft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One pulse time is T = 1 / f = 1/ 4Mhz = 0.25 </a:t>
            </a:r>
            <a:r>
              <a:rPr lang="en-IN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usec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>
              <a:spcAft>
                <a:spcPts val="1200"/>
              </a:spcAft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So totally (65535 + 1) counts = 65536 pulse  = 0.25usec X 65536</a:t>
            </a:r>
          </a:p>
          <a:p>
            <a:pPr algn="just">
              <a:spcAft>
                <a:spcPts val="1200"/>
              </a:spcAft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              Time = 16384 </a:t>
            </a:r>
            <a:r>
              <a:rPr lang="en-IN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usec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= </a:t>
            </a: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16.384 msec</a:t>
            </a:r>
          </a:p>
          <a:p>
            <a:pPr algn="just">
              <a:spcAft>
                <a:spcPts val="1200"/>
              </a:spcAft>
            </a:pPr>
            <a:endParaRPr lang="en-I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1200"/>
              </a:spcAft>
            </a:pPr>
            <a:endParaRPr lang="en-I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1200"/>
              </a:spcAft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 </a:t>
            </a:r>
            <a:r>
              <a:rPr lang="en-IN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Prescaler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1 and </a:t>
            </a:r>
            <a:r>
              <a:rPr lang="en-IN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AutoReloadRegister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65535</a:t>
            </a:r>
          </a:p>
          <a:p>
            <a:pPr algn="just">
              <a:spcAft>
                <a:spcPts val="1200"/>
              </a:spcAft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 8Mhz / </a:t>
            </a:r>
            <a:r>
              <a:rPr lang="en-IN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Prescaler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8Mhz / 1 = 8Mhz </a:t>
            </a:r>
          </a:p>
          <a:p>
            <a:pPr algn="just">
              <a:spcAft>
                <a:spcPts val="1200"/>
              </a:spcAft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One pulse time is T = 1 / f = 1/ 8Mhz = 0.125 </a:t>
            </a:r>
            <a:r>
              <a:rPr lang="en-IN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usec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>
              <a:spcAft>
                <a:spcPts val="1200"/>
              </a:spcAft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So totally (65535 + 1) counts = 65536 pulse  = 0.125usec X 65536</a:t>
            </a:r>
          </a:p>
          <a:p>
            <a:pPr algn="just">
              <a:spcAft>
                <a:spcPts val="1200"/>
              </a:spcAft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              Time = 8192 </a:t>
            </a:r>
            <a:r>
              <a:rPr lang="en-IN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usec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= </a:t>
            </a: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8.192 msec</a:t>
            </a:r>
          </a:p>
          <a:p>
            <a:pPr algn="just">
              <a:spcAft>
                <a:spcPts val="600"/>
              </a:spcAft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600"/>
              </a:spcAft>
            </a:pPr>
            <a:r>
              <a:rPr lang="en-IN" sz="2400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 by Reducing </a:t>
            </a:r>
            <a:r>
              <a:rPr lang="en-IN" sz="2400" dirty="0" err="1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Prescaler</a:t>
            </a:r>
            <a:r>
              <a:rPr lang="en-IN" sz="2400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time period is decreased  Frequency will get increased</a:t>
            </a:r>
            <a:endParaRPr lang="en-IN" sz="2400" dirty="0">
              <a:solidFill>
                <a:schemeClr val="accent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E4B61D9-F07D-6132-6D2A-82CEC2EE58D8}"/>
              </a:ext>
            </a:extLst>
          </p:cNvPr>
          <p:cNvGrpSpPr/>
          <p:nvPr/>
        </p:nvGrpSpPr>
        <p:grpSpPr>
          <a:xfrm>
            <a:off x="7824295" y="1275966"/>
            <a:ext cx="2635526" cy="1539512"/>
            <a:chOff x="7824295" y="1275966"/>
            <a:chExt cx="2635526" cy="1539512"/>
          </a:xfrm>
        </p:grpSpPr>
        <p:pic>
          <p:nvPicPr>
            <p:cNvPr id="17" name="Picture 2" descr="1.4 System Timing">
              <a:extLst>
                <a:ext uri="{FF2B5EF4-FFF2-40B4-BE49-F238E27FC236}">
                  <a16:creationId xmlns:a16="http://schemas.microsoft.com/office/drawing/2014/main" id="{D1360459-4D5C-A50D-280D-3A05AB1C0A1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50000"/>
                      </a14:imgEffect>
                      <a14:imgEffect>
                        <a14:brightnessContrast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195" t="29987" r="77639" b="20000"/>
            <a:stretch>
              <a:fillRect/>
            </a:stretch>
          </p:blipFill>
          <p:spPr bwMode="auto">
            <a:xfrm>
              <a:off x="7824295" y="1275966"/>
              <a:ext cx="2635526" cy="114458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50CAC3AF-CC3B-0480-3C03-E861CCEAA617}"/>
                </a:ext>
              </a:extLst>
            </p:cNvPr>
            <p:cNvSpPr txBox="1"/>
            <p:nvPr/>
          </p:nvSpPr>
          <p:spPr>
            <a:xfrm>
              <a:off x="8105534" y="2446146"/>
              <a:ext cx="160775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16.384 m</a:t>
              </a:r>
              <a:r>
                <a:rPr lang="en-IN" sz="1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sec</a:t>
              </a:r>
              <a:endParaRPr lang="en-IN" dirty="0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7F5B48B6-CCF6-5D2E-7733-61905B17ED31}"/>
                </a:ext>
              </a:extLst>
            </p:cNvPr>
            <p:cNvGrpSpPr/>
            <p:nvPr/>
          </p:nvGrpSpPr>
          <p:grpSpPr>
            <a:xfrm>
              <a:off x="8148387" y="2304811"/>
              <a:ext cx="1158173" cy="183503"/>
              <a:chOff x="2451370" y="5872914"/>
              <a:chExt cx="1375410" cy="174928"/>
            </a:xfrm>
          </p:grpSpPr>
          <p:cxnSp>
            <p:nvCxnSpPr>
              <p:cNvPr id="4" name="Straight Connector 3">
                <a:extLst>
                  <a:ext uri="{FF2B5EF4-FFF2-40B4-BE49-F238E27FC236}">
                    <a16:creationId xmlns:a16="http://schemas.microsoft.com/office/drawing/2014/main" id="{520E2947-5B3C-8C89-91B0-BBCCB3B2B747}"/>
                  </a:ext>
                </a:extLst>
              </p:cNvPr>
              <p:cNvCxnSpPr/>
              <p:nvPr/>
            </p:nvCxnSpPr>
            <p:spPr>
              <a:xfrm>
                <a:off x="2451370" y="5963055"/>
                <a:ext cx="137160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F9F94BD4-DFA1-A574-819C-10404EF3FF0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26780" y="5878267"/>
                <a:ext cx="0" cy="16957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883203D3-B7C5-C94D-A4B3-08736AE5E69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57853" y="5872914"/>
                <a:ext cx="0" cy="16957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4B7EAA2-1BE1-2B7B-AAFC-A77330DA91A4}"/>
              </a:ext>
            </a:extLst>
          </p:cNvPr>
          <p:cNvGrpSpPr/>
          <p:nvPr/>
        </p:nvGrpSpPr>
        <p:grpSpPr>
          <a:xfrm>
            <a:off x="7849729" y="3667690"/>
            <a:ext cx="2635526" cy="1539512"/>
            <a:chOff x="7824295" y="1275966"/>
            <a:chExt cx="2635526" cy="1539512"/>
          </a:xfrm>
        </p:grpSpPr>
        <p:pic>
          <p:nvPicPr>
            <p:cNvPr id="16" name="Picture 2" descr="1.4 System Timing">
              <a:extLst>
                <a:ext uri="{FF2B5EF4-FFF2-40B4-BE49-F238E27FC236}">
                  <a16:creationId xmlns:a16="http://schemas.microsoft.com/office/drawing/2014/main" id="{AA65E208-66A2-D4C7-416B-47C35A4358C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50000"/>
                      </a14:imgEffect>
                      <a14:imgEffect>
                        <a14:brightnessContrast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195" t="29987" r="77639" b="20000"/>
            <a:stretch>
              <a:fillRect/>
            </a:stretch>
          </p:blipFill>
          <p:spPr bwMode="auto">
            <a:xfrm>
              <a:off x="7824295" y="1275966"/>
              <a:ext cx="2635526" cy="114458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A7AD893-5578-8A86-2B80-EA8A37F2EEE6}"/>
                </a:ext>
              </a:extLst>
            </p:cNvPr>
            <p:cNvSpPr txBox="1"/>
            <p:nvPr/>
          </p:nvSpPr>
          <p:spPr>
            <a:xfrm>
              <a:off x="8105534" y="2446146"/>
              <a:ext cx="160775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8.192 m</a:t>
              </a:r>
              <a:r>
                <a:rPr lang="en-IN" sz="1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sec</a:t>
              </a:r>
              <a:endParaRPr lang="en-IN" dirty="0"/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7FC67D9-946D-14D2-6EEF-47300C12B6A9}"/>
                </a:ext>
              </a:extLst>
            </p:cNvPr>
            <p:cNvGrpSpPr/>
            <p:nvPr/>
          </p:nvGrpSpPr>
          <p:grpSpPr>
            <a:xfrm>
              <a:off x="8148387" y="2304811"/>
              <a:ext cx="1158173" cy="183503"/>
              <a:chOff x="2451370" y="5872914"/>
              <a:chExt cx="1375410" cy="174928"/>
            </a:xfrm>
          </p:grpSpPr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A375B12D-AFEF-7362-9C54-48F02FFE754E}"/>
                  </a:ext>
                </a:extLst>
              </p:cNvPr>
              <p:cNvCxnSpPr/>
              <p:nvPr/>
            </p:nvCxnSpPr>
            <p:spPr>
              <a:xfrm>
                <a:off x="2451370" y="5963055"/>
                <a:ext cx="137160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006F47C8-7AF2-BF2C-316F-EE09B3916E3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26780" y="5878267"/>
                <a:ext cx="0" cy="16957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BB44407D-D0EA-9859-E659-E0B714F1D83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57853" y="5872914"/>
                <a:ext cx="0" cy="16957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9040679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607F2-F667-B0AF-2E21-89119ECB3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85208E6-F585-77DF-6016-08161B20CD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0513"/>
            <a:ext cx="9144000" cy="610497"/>
          </a:xfrm>
        </p:spPr>
        <p:txBody>
          <a:bodyPr>
            <a:norm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STM32F103C8T6 – Timer 3 configuration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1F50472-DD35-0317-A4EA-C9C7A38D94C0}"/>
              </a:ext>
            </a:extLst>
          </p:cNvPr>
          <p:cNvGrpSpPr/>
          <p:nvPr/>
        </p:nvGrpSpPr>
        <p:grpSpPr>
          <a:xfrm>
            <a:off x="0" y="6460919"/>
            <a:ext cx="12192000" cy="400250"/>
            <a:chOff x="0" y="6460919"/>
            <a:chExt cx="12192000" cy="40025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71F86CC-4096-7294-152A-2332131DCBB3}"/>
                </a:ext>
              </a:extLst>
            </p:cNvPr>
            <p:cNvSpPr/>
            <p:nvPr/>
          </p:nvSpPr>
          <p:spPr>
            <a:xfrm>
              <a:off x="0" y="6460919"/>
              <a:ext cx="12192000" cy="397079"/>
            </a:xfrm>
            <a:prstGeom prst="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dirty="0"/>
                <a:t>                   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Jai Raja Saravanam S                                                                                                        </a:t>
              </a:r>
              <a:r>
                <a:rPr lang="en-IN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Emcog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Solutions</a:t>
              </a:r>
              <a:r>
                <a:rPr lang="en-IN" dirty="0"/>
                <a:t> </a:t>
              </a:r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6B098DF9-F23E-2750-4050-43B6E88389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734477" y="6478141"/>
              <a:ext cx="349866" cy="383028"/>
            </a:xfrm>
            <a:prstGeom prst="rect">
              <a:avLst/>
            </a:prstGeom>
          </p:spPr>
        </p:pic>
      </p:grpSp>
      <p:sp>
        <p:nvSpPr>
          <p:cNvPr id="10" name="Title 1">
            <a:extLst>
              <a:ext uri="{FF2B5EF4-FFF2-40B4-BE49-F238E27FC236}">
                <a16:creationId xmlns:a16="http://schemas.microsoft.com/office/drawing/2014/main" id="{1D222C5E-1BC6-F27B-C240-B8AB014F3C4D}"/>
              </a:ext>
            </a:extLst>
          </p:cNvPr>
          <p:cNvSpPr txBox="1">
            <a:spLocks/>
          </p:cNvSpPr>
          <p:nvPr/>
        </p:nvSpPr>
        <p:spPr>
          <a:xfrm>
            <a:off x="461688" y="847525"/>
            <a:ext cx="10655344" cy="4801435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spcAft>
                <a:spcPts val="600"/>
              </a:spcAf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final formula </a:t>
            </a:r>
          </a:p>
          <a:p>
            <a:pPr algn="just">
              <a:spcAft>
                <a:spcPts val="600"/>
              </a:spcAf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Timer output Frequency =  Input Frequency / (</a:t>
            </a:r>
            <a:r>
              <a:rPr lang="en-IN" sz="2400" b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Prescaler</a:t>
            </a:r>
            <a:r>
              <a:rPr lang="en-IN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* </a:t>
            </a:r>
            <a:r>
              <a:rPr lang="en-IN" sz="2400" b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AutoReloadRegister</a:t>
            </a:r>
            <a:r>
              <a:rPr lang="en-IN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>
              <a:spcAft>
                <a:spcPts val="600"/>
              </a:spcAft>
            </a:pPr>
            <a:r>
              <a:rPr lang="en-IN" sz="20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20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 = 1 / Timer output Frequency </a:t>
            </a:r>
          </a:p>
          <a:p>
            <a:pPr algn="just">
              <a:spcAft>
                <a:spcPts val="600"/>
              </a:spcAft>
            </a:pPr>
            <a:endParaRPr lang="en-IN" sz="20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600"/>
              </a:spcAf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Make 1Hz , There are two ways </a:t>
            </a:r>
          </a:p>
          <a:p>
            <a:pPr marL="342900" indent="-342900" algn="just">
              <a:spcAft>
                <a:spcPts val="600"/>
              </a:spcAft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make directly 1Hz from timer (or)</a:t>
            </a:r>
          </a:p>
          <a:p>
            <a:pPr marL="342900" indent="-342900" algn="just">
              <a:spcAft>
                <a:spcPts val="600"/>
              </a:spcAft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 a small time unit and repeat the time unit for Multiple times to get the required delay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Eg.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1msec Time unit .Run 1000 times to make 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(generally preferred)</a:t>
            </a:r>
          </a:p>
          <a:p>
            <a:pPr algn="just">
              <a:spcAft>
                <a:spcPts val="600"/>
              </a:spcAft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600"/>
              </a:spcAf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 :</a:t>
            </a:r>
          </a:p>
          <a:p>
            <a:pPr algn="just">
              <a:spcAft>
                <a:spcPts val="600"/>
              </a:spcAf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minimum Time Period can be created using tim3 with 8MHz is 1 / [ 8Mhz/ (1 * 1) ] = 0.125usec </a:t>
            </a:r>
          </a:p>
          <a:p>
            <a:pPr algn="just">
              <a:spcAft>
                <a:spcPts val="600"/>
              </a:spcAf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Maximum Time Unit that can be made is 1 / [8MHz / (65536 *65536)] = 536.8709 sec</a:t>
            </a:r>
          </a:p>
          <a:p>
            <a:pPr algn="just">
              <a:spcAft>
                <a:spcPts val="600"/>
              </a:spcAf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can use the timer within this limit only at a single throw . </a:t>
            </a:r>
          </a:p>
        </p:txBody>
      </p:sp>
    </p:spTree>
    <p:extLst>
      <p:ext uri="{BB962C8B-B14F-4D97-AF65-F5344CB8AC3E}">
        <p14:creationId xmlns:p14="http://schemas.microsoft.com/office/powerpoint/2010/main" val="30074786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876C6D-F399-31B8-F8BD-ACD63A6266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226057-7762-F0B1-7496-77636CE930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0513"/>
            <a:ext cx="9144000" cy="610497"/>
          </a:xfrm>
        </p:spPr>
        <p:txBody>
          <a:bodyPr>
            <a:norm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STM32F103C8T6 – Timer 3 configuration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F974880-642C-BC57-529F-A423B3671F38}"/>
              </a:ext>
            </a:extLst>
          </p:cNvPr>
          <p:cNvGrpSpPr/>
          <p:nvPr/>
        </p:nvGrpSpPr>
        <p:grpSpPr>
          <a:xfrm>
            <a:off x="0" y="6472494"/>
            <a:ext cx="12192000" cy="400250"/>
            <a:chOff x="0" y="6460919"/>
            <a:chExt cx="12192000" cy="40025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47B8783-1241-689B-D428-2295541F90DC}"/>
                </a:ext>
              </a:extLst>
            </p:cNvPr>
            <p:cNvSpPr/>
            <p:nvPr/>
          </p:nvSpPr>
          <p:spPr>
            <a:xfrm>
              <a:off x="0" y="6460919"/>
              <a:ext cx="12192000" cy="397079"/>
            </a:xfrm>
            <a:prstGeom prst="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dirty="0"/>
                <a:t>                   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Jai Raja Saravanam S                                                                                                        </a:t>
              </a:r>
              <a:r>
                <a:rPr lang="en-IN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Emcog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Solutions</a:t>
              </a:r>
              <a:r>
                <a:rPr lang="en-IN" dirty="0"/>
                <a:t> </a:t>
              </a:r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D8931E1B-FD12-6F00-627E-D4048EA4950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734477" y="6478141"/>
              <a:ext cx="349866" cy="383028"/>
            </a:xfrm>
            <a:prstGeom prst="rect">
              <a:avLst/>
            </a:prstGeom>
          </p:spPr>
        </p:pic>
      </p:grpSp>
      <p:sp>
        <p:nvSpPr>
          <p:cNvPr id="10" name="Title 1">
            <a:extLst>
              <a:ext uri="{FF2B5EF4-FFF2-40B4-BE49-F238E27FC236}">
                <a16:creationId xmlns:a16="http://schemas.microsoft.com/office/drawing/2014/main" id="{E1772F84-667D-DB0F-2D78-A053980A2656}"/>
              </a:ext>
            </a:extLst>
          </p:cNvPr>
          <p:cNvSpPr txBox="1">
            <a:spLocks/>
          </p:cNvSpPr>
          <p:nvPr/>
        </p:nvSpPr>
        <p:spPr>
          <a:xfrm>
            <a:off x="461688" y="1187119"/>
            <a:ext cx="10655344" cy="301449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spcAft>
                <a:spcPts val="1200"/>
              </a:spcAft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msec = 1kHz</a:t>
            </a:r>
          </a:p>
          <a:p>
            <a:pPr algn="just">
              <a:spcAft>
                <a:spcPts val="1200"/>
              </a:spcAft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make 1KHz from 8Mhz</a:t>
            </a:r>
          </a:p>
          <a:p>
            <a:pPr algn="just">
              <a:spcAft>
                <a:spcPts val="1200"/>
              </a:spcAft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Timer output Frequency =  Input Frequency / (</a:t>
            </a:r>
            <a:r>
              <a:rPr lang="en-IN" sz="2400" b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Prescaler</a:t>
            </a:r>
            <a:r>
              <a:rPr lang="en-IN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* </a:t>
            </a:r>
            <a:r>
              <a:rPr lang="en-IN" sz="2400" b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AutoReloadRegister</a:t>
            </a:r>
            <a:r>
              <a:rPr lang="en-IN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1200"/>
              </a:spcAft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So 1kHz = 8MHz / (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Prescaler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 ARR)</a:t>
            </a:r>
          </a:p>
          <a:p>
            <a:pPr algn="just">
              <a:spcAft>
                <a:spcPts val="1200"/>
              </a:spcAft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Prescaler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 ARR = 8K</a:t>
            </a:r>
          </a:p>
          <a:p>
            <a:pPr algn="just">
              <a:spcAft>
                <a:spcPts val="1200"/>
              </a:spcAft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Prescaler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1000 	ARR = 8000</a:t>
            </a:r>
          </a:p>
          <a:p>
            <a:pPr algn="just">
              <a:spcAft>
                <a:spcPts val="1200"/>
              </a:spcAft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This will give a 1msec Time unit , Run 1000 times to make 1sec Time delay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A80FFB-56AE-E86B-E38F-65C026306DF7}"/>
              </a:ext>
            </a:extLst>
          </p:cNvPr>
          <p:cNvSpPr txBox="1"/>
          <p:nvPr/>
        </p:nvSpPr>
        <p:spPr>
          <a:xfrm>
            <a:off x="369090" y="722283"/>
            <a:ext cx="60940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lang="en-IN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make </a:t>
            </a:r>
            <a:r>
              <a:rPr lang="en-IN" sz="2400" b="1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1msec</a:t>
            </a:r>
            <a:r>
              <a:rPr lang="en-IN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Time Unit</a:t>
            </a:r>
          </a:p>
        </p:txBody>
      </p:sp>
    </p:spTree>
    <p:extLst>
      <p:ext uri="{BB962C8B-B14F-4D97-AF65-F5344CB8AC3E}">
        <p14:creationId xmlns:p14="http://schemas.microsoft.com/office/powerpoint/2010/main" val="17628135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93CC5D-CB8E-3D92-1018-C6482FF50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9176F66-D284-E933-F725-DEBE4B0B93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0513"/>
            <a:ext cx="9144000" cy="610497"/>
          </a:xfrm>
        </p:spPr>
        <p:txBody>
          <a:bodyPr>
            <a:norm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STM32F103C8T6 – Timer 3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D84171E-8BBA-6282-2C75-CD1C29B07514}"/>
              </a:ext>
            </a:extLst>
          </p:cNvPr>
          <p:cNvGrpSpPr/>
          <p:nvPr/>
        </p:nvGrpSpPr>
        <p:grpSpPr>
          <a:xfrm>
            <a:off x="0" y="6472494"/>
            <a:ext cx="12192000" cy="397079"/>
            <a:chOff x="0" y="6472494"/>
            <a:chExt cx="12192000" cy="397079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ACBEE241-892C-D996-6F6E-BF6538B07E83}"/>
                </a:ext>
              </a:extLst>
            </p:cNvPr>
            <p:cNvSpPr/>
            <p:nvPr/>
          </p:nvSpPr>
          <p:spPr>
            <a:xfrm>
              <a:off x="0" y="6472494"/>
              <a:ext cx="12192000" cy="397079"/>
            </a:xfrm>
            <a:prstGeom prst="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dirty="0"/>
                <a:t>                   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Jai Raja Saravanam S                                                                                                        </a:t>
              </a:r>
              <a:r>
                <a:rPr lang="en-IN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Emcog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Solutions</a:t>
              </a:r>
              <a:r>
                <a:rPr lang="en-IN" dirty="0"/>
                <a:t> </a:t>
              </a:r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2A1C8EC7-781C-72A5-FED4-29E2D005822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734477" y="6478141"/>
              <a:ext cx="349866" cy="383028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A612D82-2058-84A6-A931-1FF6F2C0A1FB}"/>
              </a:ext>
            </a:extLst>
          </p:cNvPr>
          <p:cNvSpPr txBox="1">
            <a:spLocks/>
          </p:cNvSpPr>
          <p:nvPr/>
        </p:nvSpPr>
        <p:spPr>
          <a:xfrm>
            <a:off x="172932" y="418288"/>
            <a:ext cx="10495068" cy="53502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1200"/>
              </a:spcAft>
            </a:pPr>
            <a:r>
              <a:rPr lang="en-IN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Timer 3 </a:t>
            </a:r>
            <a:r>
              <a:rPr lang="en-IN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General Purpose Timer – 16 bit timer (APB1)</a:t>
            </a:r>
            <a:endParaRPr lang="en-IN" sz="24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CC63F6-EE56-00A4-95E2-2B2078D7B32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146" t="1546"/>
          <a:stretch>
            <a:fillRect/>
          </a:stretch>
        </p:blipFill>
        <p:spPr>
          <a:xfrm>
            <a:off x="563954" y="970910"/>
            <a:ext cx="10738510" cy="5130286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54C49AB5-523D-C83E-15DC-F59CA5AEA239}"/>
              </a:ext>
            </a:extLst>
          </p:cNvPr>
          <p:cNvSpPr txBox="1">
            <a:spLocks/>
          </p:cNvSpPr>
          <p:nvPr/>
        </p:nvSpPr>
        <p:spPr>
          <a:xfrm>
            <a:off x="4165720" y="6139767"/>
            <a:ext cx="4568757" cy="39707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 : STM32 reference manual pg.367</a:t>
            </a:r>
          </a:p>
        </p:txBody>
      </p:sp>
    </p:spTree>
    <p:extLst>
      <p:ext uri="{BB962C8B-B14F-4D97-AF65-F5344CB8AC3E}">
        <p14:creationId xmlns:p14="http://schemas.microsoft.com/office/powerpoint/2010/main" val="24229501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731340-E468-24E1-BBE3-1D4A134D4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D99BAB8-C4CD-5ADF-01AB-A2BC454512D7}"/>
              </a:ext>
            </a:extLst>
          </p:cNvPr>
          <p:cNvSpPr txBox="1">
            <a:spLocks/>
          </p:cNvSpPr>
          <p:nvPr/>
        </p:nvSpPr>
        <p:spPr>
          <a:xfrm>
            <a:off x="547992" y="267311"/>
            <a:ext cx="11096011" cy="60133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Activity 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CF22F9-2554-ABAB-FBA5-5A446A55C91C}"/>
              </a:ext>
            </a:extLst>
          </p:cNvPr>
          <p:cNvSpPr txBox="1"/>
          <p:nvPr/>
        </p:nvSpPr>
        <p:spPr>
          <a:xfrm>
            <a:off x="264803" y="983055"/>
            <a:ext cx="113792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Blink single led for every 1 second using Timer 3 (Polling method)</a:t>
            </a:r>
          </a:p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Objective  :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Gain knowledge on working with timers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Polling strategy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 a basic delay using Timers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11546C7-FFB4-C11B-1762-BFD6282C96A1}"/>
              </a:ext>
            </a:extLst>
          </p:cNvPr>
          <p:cNvGrpSpPr/>
          <p:nvPr/>
        </p:nvGrpSpPr>
        <p:grpSpPr>
          <a:xfrm>
            <a:off x="0" y="6466566"/>
            <a:ext cx="12192000" cy="403007"/>
            <a:chOff x="0" y="6478141"/>
            <a:chExt cx="12192000" cy="403007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C3BBD15-3C58-49D2-DAE4-C345E0D75B2C}"/>
                </a:ext>
              </a:extLst>
            </p:cNvPr>
            <p:cNvSpPr/>
            <p:nvPr/>
          </p:nvSpPr>
          <p:spPr>
            <a:xfrm>
              <a:off x="0" y="6484069"/>
              <a:ext cx="12192000" cy="397079"/>
            </a:xfrm>
            <a:prstGeom prst="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dirty="0"/>
                <a:t>                   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Jai Raja Saravanam S                                                                                                        </a:t>
              </a:r>
              <a:r>
                <a:rPr lang="en-IN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Emcog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Solutions</a:t>
              </a:r>
              <a:r>
                <a:rPr lang="en-IN" dirty="0"/>
                <a:t> </a:t>
              </a: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2F08612-B713-A99D-43C2-111EF4F91A9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734477" y="6478141"/>
              <a:ext cx="349866" cy="3830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578681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9DE93E-CE03-9C05-8EED-DE3DB5491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 descr="See related image detail. Understanding Interrupt Service Routines (ISR)">
            <a:extLst>
              <a:ext uri="{FF2B5EF4-FFF2-40B4-BE49-F238E27FC236}">
                <a16:creationId xmlns:a16="http://schemas.microsoft.com/office/drawing/2014/main" id="{2845FAB4-DF8B-30EF-0CF7-7E8F4C2378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6442" y="3246886"/>
            <a:ext cx="3926038" cy="3219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595BF272-0E3D-BDFE-4C6C-E45B9246D25B}"/>
              </a:ext>
            </a:extLst>
          </p:cNvPr>
          <p:cNvGrpSpPr/>
          <p:nvPr/>
        </p:nvGrpSpPr>
        <p:grpSpPr>
          <a:xfrm>
            <a:off x="0" y="6466566"/>
            <a:ext cx="12192000" cy="403007"/>
            <a:chOff x="0" y="6478141"/>
            <a:chExt cx="12192000" cy="403007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B464948-CA52-2F84-AC52-629B7EB3B0CA}"/>
                </a:ext>
              </a:extLst>
            </p:cNvPr>
            <p:cNvSpPr/>
            <p:nvPr/>
          </p:nvSpPr>
          <p:spPr>
            <a:xfrm>
              <a:off x="0" y="6484069"/>
              <a:ext cx="12192000" cy="397079"/>
            </a:xfrm>
            <a:prstGeom prst="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dirty="0"/>
                <a:t>                   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Jai Raja Saravanam S                                                                                                        </a:t>
              </a:r>
              <a:r>
                <a:rPr lang="en-IN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Emcog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Solutions</a:t>
              </a:r>
              <a:r>
                <a:rPr lang="en-IN" dirty="0"/>
                <a:t> </a:t>
              </a: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E885B75-D9BE-8E66-49E9-15BA5A5D517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734477" y="6478141"/>
              <a:ext cx="349866" cy="383028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7474BFC-1288-B136-D102-CEEB0A4EC330}"/>
              </a:ext>
            </a:extLst>
          </p:cNvPr>
          <p:cNvSpPr txBox="1">
            <a:spLocks/>
          </p:cNvSpPr>
          <p:nvPr/>
        </p:nvSpPr>
        <p:spPr>
          <a:xfrm>
            <a:off x="3027895" y="98682"/>
            <a:ext cx="6056448" cy="66211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Interrupt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2A05275-E8BB-8B2F-CE7D-F6129664FBE4}"/>
              </a:ext>
            </a:extLst>
          </p:cNvPr>
          <p:cNvSpPr txBox="1"/>
          <p:nvPr/>
        </p:nvSpPr>
        <p:spPr>
          <a:xfrm>
            <a:off x="514270" y="781964"/>
            <a:ext cx="1017556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interrupt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signal that temporarily pauses the normal program execution to handle an urgent event</a:t>
            </a:r>
          </a:p>
          <a:p>
            <a:pPr algn="just">
              <a:spcAft>
                <a:spcPts val="600"/>
              </a:spcAft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Interrupt Service Routine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special function that runs automatically when an interrupt event occurs.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ISR must be very small .</a:t>
            </a:r>
          </a:p>
          <a:p>
            <a:pPr algn="just">
              <a:spcAft>
                <a:spcPts val="600"/>
              </a:spcAf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Because interrupt should not affect the main task . If the interrupts are large, after interrupting the main task for long time , the main task won’t run properly.</a:t>
            </a:r>
          </a:p>
          <a:p>
            <a:pPr algn="just">
              <a:spcAft>
                <a:spcPts val="600"/>
              </a:spcAf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task (Main task) can withstand small delay 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600"/>
              </a:spcAft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99264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E6850-AD53-2EE7-4A4F-2E669D71E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175688B-08E0-6C1E-6516-FF8BD263B7F5}"/>
              </a:ext>
            </a:extLst>
          </p:cNvPr>
          <p:cNvSpPr txBox="1">
            <a:spLocks/>
          </p:cNvSpPr>
          <p:nvPr/>
        </p:nvSpPr>
        <p:spPr>
          <a:xfrm>
            <a:off x="547992" y="267311"/>
            <a:ext cx="11096011" cy="60133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Activity 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F448F2-8BE2-1B88-02D1-9602FABA3E4E}"/>
              </a:ext>
            </a:extLst>
          </p:cNvPr>
          <p:cNvSpPr txBox="1"/>
          <p:nvPr/>
        </p:nvSpPr>
        <p:spPr>
          <a:xfrm>
            <a:off x="264803" y="983055"/>
            <a:ext cx="113792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Blink single led for every 1 second using Timer 3 (Interrupt method)</a:t>
            </a:r>
          </a:p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Objective  :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Gain knowledge on working with timer interrupts</a:t>
            </a:r>
          </a:p>
          <a:p>
            <a:pPr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A9C3842-D42E-F954-BC9C-DE70D419B62D}"/>
              </a:ext>
            </a:extLst>
          </p:cNvPr>
          <p:cNvGrpSpPr/>
          <p:nvPr/>
        </p:nvGrpSpPr>
        <p:grpSpPr>
          <a:xfrm>
            <a:off x="0" y="6466566"/>
            <a:ext cx="12192000" cy="403007"/>
            <a:chOff x="0" y="6478141"/>
            <a:chExt cx="12192000" cy="403007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4930F521-247A-0A13-EA33-3EE2E9472000}"/>
                </a:ext>
              </a:extLst>
            </p:cNvPr>
            <p:cNvSpPr/>
            <p:nvPr/>
          </p:nvSpPr>
          <p:spPr>
            <a:xfrm>
              <a:off x="0" y="6484069"/>
              <a:ext cx="12192000" cy="397079"/>
            </a:xfrm>
            <a:prstGeom prst="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dirty="0"/>
                <a:t>                   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Jai Raja Saravanam S                                                                                                        </a:t>
              </a:r>
              <a:r>
                <a:rPr lang="en-IN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Emcog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Solutions</a:t>
              </a:r>
              <a:r>
                <a:rPr lang="en-IN" dirty="0"/>
                <a:t> </a:t>
              </a: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1AD69D1-8A4B-D1EF-F7A9-88DA60CB954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734477" y="6478141"/>
              <a:ext cx="349866" cy="3830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259486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D6D768-A580-C04A-B560-051AC76C3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1F7F7C3-7106-027B-177C-5B2E3919008F}"/>
              </a:ext>
            </a:extLst>
          </p:cNvPr>
          <p:cNvSpPr txBox="1">
            <a:spLocks/>
          </p:cNvSpPr>
          <p:nvPr/>
        </p:nvSpPr>
        <p:spPr>
          <a:xfrm>
            <a:off x="547992" y="114911"/>
            <a:ext cx="11096011" cy="60133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Activity 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9F3FA9-DEF4-695A-422B-6C4D0716BD31}"/>
              </a:ext>
            </a:extLst>
          </p:cNvPr>
          <p:cNvSpPr txBox="1"/>
          <p:nvPr/>
        </p:nvSpPr>
        <p:spPr>
          <a:xfrm>
            <a:off x="264803" y="560194"/>
            <a:ext cx="11379200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Blink 3 led with the given period Using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Timer Interrupt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LED 1 – 2 second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LED 2 – 4 second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LED 3 – 8 second</a:t>
            </a:r>
          </a:p>
          <a:p>
            <a:pPr>
              <a:lnSpc>
                <a:spcPct val="150000"/>
              </a:lnSpc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Tip : use 1 sec as Time unit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Objective  :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Real time system – Multiple Time Requiring system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how to make logic for this complex system using Timer interrupt</a:t>
            </a: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5218E1E-14D5-14C4-410D-517C060E9297}"/>
              </a:ext>
            </a:extLst>
          </p:cNvPr>
          <p:cNvGrpSpPr/>
          <p:nvPr/>
        </p:nvGrpSpPr>
        <p:grpSpPr>
          <a:xfrm>
            <a:off x="0" y="6466566"/>
            <a:ext cx="12192000" cy="403007"/>
            <a:chOff x="0" y="6478141"/>
            <a:chExt cx="12192000" cy="403007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FB2BFEB-D10D-1206-041F-5C305EE73312}"/>
                </a:ext>
              </a:extLst>
            </p:cNvPr>
            <p:cNvSpPr/>
            <p:nvPr/>
          </p:nvSpPr>
          <p:spPr>
            <a:xfrm>
              <a:off x="0" y="6484069"/>
              <a:ext cx="12192000" cy="397079"/>
            </a:xfrm>
            <a:prstGeom prst="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dirty="0"/>
                <a:t>                   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Jai Raja Saravanam S                                                                                                        </a:t>
              </a:r>
              <a:r>
                <a:rPr lang="en-IN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Emcog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Solutions</a:t>
              </a:r>
              <a:r>
                <a:rPr lang="en-IN" dirty="0"/>
                <a:t> </a:t>
              </a: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693C303A-3602-8A0F-58CD-4EB495B0CA8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734477" y="6478141"/>
              <a:ext cx="349866" cy="383028"/>
            </a:xfrm>
            <a:prstGeom prst="rect">
              <a:avLst/>
            </a:prstGeom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16E9337-8333-3BB3-C5F2-CFB92220C0F2}"/>
              </a:ext>
            </a:extLst>
          </p:cNvPr>
          <p:cNvGrpSpPr/>
          <p:nvPr/>
        </p:nvGrpSpPr>
        <p:grpSpPr>
          <a:xfrm>
            <a:off x="2170800" y="1581572"/>
            <a:ext cx="8344800" cy="2830165"/>
            <a:chOff x="2313040" y="2228425"/>
            <a:chExt cx="7905888" cy="2401150"/>
          </a:xfrm>
        </p:grpSpPr>
        <p:pic>
          <p:nvPicPr>
            <p:cNvPr id="1028" name="Picture 4">
              <a:extLst>
                <a:ext uri="{FF2B5EF4-FFF2-40B4-BE49-F238E27FC236}">
                  <a16:creationId xmlns:a16="http://schemas.microsoft.com/office/drawing/2014/main" id="{AF2201E5-EE03-80A7-D93B-275B3564A0C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369" t="12764" b="56659"/>
            <a:stretch>
              <a:fillRect/>
            </a:stretch>
          </p:blipFill>
          <p:spPr bwMode="auto">
            <a:xfrm>
              <a:off x="3137720" y="2228425"/>
              <a:ext cx="7081208" cy="24011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2AFFB15-D2C7-5238-9C6F-A8436A3CBCC6}"/>
                </a:ext>
              </a:extLst>
            </p:cNvPr>
            <p:cNvSpPr txBox="1"/>
            <p:nvPr/>
          </p:nvSpPr>
          <p:spPr>
            <a:xfrm>
              <a:off x="2346960" y="2640444"/>
              <a:ext cx="8839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LED 1 </a:t>
              </a:r>
              <a:endParaRPr lang="en-IN" b="1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548BDD9-F344-BDB6-F74E-7609958A58BE}"/>
                </a:ext>
              </a:extLst>
            </p:cNvPr>
            <p:cNvSpPr txBox="1"/>
            <p:nvPr/>
          </p:nvSpPr>
          <p:spPr>
            <a:xfrm>
              <a:off x="2313040" y="3558939"/>
              <a:ext cx="8839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LED 2 </a:t>
              </a:r>
              <a:endParaRPr lang="en-IN" b="1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0E72895-2AAF-65BA-A1BB-C1ECC9667F91}"/>
                </a:ext>
              </a:extLst>
            </p:cNvPr>
            <p:cNvSpPr txBox="1"/>
            <p:nvPr/>
          </p:nvSpPr>
          <p:spPr>
            <a:xfrm>
              <a:off x="2313040" y="4235690"/>
              <a:ext cx="8839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LED 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IN" sz="1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en-IN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3088224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50BDA6-20BA-089A-93CC-EC68FE238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725442A9-C7E6-8F61-BD6A-3D8AC72D9F69}"/>
              </a:ext>
            </a:extLst>
          </p:cNvPr>
          <p:cNvSpPr txBox="1">
            <a:spLocks/>
          </p:cNvSpPr>
          <p:nvPr/>
        </p:nvSpPr>
        <p:spPr>
          <a:xfrm>
            <a:off x="547992" y="114911"/>
            <a:ext cx="11096011" cy="60133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Activity 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1AD63A-956F-1D7A-80A0-454A8BF64805}"/>
              </a:ext>
            </a:extLst>
          </p:cNvPr>
          <p:cNvSpPr txBox="1"/>
          <p:nvPr/>
        </p:nvSpPr>
        <p:spPr>
          <a:xfrm>
            <a:off x="264803" y="610994"/>
            <a:ext cx="11379200" cy="5478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Blink 3 led with the given period using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RTOS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LED 1 – 2 second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LED 2 – 4 second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LED 3 – 8 second</a:t>
            </a:r>
          </a:p>
          <a:p>
            <a:pPr>
              <a:lnSpc>
                <a:spcPct val="150000"/>
              </a:lnSpc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Objective  :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how to import RTOS into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STMCubeIDE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RTOS – Task , scheduler , Delay API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Advantage of RTOS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71A57A1-3C23-6A43-1E24-B42FBF943ECE}"/>
              </a:ext>
            </a:extLst>
          </p:cNvPr>
          <p:cNvGrpSpPr/>
          <p:nvPr/>
        </p:nvGrpSpPr>
        <p:grpSpPr>
          <a:xfrm>
            <a:off x="0" y="6466566"/>
            <a:ext cx="12192000" cy="403007"/>
            <a:chOff x="0" y="6478141"/>
            <a:chExt cx="12192000" cy="403007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3A1DD17-606C-D1C9-AFE0-9DDCF347469E}"/>
                </a:ext>
              </a:extLst>
            </p:cNvPr>
            <p:cNvSpPr/>
            <p:nvPr/>
          </p:nvSpPr>
          <p:spPr>
            <a:xfrm>
              <a:off x="0" y="6484069"/>
              <a:ext cx="12192000" cy="397079"/>
            </a:xfrm>
            <a:prstGeom prst="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dirty="0"/>
                <a:t>                   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Jai Raja Saravanam S                                                                                                        </a:t>
              </a:r>
              <a:r>
                <a:rPr lang="en-IN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Emcog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Solutions</a:t>
              </a:r>
              <a:r>
                <a:rPr lang="en-IN" dirty="0"/>
                <a:t> </a:t>
              </a: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6722AB4A-F08A-0C27-F37A-55A839430C7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734477" y="6478141"/>
              <a:ext cx="349866" cy="383028"/>
            </a:xfrm>
            <a:prstGeom prst="rect">
              <a:avLst/>
            </a:prstGeom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7FF70EB-F520-BA6D-DA38-C25939FA5AE2}"/>
              </a:ext>
            </a:extLst>
          </p:cNvPr>
          <p:cNvGrpSpPr/>
          <p:nvPr/>
        </p:nvGrpSpPr>
        <p:grpSpPr>
          <a:xfrm>
            <a:off x="2170800" y="1581572"/>
            <a:ext cx="8344800" cy="2830165"/>
            <a:chOff x="2313040" y="2228425"/>
            <a:chExt cx="7905888" cy="2401150"/>
          </a:xfrm>
        </p:grpSpPr>
        <p:pic>
          <p:nvPicPr>
            <p:cNvPr id="1028" name="Picture 4">
              <a:extLst>
                <a:ext uri="{FF2B5EF4-FFF2-40B4-BE49-F238E27FC236}">
                  <a16:creationId xmlns:a16="http://schemas.microsoft.com/office/drawing/2014/main" id="{D03A0BBE-6637-D2B5-D4FF-B29A85FBD63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369" t="12764" b="56659"/>
            <a:stretch>
              <a:fillRect/>
            </a:stretch>
          </p:blipFill>
          <p:spPr bwMode="auto">
            <a:xfrm>
              <a:off x="3137720" y="2228425"/>
              <a:ext cx="7081208" cy="24011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B076E38-7C34-C0CA-0EFC-800BE34BD779}"/>
                </a:ext>
              </a:extLst>
            </p:cNvPr>
            <p:cNvSpPr txBox="1"/>
            <p:nvPr/>
          </p:nvSpPr>
          <p:spPr>
            <a:xfrm>
              <a:off x="2346960" y="2640444"/>
              <a:ext cx="8839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LED 1 </a:t>
              </a:r>
              <a:endParaRPr lang="en-IN" b="1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E14D5E5-997C-87FE-6FDF-511BF13DD056}"/>
                </a:ext>
              </a:extLst>
            </p:cNvPr>
            <p:cNvSpPr txBox="1"/>
            <p:nvPr/>
          </p:nvSpPr>
          <p:spPr>
            <a:xfrm>
              <a:off x="2313040" y="3558939"/>
              <a:ext cx="8839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LED 2 </a:t>
              </a:r>
              <a:endParaRPr lang="en-IN" b="1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011C2D4-DD6B-8977-2133-D1FD7B91BBD5}"/>
                </a:ext>
              </a:extLst>
            </p:cNvPr>
            <p:cNvSpPr txBox="1"/>
            <p:nvPr/>
          </p:nvSpPr>
          <p:spPr>
            <a:xfrm>
              <a:off x="2313040" y="4235690"/>
              <a:ext cx="8839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LED 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IN" sz="1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en-IN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9763085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ECBAED-8BCA-FA0A-61F4-8BDB5333A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61EC969-C73B-ACAA-214A-D8100DAE85D8}"/>
              </a:ext>
            </a:extLst>
          </p:cNvPr>
          <p:cNvSpPr txBox="1">
            <a:spLocks/>
          </p:cNvSpPr>
          <p:nvPr/>
        </p:nvSpPr>
        <p:spPr>
          <a:xfrm>
            <a:off x="547992" y="114911"/>
            <a:ext cx="11096011" cy="60133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Activity 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EA7297-85A1-04FE-A414-9A1C2F93519E}"/>
              </a:ext>
            </a:extLst>
          </p:cNvPr>
          <p:cNvSpPr txBox="1"/>
          <p:nvPr/>
        </p:nvSpPr>
        <p:spPr>
          <a:xfrm>
            <a:off x="264803" y="560194"/>
            <a:ext cx="11379200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Blink 3 led with the given period using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Superloop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LED 1 – 2 second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LED 2 – 4 second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LED 3 – 8 second</a:t>
            </a:r>
          </a:p>
          <a:p>
            <a:pPr>
              <a:lnSpc>
                <a:spcPct val="150000"/>
              </a:lnSpc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 : For simplicity use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HAL_delay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API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Objective  :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the importance of Interrupts and RTOS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EBF91FB-97D8-C6DE-B4FC-353923E212E8}"/>
              </a:ext>
            </a:extLst>
          </p:cNvPr>
          <p:cNvGrpSpPr/>
          <p:nvPr/>
        </p:nvGrpSpPr>
        <p:grpSpPr>
          <a:xfrm>
            <a:off x="0" y="6466566"/>
            <a:ext cx="12192000" cy="403007"/>
            <a:chOff x="0" y="6478141"/>
            <a:chExt cx="12192000" cy="403007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41D28FC2-2280-D084-3324-027C9429240B}"/>
                </a:ext>
              </a:extLst>
            </p:cNvPr>
            <p:cNvSpPr/>
            <p:nvPr/>
          </p:nvSpPr>
          <p:spPr>
            <a:xfrm>
              <a:off x="0" y="6484069"/>
              <a:ext cx="12192000" cy="397079"/>
            </a:xfrm>
            <a:prstGeom prst="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dirty="0"/>
                <a:t>                   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Jai Raja Saravanam S                                                                                                        </a:t>
              </a:r>
              <a:r>
                <a:rPr lang="en-IN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Emcog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Solutions</a:t>
              </a:r>
              <a:r>
                <a:rPr lang="en-IN" dirty="0"/>
                <a:t> </a:t>
              </a: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042AF95-7B2E-1B76-A61A-B312997A844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734477" y="6478141"/>
              <a:ext cx="349866" cy="383028"/>
            </a:xfrm>
            <a:prstGeom prst="rect">
              <a:avLst/>
            </a:prstGeom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9483ABB-0E1E-160C-5B4E-A42CF72D6988}"/>
              </a:ext>
            </a:extLst>
          </p:cNvPr>
          <p:cNvGrpSpPr/>
          <p:nvPr/>
        </p:nvGrpSpPr>
        <p:grpSpPr>
          <a:xfrm>
            <a:off x="2180960" y="1703492"/>
            <a:ext cx="8344800" cy="2830165"/>
            <a:chOff x="2313040" y="2228425"/>
            <a:chExt cx="7905888" cy="2401150"/>
          </a:xfrm>
        </p:grpSpPr>
        <p:pic>
          <p:nvPicPr>
            <p:cNvPr id="1028" name="Picture 4">
              <a:extLst>
                <a:ext uri="{FF2B5EF4-FFF2-40B4-BE49-F238E27FC236}">
                  <a16:creationId xmlns:a16="http://schemas.microsoft.com/office/drawing/2014/main" id="{A831B6B0-89CD-56A2-5B18-E4D7837C1AE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369" t="12764" b="56659"/>
            <a:stretch>
              <a:fillRect/>
            </a:stretch>
          </p:blipFill>
          <p:spPr bwMode="auto">
            <a:xfrm>
              <a:off x="3137720" y="2228425"/>
              <a:ext cx="7081208" cy="24011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4C598A1-F37F-4910-13A7-60AA1523C6B4}"/>
                </a:ext>
              </a:extLst>
            </p:cNvPr>
            <p:cNvSpPr txBox="1"/>
            <p:nvPr/>
          </p:nvSpPr>
          <p:spPr>
            <a:xfrm>
              <a:off x="2346960" y="2640444"/>
              <a:ext cx="8839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LED 1 </a:t>
              </a:r>
              <a:endParaRPr lang="en-IN" b="1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7CE0B5F-C524-864C-2668-1F17F53EDB62}"/>
                </a:ext>
              </a:extLst>
            </p:cNvPr>
            <p:cNvSpPr txBox="1"/>
            <p:nvPr/>
          </p:nvSpPr>
          <p:spPr>
            <a:xfrm>
              <a:off x="2313040" y="3558939"/>
              <a:ext cx="8839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LED 2 </a:t>
              </a:r>
              <a:endParaRPr lang="en-IN" b="1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EB16332-3ED0-694D-5EA8-962AFD16926A}"/>
                </a:ext>
              </a:extLst>
            </p:cNvPr>
            <p:cNvSpPr txBox="1"/>
            <p:nvPr/>
          </p:nvSpPr>
          <p:spPr>
            <a:xfrm>
              <a:off x="2313040" y="4235690"/>
              <a:ext cx="8839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LED 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IN" sz="1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en-IN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7000772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0CD6BA-BBDC-EFE4-939D-CD661C24D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E0EA9F7-68A9-9C52-5C27-8097D75C2D1D}"/>
              </a:ext>
            </a:extLst>
          </p:cNvPr>
          <p:cNvSpPr txBox="1">
            <a:spLocks/>
          </p:cNvSpPr>
          <p:nvPr/>
        </p:nvSpPr>
        <p:spPr>
          <a:xfrm>
            <a:off x="547992" y="186031"/>
            <a:ext cx="11096011" cy="60133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 of RTOS over Timer interrupt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B4A837-1211-E8BA-64C5-089B890280BB}"/>
              </a:ext>
            </a:extLst>
          </p:cNvPr>
          <p:cNvSpPr txBox="1"/>
          <p:nvPr/>
        </p:nvSpPr>
        <p:spPr>
          <a:xfrm>
            <a:off x="1605925" y="705812"/>
            <a:ext cx="2376791" cy="579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Timer Interrupt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6E23CC7-CF5D-6922-BE84-1C8C429958D8}"/>
              </a:ext>
            </a:extLst>
          </p:cNvPr>
          <p:cNvGrpSpPr/>
          <p:nvPr/>
        </p:nvGrpSpPr>
        <p:grpSpPr>
          <a:xfrm>
            <a:off x="0" y="6466566"/>
            <a:ext cx="12192000" cy="403007"/>
            <a:chOff x="0" y="6478141"/>
            <a:chExt cx="12192000" cy="403007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63EA82C-5D84-3598-4D3A-408773715E43}"/>
                </a:ext>
              </a:extLst>
            </p:cNvPr>
            <p:cNvSpPr/>
            <p:nvPr/>
          </p:nvSpPr>
          <p:spPr>
            <a:xfrm>
              <a:off x="0" y="6484069"/>
              <a:ext cx="12192000" cy="397079"/>
            </a:xfrm>
            <a:prstGeom prst="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dirty="0"/>
                <a:t>                   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Jai Raja Saravanam S                                                                                                        </a:t>
              </a:r>
              <a:r>
                <a:rPr lang="en-IN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Emcog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Solutions</a:t>
              </a:r>
              <a:r>
                <a:rPr lang="en-IN" dirty="0"/>
                <a:t> </a:t>
              </a: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D9DB0702-D613-18A3-C21D-94E53092FC2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734477" y="6478141"/>
              <a:ext cx="349866" cy="383028"/>
            </a:xfrm>
            <a:prstGeom prst="rect">
              <a:avLst/>
            </a:prstGeom>
          </p:spPr>
        </p:pic>
      </p:grp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71E9023-2695-A8E2-7A3C-6CCAD1FF558A}"/>
              </a:ext>
            </a:extLst>
          </p:cNvPr>
          <p:cNvCxnSpPr/>
          <p:nvPr/>
        </p:nvCxnSpPr>
        <p:spPr>
          <a:xfrm>
            <a:off x="6228080" y="983055"/>
            <a:ext cx="0" cy="50723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551666C-306A-4824-B770-16AE9BAFA3C0}"/>
              </a:ext>
            </a:extLst>
          </p:cNvPr>
          <p:cNvSpPr txBox="1"/>
          <p:nvPr/>
        </p:nvSpPr>
        <p:spPr>
          <a:xfrm>
            <a:off x="8770324" y="588664"/>
            <a:ext cx="1228714" cy="579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RTOS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F863468-58F8-159E-C5E7-CEE6866C5898}"/>
              </a:ext>
            </a:extLst>
          </p:cNvPr>
          <p:cNvSpPr/>
          <p:nvPr/>
        </p:nvSpPr>
        <p:spPr>
          <a:xfrm>
            <a:off x="547992" y="2259427"/>
            <a:ext cx="1402079" cy="1838960"/>
          </a:xfrm>
          <a:prstGeom prst="roundRect">
            <a:avLst/>
          </a:prstGeom>
          <a:ln w="38100">
            <a:solidFill>
              <a:schemeClr val="accent2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Main Task</a:t>
            </a:r>
          </a:p>
          <a:p>
            <a:pPr algn="ctr"/>
            <a:r>
              <a:rPr lang="en-IN" dirty="0"/>
              <a:t>-Receive Flag variable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5E1023A-0150-4916-6910-F594AF4AA126}"/>
              </a:ext>
            </a:extLst>
          </p:cNvPr>
          <p:cNvSpPr/>
          <p:nvPr/>
        </p:nvSpPr>
        <p:spPr>
          <a:xfrm>
            <a:off x="6633832" y="2599727"/>
            <a:ext cx="1402079" cy="1838960"/>
          </a:xfrm>
          <a:prstGeom prst="roundRect">
            <a:avLst/>
          </a:prstGeom>
          <a:ln w="38100">
            <a:solidFill>
              <a:schemeClr val="accent2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Main Task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FA375EB-D08F-C45D-36F8-D8EC725633D0}"/>
              </a:ext>
            </a:extLst>
          </p:cNvPr>
          <p:cNvSpPr/>
          <p:nvPr/>
        </p:nvSpPr>
        <p:spPr>
          <a:xfrm>
            <a:off x="8564295" y="5011589"/>
            <a:ext cx="1402079" cy="834892"/>
          </a:xfrm>
          <a:prstGeom prst="roundRect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Interrupt</a:t>
            </a:r>
          </a:p>
          <a:p>
            <a:pPr algn="ctr"/>
            <a:r>
              <a:rPr lang="en-IN" b="1" dirty="0"/>
              <a:t>Task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E6F5819-376C-10FB-9C65-78FE10F88149}"/>
              </a:ext>
            </a:extLst>
          </p:cNvPr>
          <p:cNvSpPr/>
          <p:nvPr/>
        </p:nvSpPr>
        <p:spPr>
          <a:xfrm>
            <a:off x="1950071" y="4867994"/>
            <a:ext cx="1402079" cy="834892"/>
          </a:xfrm>
          <a:prstGeom prst="roundRect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Interrupt</a:t>
            </a:r>
          </a:p>
          <a:p>
            <a:pPr algn="ctr"/>
            <a:r>
              <a:rPr lang="en-IN" b="1" dirty="0"/>
              <a:t>Task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B786062-D606-E8B3-48CD-4025305CF54B}"/>
              </a:ext>
            </a:extLst>
          </p:cNvPr>
          <p:cNvSpPr/>
          <p:nvPr/>
        </p:nvSpPr>
        <p:spPr>
          <a:xfrm>
            <a:off x="3710938" y="2259427"/>
            <a:ext cx="1488440" cy="1838960"/>
          </a:xfrm>
          <a:prstGeom prst="roundRect">
            <a:avLst/>
          </a:prstGeom>
          <a:ln w="38100">
            <a:solidFill>
              <a:schemeClr val="accent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Interrupt</a:t>
            </a:r>
          </a:p>
          <a:p>
            <a:pPr algn="ctr"/>
            <a:r>
              <a:rPr lang="en-IN" dirty="0"/>
              <a:t>-Update flag variable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4AE5B1E-63DD-47B8-D3F1-483800E296D2}"/>
              </a:ext>
            </a:extLst>
          </p:cNvPr>
          <p:cNvSpPr/>
          <p:nvPr/>
        </p:nvSpPr>
        <p:spPr>
          <a:xfrm>
            <a:off x="10424156" y="2509520"/>
            <a:ext cx="1488440" cy="1838960"/>
          </a:xfrm>
          <a:prstGeom prst="roundRect">
            <a:avLst/>
          </a:prstGeom>
          <a:ln w="38100">
            <a:solidFill>
              <a:schemeClr val="accent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Interrupt</a:t>
            </a:r>
          </a:p>
          <a:p>
            <a:pPr algn="ctr"/>
            <a:r>
              <a:rPr lang="en-IN" dirty="0"/>
              <a:t>-Update flag variable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9CE5F69-703B-BCA3-0CA1-ACD3C5C946B0}"/>
              </a:ext>
            </a:extLst>
          </p:cNvPr>
          <p:cNvSpPr/>
          <p:nvPr/>
        </p:nvSpPr>
        <p:spPr>
          <a:xfrm>
            <a:off x="8446808" y="1273038"/>
            <a:ext cx="1875747" cy="1084082"/>
          </a:xfrm>
          <a:prstGeom prst="roundRect">
            <a:avLst/>
          </a:prstGeom>
          <a:ln w="38100">
            <a:solidFill>
              <a:srgbClr val="7030A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dirty="0"/>
              <a:t>         </a:t>
            </a:r>
            <a:r>
              <a:rPr lang="en-IN" b="1" dirty="0"/>
              <a:t>RTOS</a:t>
            </a:r>
          </a:p>
          <a:p>
            <a:pPr marL="285750" indent="-285750">
              <a:buFontTx/>
              <a:buChar char="-"/>
            </a:pPr>
            <a:r>
              <a:rPr lang="en-IN" dirty="0"/>
              <a:t>Scheduler</a:t>
            </a:r>
          </a:p>
          <a:p>
            <a:pPr marL="285750" indent="-285750">
              <a:buFontTx/>
              <a:buChar char="-"/>
            </a:pPr>
            <a:r>
              <a:rPr lang="en-IN" dirty="0"/>
              <a:t>Receive flag variable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3267E4E-0FA1-80F4-2D04-5D56AEF22AD3}"/>
              </a:ext>
            </a:extLst>
          </p:cNvPr>
          <p:cNvSpPr/>
          <p:nvPr/>
        </p:nvSpPr>
        <p:spPr>
          <a:xfrm>
            <a:off x="1040753" y="1701859"/>
            <a:ext cx="452763" cy="421581"/>
          </a:xfrm>
          <a:prstGeom prst="ellipse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2DF94C3-135F-4F90-78B3-676D96795F9C}"/>
              </a:ext>
            </a:extLst>
          </p:cNvPr>
          <p:cNvSpPr/>
          <p:nvPr/>
        </p:nvSpPr>
        <p:spPr>
          <a:xfrm>
            <a:off x="4228776" y="1663833"/>
            <a:ext cx="452763" cy="421581"/>
          </a:xfrm>
          <a:prstGeom prst="ellipse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2F15BD4-B435-CE79-D12A-948BE2CD0D59}"/>
              </a:ext>
            </a:extLst>
          </p:cNvPr>
          <p:cNvSpPr/>
          <p:nvPr/>
        </p:nvSpPr>
        <p:spPr>
          <a:xfrm>
            <a:off x="2064052" y="2968116"/>
            <a:ext cx="452763" cy="421581"/>
          </a:xfrm>
          <a:prstGeom prst="ellipse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CEB1C6E5-7638-2195-1E1E-F8CCDC0B6F90}"/>
              </a:ext>
            </a:extLst>
          </p:cNvPr>
          <p:cNvSpPr/>
          <p:nvPr/>
        </p:nvSpPr>
        <p:spPr>
          <a:xfrm>
            <a:off x="2473310" y="4369580"/>
            <a:ext cx="452763" cy="421581"/>
          </a:xfrm>
          <a:prstGeom prst="ellipse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C99832E-0754-3BA3-9EEE-4BFB96E4DCF4}"/>
              </a:ext>
            </a:extLst>
          </p:cNvPr>
          <p:cNvSpPr/>
          <p:nvPr/>
        </p:nvSpPr>
        <p:spPr>
          <a:xfrm>
            <a:off x="7046439" y="2075930"/>
            <a:ext cx="452763" cy="421581"/>
          </a:xfrm>
          <a:prstGeom prst="ellipse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DF05B84-AED3-1065-A796-D2044AAE6350}"/>
              </a:ext>
            </a:extLst>
          </p:cNvPr>
          <p:cNvSpPr/>
          <p:nvPr/>
        </p:nvSpPr>
        <p:spPr>
          <a:xfrm>
            <a:off x="10924865" y="1999790"/>
            <a:ext cx="452763" cy="421581"/>
          </a:xfrm>
          <a:prstGeom prst="ellipse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C0EF3BC-7CEC-E09D-DB4F-E4CE4C8B0654}"/>
              </a:ext>
            </a:extLst>
          </p:cNvPr>
          <p:cNvSpPr/>
          <p:nvPr/>
        </p:nvSpPr>
        <p:spPr>
          <a:xfrm>
            <a:off x="7919272" y="1578209"/>
            <a:ext cx="452763" cy="421581"/>
          </a:xfrm>
          <a:prstGeom prst="ellipse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247D65BF-5CE7-CF35-0A84-71ABAAAF0F50}"/>
              </a:ext>
            </a:extLst>
          </p:cNvPr>
          <p:cNvSpPr/>
          <p:nvPr/>
        </p:nvSpPr>
        <p:spPr>
          <a:xfrm>
            <a:off x="10397328" y="1556973"/>
            <a:ext cx="452763" cy="421581"/>
          </a:xfrm>
          <a:prstGeom prst="ellipse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A474A14-DF63-D687-E8CF-94A6BD6C6E35}"/>
              </a:ext>
            </a:extLst>
          </p:cNvPr>
          <p:cNvSpPr/>
          <p:nvPr/>
        </p:nvSpPr>
        <p:spPr>
          <a:xfrm>
            <a:off x="9003652" y="4469090"/>
            <a:ext cx="452763" cy="421581"/>
          </a:xfrm>
          <a:prstGeom prst="ellipse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2AF8EA56-C43E-3F1E-64F4-B46982CBC69B}"/>
              </a:ext>
            </a:extLst>
          </p:cNvPr>
          <p:cNvSpPr/>
          <p:nvPr/>
        </p:nvSpPr>
        <p:spPr>
          <a:xfrm>
            <a:off x="8119805" y="3262773"/>
            <a:ext cx="452763" cy="421581"/>
          </a:xfrm>
          <a:prstGeom prst="ellipse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0056620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3BCE14-31B8-30F2-4A07-35E6E9C40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1C2FA91-6C68-FE86-B9A3-6F1CF2E7A502}"/>
              </a:ext>
            </a:extLst>
          </p:cNvPr>
          <p:cNvSpPr txBox="1">
            <a:spLocks/>
          </p:cNvSpPr>
          <p:nvPr/>
        </p:nvSpPr>
        <p:spPr>
          <a:xfrm>
            <a:off x="452192" y="866593"/>
            <a:ext cx="2128959" cy="67952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F8FC170-CAA6-F2DC-AAF2-89A6C478C7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0881796"/>
              </p:ext>
            </p:extLst>
          </p:nvPr>
        </p:nvGraphicFramePr>
        <p:xfrm>
          <a:off x="703243" y="1699709"/>
          <a:ext cx="10363771" cy="189748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363771">
                  <a:extLst>
                    <a:ext uri="{9D8B030D-6E8A-4147-A177-3AD203B41FA5}">
                      <a16:colId xmlns:a16="http://schemas.microsoft.com/office/drawing/2014/main" val="1215811252"/>
                    </a:ext>
                  </a:extLst>
                </a:gridCol>
              </a:tblGrid>
              <a:tr h="632494">
                <a:tc>
                  <a:txBody>
                    <a:bodyPr/>
                    <a:lstStyle/>
                    <a:p>
                      <a:pPr algn="l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Task 1   (Priority – 1) (low priority)        </a:t>
                      </a:r>
                      <a:r>
                        <a:rPr lang="en-IN" sz="20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|   </a:t>
                      </a:r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Not periodic and not triggered by external events</a:t>
                      </a:r>
                      <a:endParaRPr lang="en-IN" sz="2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3822448"/>
                  </a:ext>
                </a:extLst>
              </a:tr>
              <a:tr h="63249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Task 2   (Priority – 2)                               |   Every 1 sec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3548058"/>
                  </a:ext>
                </a:extLst>
              </a:tr>
              <a:tr h="632494">
                <a:tc>
                  <a:txBody>
                    <a:bodyPr/>
                    <a:lstStyle/>
                    <a:p>
                      <a:pPr algn="l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Task 3   (Priority – 3) (High priority)      |   Event driven . Needs when external button pressed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461448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B886FE20-E4FC-A6FD-E9D9-CD444E18332D}"/>
              </a:ext>
            </a:extLst>
          </p:cNvPr>
          <p:cNvSpPr/>
          <p:nvPr/>
        </p:nvSpPr>
        <p:spPr>
          <a:xfrm>
            <a:off x="715352" y="4218593"/>
            <a:ext cx="914400" cy="555278"/>
          </a:xfrm>
          <a:prstGeom prst="rect">
            <a:avLst/>
          </a:prstGeom>
          <a:ln w="2857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748F214-9C92-EECE-B92F-24B67C0E64AE}"/>
              </a:ext>
            </a:extLst>
          </p:cNvPr>
          <p:cNvSpPr/>
          <p:nvPr/>
        </p:nvSpPr>
        <p:spPr>
          <a:xfrm>
            <a:off x="4310619" y="4211241"/>
            <a:ext cx="914400" cy="555278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6B34BEF-6E1C-90EF-53DF-0D7214A6FA7F}"/>
              </a:ext>
            </a:extLst>
          </p:cNvPr>
          <p:cNvSpPr/>
          <p:nvPr/>
        </p:nvSpPr>
        <p:spPr>
          <a:xfrm>
            <a:off x="8105651" y="4219104"/>
            <a:ext cx="914400" cy="555278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3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7E44E6B1-7BF4-8863-7ACC-865C5CF5F4FF}"/>
              </a:ext>
            </a:extLst>
          </p:cNvPr>
          <p:cNvSpPr txBox="1">
            <a:spLocks/>
          </p:cNvSpPr>
          <p:nvPr/>
        </p:nvSpPr>
        <p:spPr>
          <a:xfrm>
            <a:off x="1629752" y="4322715"/>
            <a:ext cx="1668254" cy="45498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Led blink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0EDF2241-723D-01AA-184F-6F61462CAB16}"/>
              </a:ext>
            </a:extLst>
          </p:cNvPr>
          <p:cNvSpPr txBox="1">
            <a:spLocks/>
          </p:cNvSpPr>
          <p:nvPr/>
        </p:nvSpPr>
        <p:spPr>
          <a:xfrm>
            <a:off x="5225019" y="4240395"/>
            <a:ext cx="2128246" cy="55527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Read Sensor data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(1 sec)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DCB0C1CD-84DD-5EA4-B761-0AFEDD2B3AE6}"/>
              </a:ext>
            </a:extLst>
          </p:cNvPr>
          <p:cNvSpPr txBox="1">
            <a:spLocks/>
          </p:cNvSpPr>
          <p:nvPr/>
        </p:nvSpPr>
        <p:spPr>
          <a:xfrm>
            <a:off x="9174719" y="4254135"/>
            <a:ext cx="2128246" cy="55527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Alarm beep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(External Event)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D5614CA-FB50-E503-4768-CC121D5C3FF6}"/>
              </a:ext>
            </a:extLst>
          </p:cNvPr>
          <p:cNvCxnSpPr>
            <a:cxnSpLocks/>
          </p:cNvCxnSpPr>
          <p:nvPr/>
        </p:nvCxnSpPr>
        <p:spPr>
          <a:xfrm flipV="1">
            <a:off x="4788139" y="5134015"/>
            <a:ext cx="0" cy="67056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56CE4F3-E933-1AAE-B656-BA979F35620A}"/>
              </a:ext>
            </a:extLst>
          </p:cNvPr>
          <p:cNvCxnSpPr>
            <a:cxnSpLocks/>
          </p:cNvCxnSpPr>
          <p:nvPr/>
        </p:nvCxnSpPr>
        <p:spPr>
          <a:xfrm flipV="1">
            <a:off x="8547339" y="5164495"/>
            <a:ext cx="0" cy="67056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4" name="Title 1">
            <a:extLst>
              <a:ext uri="{FF2B5EF4-FFF2-40B4-BE49-F238E27FC236}">
                <a16:creationId xmlns:a16="http://schemas.microsoft.com/office/drawing/2014/main" id="{C6DEA38E-6065-0C5D-198E-176C656EE65F}"/>
              </a:ext>
            </a:extLst>
          </p:cNvPr>
          <p:cNvSpPr txBox="1">
            <a:spLocks/>
          </p:cNvSpPr>
          <p:nvPr/>
        </p:nvSpPr>
        <p:spPr>
          <a:xfrm>
            <a:off x="5285979" y="5185275"/>
            <a:ext cx="2128246" cy="55527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Every 1 sec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403D08C9-DD06-10E1-1770-0CFE97D78952}"/>
              </a:ext>
            </a:extLst>
          </p:cNvPr>
          <p:cNvSpPr txBox="1">
            <a:spLocks/>
          </p:cNvSpPr>
          <p:nvPr/>
        </p:nvSpPr>
        <p:spPr>
          <a:xfrm>
            <a:off x="9184879" y="5259457"/>
            <a:ext cx="2128246" cy="55527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Button pressed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8712AC0-A8E1-9573-17D8-499DF864ED22}"/>
              </a:ext>
            </a:extLst>
          </p:cNvPr>
          <p:cNvSpPr txBox="1">
            <a:spLocks/>
          </p:cNvSpPr>
          <p:nvPr/>
        </p:nvSpPr>
        <p:spPr>
          <a:xfrm>
            <a:off x="5343820" y="150622"/>
            <a:ext cx="2022384" cy="93503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Activity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C3926E5-A2C5-3919-D66C-EBDBD815C5D3}"/>
              </a:ext>
            </a:extLst>
          </p:cNvPr>
          <p:cNvGrpSpPr/>
          <p:nvPr/>
        </p:nvGrpSpPr>
        <p:grpSpPr>
          <a:xfrm>
            <a:off x="0" y="6466566"/>
            <a:ext cx="12192000" cy="403007"/>
            <a:chOff x="0" y="6478141"/>
            <a:chExt cx="12192000" cy="403007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693DF814-C659-7C75-BB65-6CA1A7F54122}"/>
                </a:ext>
              </a:extLst>
            </p:cNvPr>
            <p:cNvSpPr/>
            <p:nvPr/>
          </p:nvSpPr>
          <p:spPr>
            <a:xfrm>
              <a:off x="0" y="6484069"/>
              <a:ext cx="12192000" cy="397079"/>
            </a:xfrm>
            <a:prstGeom prst="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dirty="0"/>
                <a:t>                   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Jai Raja Saravanam S                                                                                                        </a:t>
              </a:r>
              <a:r>
                <a:rPr lang="en-IN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Emcog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Solutions</a:t>
              </a:r>
              <a:r>
                <a:rPr lang="en-IN" dirty="0"/>
                <a:t> </a:t>
              </a: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47EB61CE-B0AD-3768-1D44-6B3D6DB676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734477" y="6478141"/>
              <a:ext cx="349866" cy="3830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954347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B97073-16FF-4FF1-5F30-7341507AA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978D4320-D918-05E6-0AAD-96D97135C888}"/>
              </a:ext>
            </a:extLst>
          </p:cNvPr>
          <p:cNvSpPr txBox="1">
            <a:spLocks/>
          </p:cNvSpPr>
          <p:nvPr/>
        </p:nvSpPr>
        <p:spPr>
          <a:xfrm>
            <a:off x="155111" y="654116"/>
            <a:ext cx="5648177" cy="6315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 loop (without interrupt)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B11584F-98C4-879A-1A6C-632BF540EEAA}"/>
              </a:ext>
            </a:extLst>
          </p:cNvPr>
          <p:cNvSpPr/>
          <p:nvPr/>
        </p:nvSpPr>
        <p:spPr>
          <a:xfrm>
            <a:off x="812800" y="4961602"/>
            <a:ext cx="914400" cy="555278"/>
          </a:xfrm>
          <a:prstGeom prst="rect">
            <a:avLst/>
          </a:prstGeom>
          <a:ln w="2857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816C940-2594-05A0-5181-AC484DF709DA}"/>
              </a:ext>
            </a:extLst>
          </p:cNvPr>
          <p:cNvSpPr/>
          <p:nvPr/>
        </p:nvSpPr>
        <p:spPr>
          <a:xfrm>
            <a:off x="1767840" y="4961602"/>
            <a:ext cx="914400" cy="555278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A1F86B5-AE19-71DB-BCC5-A8D1C7BC3266}"/>
              </a:ext>
            </a:extLst>
          </p:cNvPr>
          <p:cNvSpPr/>
          <p:nvPr/>
        </p:nvSpPr>
        <p:spPr>
          <a:xfrm>
            <a:off x="2717800" y="4959062"/>
            <a:ext cx="914400" cy="555278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3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6C47DF7-5DA1-EAD8-0713-FACFD05F9072}"/>
              </a:ext>
            </a:extLst>
          </p:cNvPr>
          <p:cNvCxnSpPr>
            <a:cxnSpLocks/>
          </p:cNvCxnSpPr>
          <p:nvPr/>
        </p:nvCxnSpPr>
        <p:spPr>
          <a:xfrm flipH="1" flipV="1">
            <a:off x="1744085" y="5865444"/>
            <a:ext cx="5352" cy="34544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1029F80-6FB1-2017-1AE2-D55600621634}"/>
              </a:ext>
            </a:extLst>
          </p:cNvPr>
          <p:cNvCxnSpPr>
            <a:cxnSpLocks/>
          </p:cNvCxnSpPr>
          <p:nvPr/>
        </p:nvCxnSpPr>
        <p:spPr>
          <a:xfrm flipV="1">
            <a:off x="2709285" y="5866780"/>
            <a:ext cx="0" cy="34410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3B682B1-6536-7706-909F-24D3B382DB7C}"/>
              </a:ext>
            </a:extLst>
          </p:cNvPr>
          <p:cNvCxnSpPr>
            <a:cxnSpLocks/>
          </p:cNvCxnSpPr>
          <p:nvPr/>
        </p:nvCxnSpPr>
        <p:spPr>
          <a:xfrm flipH="1" flipV="1">
            <a:off x="4663439" y="5865444"/>
            <a:ext cx="5352" cy="34544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28C90D81-D21B-7ACF-B5E1-52293E553AE0}"/>
              </a:ext>
            </a:extLst>
          </p:cNvPr>
          <p:cNvSpPr/>
          <p:nvPr/>
        </p:nvSpPr>
        <p:spPr>
          <a:xfrm>
            <a:off x="3671222" y="4957504"/>
            <a:ext cx="1357977" cy="555278"/>
          </a:xfrm>
          <a:prstGeom prst="rect">
            <a:avLst/>
          </a:prstGeom>
          <a:ln w="2857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1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12E68D1-026D-882D-4DA5-7CCC1F211599}"/>
              </a:ext>
            </a:extLst>
          </p:cNvPr>
          <p:cNvSpPr/>
          <p:nvPr/>
        </p:nvSpPr>
        <p:spPr>
          <a:xfrm>
            <a:off x="5039359" y="4957504"/>
            <a:ext cx="914400" cy="555278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2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F663198-9145-3F53-E9BB-1F144C9323DB}"/>
              </a:ext>
            </a:extLst>
          </p:cNvPr>
          <p:cNvCxnSpPr>
            <a:cxnSpLocks/>
          </p:cNvCxnSpPr>
          <p:nvPr/>
        </p:nvCxnSpPr>
        <p:spPr>
          <a:xfrm flipV="1">
            <a:off x="4876799" y="5866028"/>
            <a:ext cx="0" cy="34410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1376C1F0-787B-38BF-07FB-67836A3EB550}"/>
              </a:ext>
            </a:extLst>
          </p:cNvPr>
          <p:cNvSpPr/>
          <p:nvPr/>
        </p:nvSpPr>
        <p:spPr>
          <a:xfrm>
            <a:off x="5981700" y="4957030"/>
            <a:ext cx="914400" cy="555278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3</a:t>
            </a:r>
          </a:p>
        </p:txBody>
      </p:sp>
      <p:sp>
        <p:nvSpPr>
          <p:cNvPr id="35" name="Title 1">
            <a:extLst>
              <a:ext uri="{FF2B5EF4-FFF2-40B4-BE49-F238E27FC236}">
                <a16:creationId xmlns:a16="http://schemas.microsoft.com/office/drawing/2014/main" id="{2D9C9265-759F-208D-D3C1-1E6149AA7792}"/>
              </a:ext>
            </a:extLst>
          </p:cNvPr>
          <p:cNvSpPr txBox="1">
            <a:spLocks/>
          </p:cNvSpPr>
          <p:nvPr/>
        </p:nvSpPr>
        <p:spPr>
          <a:xfrm>
            <a:off x="2187609" y="1332086"/>
            <a:ext cx="5720081" cy="315771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800" b="1" dirty="0">
                <a:latin typeface="Consolas" panose="020B0609020204030204" pitchFamily="49" charset="0"/>
                <a:cs typeface="Times New Roman" panose="02020603050405020304" pitchFamily="18" charset="0"/>
              </a:rPr>
              <a:t>int main(){</a:t>
            </a:r>
          </a:p>
          <a:p>
            <a:r>
              <a:rPr lang="en-IN" sz="2800" b="1" dirty="0" err="1">
                <a:latin typeface="Consolas" panose="020B0609020204030204" pitchFamily="49" charset="0"/>
                <a:cs typeface="Times New Roman" panose="02020603050405020304" pitchFamily="18" charset="0"/>
              </a:rPr>
              <a:t>Initial_setup</a:t>
            </a:r>
            <a:r>
              <a:rPr lang="en-IN" sz="2800" b="1" dirty="0">
                <a:latin typeface="Consolas" panose="020B0609020204030204" pitchFamily="49" charset="0"/>
                <a:cs typeface="Times New Roman" panose="02020603050405020304" pitchFamily="18" charset="0"/>
              </a:rPr>
              <a:t>();</a:t>
            </a:r>
          </a:p>
          <a:p>
            <a:r>
              <a:rPr lang="en-IN" sz="2800" b="1" dirty="0">
                <a:latin typeface="Consolas" panose="020B0609020204030204" pitchFamily="49" charset="0"/>
                <a:cs typeface="Times New Roman" panose="02020603050405020304" pitchFamily="18" charset="0"/>
              </a:rPr>
              <a:t>while(1){</a:t>
            </a:r>
          </a:p>
          <a:p>
            <a:r>
              <a:rPr lang="en-IN" sz="2800" b="1" dirty="0">
                <a:latin typeface="Consolas" panose="020B0609020204030204" pitchFamily="49" charset="0"/>
                <a:cs typeface="Times New Roman" panose="02020603050405020304" pitchFamily="18" charset="0"/>
              </a:rPr>
              <a:t>          Task1();</a:t>
            </a:r>
          </a:p>
          <a:p>
            <a:r>
              <a:rPr lang="en-IN" sz="2800" b="1" dirty="0">
                <a:latin typeface="Consolas" panose="020B0609020204030204" pitchFamily="49" charset="0"/>
                <a:cs typeface="Times New Roman" panose="02020603050405020304" pitchFamily="18" charset="0"/>
              </a:rPr>
              <a:t>          Task2();</a:t>
            </a:r>
          </a:p>
          <a:p>
            <a:r>
              <a:rPr lang="en-IN" sz="2800" b="1" dirty="0">
                <a:latin typeface="Consolas" panose="020B0609020204030204" pitchFamily="49" charset="0"/>
                <a:cs typeface="Times New Roman" panose="02020603050405020304" pitchFamily="18" charset="0"/>
              </a:rPr>
              <a:t>          Task3();</a:t>
            </a:r>
          </a:p>
          <a:p>
            <a:r>
              <a:rPr lang="en-IN" sz="2800" b="1" dirty="0">
                <a:latin typeface="Consolas" panose="020B0609020204030204" pitchFamily="49" charset="0"/>
                <a:cs typeface="Times New Roman" panose="02020603050405020304" pitchFamily="18" charset="0"/>
              </a:rPr>
              <a:t>    }</a:t>
            </a:r>
          </a:p>
          <a:p>
            <a:r>
              <a:rPr lang="en-IN" sz="2800" b="1" dirty="0">
                <a:latin typeface="Consolas" panose="020B0609020204030204" pitchFamily="49" charset="0"/>
                <a:cs typeface="Times New Roman" panose="02020603050405020304" pitchFamily="18" charset="0"/>
              </a:rPr>
              <a:t>   return 0;        }</a:t>
            </a:r>
            <a:endParaRPr lang="en-IN" b="1" dirty="0"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3AED4E23-7227-2B68-4DFE-0A97C8052DA4}"/>
              </a:ext>
            </a:extLst>
          </p:cNvPr>
          <p:cNvCxnSpPr>
            <a:cxnSpLocks/>
          </p:cNvCxnSpPr>
          <p:nvPr/>
        </p:nvCxnSpPr>
        <p:spPr>
          <a:xfrm flipH="1" flipV="1">
            <a:off x="7513046" y="5864692"/>
            <a:ext cx="5352" cy="34544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0DC49F9D-860F-2CF6-3EE2-465D3B21678A}"/>
              </a:ext>
            </a:extLst>
          </p:cNvPr>
          <p:cNvSpPr/>
          <p:nvPr/>
        </p:nvSpPr>
        <p:spPr>
          <a:xfrm>
            <a:off x="6906260" y="4957030"/>
            <a:ext cx="580877" cy="555278"/>
          </a:xfrm>
          <a:prstGeom prst="rect">
            <a:avLst/>
          </a:prstGeom>
          <a:ln w="2857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1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F5B9D73-98B4-B735-6F50-393FC4FE8ECB}"/>
              </a:ext>
            </a:extLst>
          </p:cNvPr>
          <p:cNvSpPr/>
          <p:nvPr/>
        </p:nvSpPr>
        <p:spPr>
          <a:xfrm>
            <a:off x="7517891" y="4953440"/>
            <a:ext cx="914400" cy="555278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2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DC173598-0EB3-68A9-A3A8-A889BE1D15BF}"/>
              </a:ext>
            </a:extLst>
          </p:cNvPr>
          <p:cNvCxnSpPr>
            <a:cxnSpLocks/>
          </p:cNvCxnSpPr>
          <p:nvPr/>
        </p:nvCxnSpPr>
        <p:spPr>
          <a:xfrm flipV="1">
            <a:off x="7570850" y="5867552"/>
            <a:ext cx="0" cy="34410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CF7445C0-4365-29BB-FC9A-25C5CA77C4E1}"/>
              </a:ext>
            </a:extLst>
          </p:cNvPr>
          <p:cNvSpPr/>
          <p:nvPr/>
        </p:nvSpPr>
        <p:spPr>
          <a:xfrm>
            <a:off x="8484870" y="4964650"/>
            <a:ext cx="914400" cy="555278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3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71CA3887-4051-B61E-1F1A-E3C5C3DB0801}"/>
              </a:ext>
            </a:extLst>
          </p:cNvPr>
          <p:cNvGrpSpPr/>
          <p:nvPr/>
        </p:nvGrpSpPr>
        <p:grpSpPr>
          <a:xfrm>
            <a:off x="8802870" y="1099914"/>
            <a:ext cx="3234019" cy="2806890"/>
            <a:chOff x="8840780" y="-434177"/>
            <a:chExt cx="3087405" cy="37039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B5632F6-4118-6AD1-246F-BD47F3B76F1E}"/>
                </a:ext>
              </a:extLst>
            </p:cNvPr>
            <p:cNvSpPr/>
            <p:nvPr/>
          </p:nvSpPr>
          <p:spPr>
            <a:xfrm>
              <a:off x="8840780" y="-434177"/>
              <a:ext cx="914400" cy="555278"/>
            </a:xfrm>
            <a:prstGeom prst="rect">
              <a:avLst/>
            </a:prstGeom>
            <a:ln w="28575"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Task 1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1FE03C8-8713-DAA0-6AB2-E8F5E6236372}"/>
                </a:ext>
              </a:extLst>
            </p:cNvPr>
            <p:cNvSpPr/>
            <p:nvPr/>
          </p:nvSpPr>
          <p:spPr>
            <a:xfrm>
              <a:off x="8840780" y="404870"/>
              <a:ext cx="914400" cy="555278"/>
            </a:xfrm>
            <a:prstGeom prst="rect">
              <a:avLst/>
            </a:prstGeom>
            <a:ln w="28575">
              <a:solidFill>
                <a:srgbClr val="FF0000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Task 2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2BAD698-316B-DD90-5837-1C02CE43F14A}"/>
                </a:ext>
              </a:extLst>
            </p:cNvPr>
            <p:cNvSpPr/>
            <p:nvPr/>
          </p:nvSpPr>
          <p:spPr>
            <a:xfrm>
              <a:off x="8840780" y="1282018"/>
              <a:ext cx="914400" cy="555278"/>
            </a:xfrm>
            <a:prstGeom prst="rect">
              <a:avLst/>
            </a:prstGeom>
            <a:ln w="28575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accent6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Task 3</a:t>
              </a:r>
            </a:p>
          </p:txBody>
        </p:sp>
        <p:sp>
          <p:nvSpPr>
            <p:cNvPr id="9" name="Title 1">
              <a:extLst>
                <a:ext uri="{FF2B5EF4-FFF2-40B4-BE49-F238E27FC236}">
                  <a16:creationId xmlns:a16="http://schemas.microsoft.com/office/drawing/2014/main" id="{944B8CC1-E896-6C60-FBEF-A8F6973F8D5F}"/>
                </a:ext>
              </a:extLst>
            </p:cNvPr>
            <p:cNvSpPr txBox="1">
              <a:spLocks/>
            </p:cNvSpPr>
            <p:nvPr/>
          </p:nvSpPr>
          <p:spPr>
            <a:xfrm>
              <a:off x="9755180" y="-330055"/>
              <a:ext cx="1668254" cy="454986"/>
            </a:xfrm>
            <a:prstGeom prst="rect">
              <a:avLst/>
            </a:prstGeom>
          </p:spPr>
          <p:txBody>
            <a:bodyPr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 Led blink</a:t>
              </a:r>
              <a:endParaRPr lang="en-IN" sz="3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Title 1">
              <a:extLst>
                <a:ext uri="{FF2B5EF4-FFF2-40B4-BE49-F238E27FC236}">
                  <a16:creationId xmlns:a16="http://schemas.microsoft.com/office/drawing/2014/main" id="{2E69FDA2-B75A-F242-7218-7F264A975A72}"/>
                </a:ext>
              </a:extLst>
            </p:cNvPr>
            <p:cNvSpPr txBox="1">
              <a:spLocks/>
            </p:cNvSpPr>
            <p:nvPr/>
          </p:nvSpPr>
          <p:spPr>
            <a:xfrm>
              <a:off x="9755180" y="434024"/>
              <a:ext cx="2128246" cy="555278"/>
            </a:xfrm>
            <a:prstGeom prst="rect">
              <a:avLst/>
            </a:prstGeom>
          </p:spPr>
          <p:txBody>
            <a:bodyPr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 Read Sensor data</a:t>
              </a:r>
            </a:p>
            <a:p>
              <a:r>
                <a: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(1 sec)</a:t>
              </a:r>
              <a:endParaRPr lang="en-IN" sz="3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Title 1">
              <a:extLst>
                <a:ext uri="{FF2B5EF4-FFF2-40B4-BE49-F238E27FC236}">
                  <a16:creationId xmlns:a16="http://schemas.microsoft.com/office/drawing/2014/main" id="{7E48799A-E7E1-6ACC-C342-FF0A2A06572F}"/>
                </a:ext>
              </a:extLst>
            </p:cNvPr>
            <p:cNvSpPr txBox="1">
              <a:spLocks/>
            </p:cNvSpPr>
            <p:nvPr/>
          </p:nvSpPr>
          <p:spPr>
            <a:xfrm>
              <a:off x="9780987" y="1269132"/>
              <a:ext cx="2128246" cy="555278"/>
            </a:xfrm>
            <a:prstGeom prst="rect">
              <a:avLst/>
            </a:prstGeom>
          </p:spPr>
          <p:txBody>
            <a:bodyPr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 Alarm beep</a:t>
              </a:r>
            </a:p>
            <a:p>
              <a:r>
                <a: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(External Event)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92FA2A54-939C-DC5A-50BF-E66993CE0D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25113" y="2026628"/>
              <a:ext cx="0" cy="36064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3CEA1CA3-D84E-526B-6227-A8C196F76B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25113" y="2714445"/>
              <a:ext cx="0" cy="346519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27" name="Title 1">
              <a:extLst>
                <a:ext uri="{FF2B5EF4-FFF2-40B4-BE49-F238E27FC236}">
                  <a16:creationId xmlns:a16="http://schemas.microsoft.com/office/drawing/2014/main" id="{DBE60C2D-820C-A308-7425-0A9EFA58CA75}"/>
                </a:ext>
              </a:extLst>
            </p:cNvPr>
            <p:cNvSpPr txBox="1">
              <a:spLocks/>
            </p:cNvSpPr>
            <p:nvPr/>
          </p:nvSpPr>
          <p:spPr>
            <a:xfrm>
              <a:off x="9776653" y="2031588"/>
              <a:ext cx="2128246" cy="555278"/>
            </a:xfrm>
            <a:prstGeom prst="rect">
              <a:avLst/>
            </a:prstGeom>
          </p:spPr>
          <p:txBody>
            <a:bodyPr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 Every 1 sec</a:t>
              </a:r>
              <a:endParaRPr lang="en-IN" sz="3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Title 1">
              <a:extLst>
                <a:ext uri="{FF2B5EF4-FFF2-40B4-BE49-F238E27FC236}">
                  <a16:creationId xmlns:a16="http://schemas.microsoft.com/office/drawing/2014/main" id="{34D087D6-9642-D03F-5CED-E21C09E25A7B}"/>
                </a:ext>
              </a:extLst>
            </p:cNvPr>
            <p:cNvSpPr txBox="1">
              <a:spLocks/>
            </p:cNvSpPr>
            <p:nvPr/>
          </p:nvSpPr>
          <p:spPr>
            <a:xfrm>
              <a:off x="9799939" y="2714445"/>
              <a:ext cx="2128246" cy="555278"/>
            </a:xfrm>
            <a:prstGeom prst="rect">
              <a:avLst/>
            </a:prstGeom>
          </p:spPr>
          <p:txBody>
            <a:bodyPr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 Button pressed</a:t>
              </a:r>
              <a:endParaRPr lang="en-IN" sz="3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1026" name="Picture 2" descr="Clock,Clip art,Alarm clock,Turquoise,Analog watch,Graphics,Wall clock ...">
            <a:extLst>
              <a:ext uri="{FF2B5EF4-FFF2-40B4-BE49-F238E27FC236}">
                <a16:creationId xmlns:a16="http://schemas.microsoft.com/office/drawing/2014/main" id="{9535BD80-AD30-AA1F-2091-7E64CBAFFC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7718" y="6287479"/>
            <a:ext cx="540243" cy="540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" name="Picture 2" descr="Clock,Clip art,Alarm clock,Turquoise,Analog watch,Graphics,Wall clock ...">
            <a:extLst>
              <a:ext uri="{FF2B5EF4-FFF2-40B4-BE49-F238E27FC236}">
                <a16:creationId xmlns:a16="http://schemas.microsoft.com/office/drawing/2014/main" id="{1BCAA6C3-5E3F-F740-4C7E-AE0BE8F7A0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5208" y="6274779"/>
            <a:ext cx="540243" cy="540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" name="Picture 2" descr="Clock,Clip art,Alarm clock,Turquoise,Analog watch,Graphics,Wall clock ...">
            <a:extLst>
              <a:ext uri="{FF2B5EF4-FFF2-40B4-BE49-F238E27FC236}">
                <a16:creationId xmlns:a16="http://schemas.microsoft.com/office/drawing/2014/main" id="{D6129129-73B7-9336-98A2-3316907AD4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6038" y="6287479"/>
            <a:ext cx="540243" cy="540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ush Button Icon 3 Types Color Stock Vector (Royalty Free) 1012989505 ...">
            <a:extLst>
              <a:ext uri="{FF2B5EF4-FFF2-40B4-BE49-F238E27FC236}">
                <a16:creationId xmlns:a16="http://schemas.microsoft.com/office/drawing/2014/main" id="{CE4C6A7F-1A64-30A6-06D5-528191C795C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308" t="19428" r="38103" b="26191"/>
          <a:stretch>
            <a:fillRect/>
          </a:stretch>
        </p:blipFill>
        <p:spPr bwMode="auto">
          <a:xfrm>
            <a:off x="2513571" y="6268601"/>
            <a:ext cx="465628" cy="577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9" name="Picture 4" descr="Push Button Icon 3 Types Color Stock Vector (Royalty Free) 1012989505 ...">
            <a:extLst>
              <a:ext uri="{FF2B5EF4-FFF2-40B4-BE49-F238E27FC236}">
                <a16:creationId xmlns:a16="http://schemas.microsoft.com/office/drawing/2014/main" id="{BE3684F4-6AFB-C85B-5454-047A0702A4C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308" t="19428" r="38103" b="26191"/>
          <a:stretch>
            <a:fillRect/>
          </a:stretch>
        </p:blipFill>
        <p:spPr bwMode="auto">
          <a:xfrm>
            <a:off x="4796385" y="6268600"/>
            <a:ext cx="465628" cy="577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" name="Picture 4" descr="Push Button Icon 3 Types Color Stock Vector (Royalty Free) 1012989505 ...">
            <a:extLst>
              <a:ext uri="{FF2B5EF4-FFF2-40B4-BE49-F238E27FC236}">
                <a16:creationId xmlns:a16="http://schemas.microsoft.com/office/drawing/2014/main" id="{B39FF421-C774-D203-AC81-59D96C5C437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308" t="19428" r="38103" b="26191"/>
          <a:stretch>
            <a:fillRect/>
          </a:stretch>
        </p:blipFill>
        <p:spPr bwMode="auto">
          <a:xfrm>
            <a:off x="7646281" y="6268601"/>
            <a:ext cx="465628" cy="577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CE923E2C-74DB-0ED8-A56E-65D7B375123D}"/>
              </a:ext>
            </a:extLst>
          </p:cNvPr>
          <p:cNvSpPr txBox="1">
            <a:spLocks/>
          </p:cNvSpPr>
          <p:nvPr/>
        </p:nvSpPr>
        <p:spPr>
          <a:xfrm>
            <a:off x="5343820" y="150622"/>
            <a:ext cx="2022384" cy="93503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Activity</a:t>
            </a:r>
          </a:p>
        </p:txBody>
      </p:sp>
    </p:spTree>
    <p:extLst>
      <p:ext uri="{BB962C8B-B14F-4D97-AF65-F5344CB8AC3E}">
        <p14:creationId xmlns:p14="http://schemas.microsoft.com/office/powerpoint/2010/main" val="37384081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00B9B-2A24-E660-BBA4-92C52E4BD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943E5B4-99B4-AF25-0963-114FBAFA46C3}"/>
              </a:ext>
            </a:extLst>
          </p:cNvPr>
          <p:cNvSpPr txBox="1">
            <a:spLocks/>
          </p:cNvSpPr>
          <p:nvPr/>
        </p:nvSpPr>
        <p:spPr>
          <a:xfrm>
            <a:off x="155111" y="654116"/>
            <a:ext cx="5648177" cy="6315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 loop (with interrupt)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834E940-0423-47CC-59F8-18FF91A54F88}"/>
              </a:ext>
            </a:extLst>
          </p:cNvPr>
          <p:cNvSpPr/>
          <p:nvPr/>
        </p:nvSpPr>
        <p:spPr>
          <a:xfrm>
            <a:off x="812800" y="4961602"/>
            <a:ext cx="914400" cy="555278"/>
          </a:xfrm>
          <a:prstGeom prst="rect">
            <a:avLst/>
          </a:prstGeom>
          <a:ln w="2857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BC3D472-4656-2758-7A9B-3EACD3408C02}"/>
              </a:ext>
            </a:extLst>
          </p:cNvPr>
          <p:cNvSpPr/>
          <p:nvPr/>
        </p:nvSpPr>
        <p:spPr>
          <a:xfrm>
            <a:off x="1767840" y="4961602"/>
            <a:ext cx="914400" cy="555278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BA1A213-B992-9D25-6E67-271EAB211507}"/>
              </a:ext>
            </a:extLst>
          </p:cNvPr>
          <p:cNvSpPr/>
          <p:nvPr/>
        </p:nvSpPr>
        <p:spPr>
          <a:xfrm>
            <a:off x="2717800" y="4959062"/>
            <a:ext cx="914400" cy="555278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3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6FCAF42-5C8E-AAD4-8413-B6B075BC6F5E}"/>
              </a:ext>
            </a:extLst>
          </p:cNvPr>
          <p:cNvCxnSpPr>
            <a:cxnSpLocks/>
          </p:cNvCxnSpPr>
          <p:nvPr/>
        </p:nvCxnSpPr>
        <p:spPr>
          <a:xfrm flipH="1" flipV="1">
            <a:off x="1744085" y="5865444"/>
            <a:ext cx="5352" cy="34544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6CD0C6E-9C94-C919-508B-4376EFCF6292}"/>
              </a:ext>
            </a:extLst>
          </p:cNvPr>
          <p:cNvCxnSpPr>
            <a:cxnSpLocks/>
          </p:cNvCxnSpPr>
          <p:nvPr/>
        </p:nvCxnSpPr>
        <p:spPr>
          <a:xfrm flipV="1">
            <a:off x="2709285" y="5866780"/>
            <a:ext cx="0" cy="34410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34A28AC-3F6E-0F29-C4AE-1BD810360405}"/>
              </a:ext>
            </a:extLst>
          </p:cNvPr>
          <p:cNvCxnSpPr>
            <a:cxnSpLocks/>
          </p:cNvCxnSpPr>
          <p:nvPr/>
        </p:nvCxnSpPr>
        <p:spPr>
          <a:xfrm flipH="1" flipV="1">
            <a:off x="4663439" y="5865444"/>
            <a:ext cx="5352" cy="34544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5C990077-B3D6-74F3-B89A-A9FA73374407}"/>
              </a:ext>
            </a:extLst>
          </p:cNvPr>
          <p:cNvSpPr/>
          <p:nvPr/>
        </p:nvSpPr>
        <p:spPr>
          <a:xfrm>
            <a:off x="3671223" y="4957504"/>
            <a:ext cx="942762" cy="555278"/>
          </a:xfrm>
          <a:prstGeom prst="rect">
            <a:avLst/>
          </a:prstGeom>
          <a:ln w="2857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1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CC48CD6-8440-AB84-C85F-1738ED2A0EEE}"/>
              </a:ext>
            </a:extLst>
          </p:cNvPr>
          <p:cNvSpPr/>
          <p:nvPr/>
        </p:nvSpPr>
        <p:spPr>
          <a:xfrm>
            <a:off x="4643448" y="4955506"/>
            <a:ext cx="233351" cy="555278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E3E47EF0-CDCB-73DD-71A7-126AEE067C4A}"/>
              </a:ext>
            </a:extLst>
          </p:cNvPr>
          <p:cNvCxnSpPr>
            <a:cxnSpLocks/>
          </p:cNvCxnSpPr>
          <p:nvPr/>
        </p:nvCxnSpPr>
        <p:spPr>
          <a:xfrm flipV="1">
            <a:off x="4876799" y="5866028"/>
            <a:ext cx="0" cy="34410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B0179EDF-3FF9-0510-218F-66DD363FCFF5}"/>
              </a:ext>
            </a:extLst>
          </p:cNvPr>
          <p:cNvSpPr/>
          <p:nvPr/>
        </p:nvSpPr>
        <p:spPr>
          <a:xfrm>
            <a:off x="4906262" y="4959536"/>
            <a:ext cx="914400" cy="555278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3</a:t>
            </a:r>
          </a:p>
        </p:txBody>
      </p:sp>
      <p:sp>
        <p:nvSpPr>
          <p:cNvPr id="35" name="Title 1">
            <a:extLst>
              <a:ext uri="{FF2B5EF4-FFF2-40B4-BE49-F238E27FC236}">
                <a16:creationId xmlns:a16="http://schemas.microsoft.com/office/drawing/2014/main" id="{C3C7DDB8-5CC8-594E-C869-403DADDAC8E0}"/>
              </a:ext>
            </a:extLst>
          </p:cNvPr>
          <p:cNvSpPr txBox="1">
            <a:spLocks/>
          </p:cNvSpPr>
          <p:nvPr/>
        </p:nvSpPr>
        <p:spPr>
          <a:xfrm>
            <a:off x="375919" y="1529379"/>
            <a:ext cx="3388089" cy="315771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400" b="1" dirty="0">
                <a:latin typeface="Consolas" panose="020B0609020204030204" pitchFamily="49" charset="0"/>
                <a:cs typeface="Times New Roman" panose="02020603050405020304" pitchFamily="18" charset="0"/>
              </a:rPr>
              <a:t>int main()</a:t>
            </a:r>
          </a:p>
          <a:p>
            <a:r>
              <a:rPr lang="en-IN" sz="2400" b="1" dirty="0">
                <a:latin typeface="Consolas" panose="020B0609020204030204" pitchFamily="49" charset="0"/>
                <a:cs typeface="Times New Roman" panose="02020603050405020304" pitchFamily="18" charset="0"/>
              </a:rPr>
              <a:t>{</a:t>
            </a:r>
          </a:p>
          <a:p>
            <a:r>
              <a:rPr lang="en-IN" sz="2400" b="1" dirty="0">
                <a:latin typeface="Consolas" panose="020B0609020204030204" pitchFamily="49" charset="0"/>
                <a:cs typeface="Times New Roman" panose="02020603050405020304" pitchFamily="18" charset="0"/>
              </a:rPr>
              <a:t>  </a:t>
            </a:r>
            <a:r>
              <a:rPr lang="en-IN" sz="2400" b="1" dirty="0" err="1">
                <a:latin typeface="Consolas" panose="020B0609020204030204" pitchFamily="49" charset="0"/>
                <a:cs typeface="Times New Roman" panose="02020603050405020304" pitchFamily="18" charset="0"/>
              </a:rPr>
              <a:t>Initial_setup</a:t>
            </a:r>
            <a:r>
              <a:rPr lang="en-IN" sz="2400" b="1" dirty="0">
                <a:latin typeface="Consolas" panose="020B0609020204030204" pitchFamily="49" charset="0"/>
                <a:cs typeface="Times New Roman" panose="02020603050405020304" pitchFamily="18" charset="0"/>
              </a:rPr>
              <a:t>();</a:t>
            </a:r>
          </a:p>
          <a:p>
            <a:r>
              <a:rPr lang="en-IN" sz="2400" b="1" dirty="0">
                <a:latin typeface="Consolas" panose="020B0609020204030204" pitchFamily="49" charset="0"/>
                <a:cs typeface="Times New Roman" panose="02020603050405020304" pitchFamily="18" charset="0"/>
              </a:rPr>
              <a:t>while(1){</a:t>
            </a:r>
          </a:p>
          <a:p>
            <a:r>
              <a:rPr lang="en-IN" sz="2400" b="1" dirty="0">
                <a:latin typeface="Consolas" panose="020B0609020204030204" pitchFamily="49" charset="0"/>
                <a:cs typeface="Times New Roman" panose="02020603050405020304" pitchFamily="18" charset="0"/>
              </a:rPr>
              <a:t>          Task1();</a:t>
            </a:r>
          </a:p>
          <a:p>
            <a:r>
              <a:rPr lang="en-IN" sz="2400" b="1" dirty="0">
                <a:latin typeface="Consolas" panose="020B0609020204030204" pitchFamily="49" charset="0"/>
                <a:cs typeface="Times New Roman" panose="02020603050405020304" pitchFamily="18" charset="0"/>
              </a:rPr>
              <a:t>}</a:t>
            </a:r>
          </a:p>
          <a:p>
            <a:r>
              <a:rPr lang="en-IN" sz="2400" b="1" dirty="0">
                <a:latin typeface="Consolas" panose="020B0609020204030204" pitchFamily="49" charset="0"/>
                <a:cs typeface="Times New Roman" panose="02020603050405020304" pitchFamily="18" charset="0"/>
              </a:rPr>
              <a:t>   return 0;        </a:t>
            </a:r>
          </a:p>
          <a:p>
            <a:r>
              <a:rPr lang="en-IN" sz="2400" b="1" dirty="0">
                <a:latin typeface="Consolas" panose="020B0609020204030204" pitchFamily="49" charset="0"/>
                <a:cs typeface="Times New Roman" panose="02020603050405020304" pitchFamily="18" charset="0"/>
              </a:rPr>
              <a:t>}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C6B7200-22C0-8129-198C-023D533DB748}"/>
              </a:ext>
            </a:extLst>
          </p:cNvPr>
          <p:cNvCxnSpPr>
            <a:cxnSpLocks/>
          </p:cNvCxnSpPr>
          <p:nvPr/>
        </p:nvCxnSpPr>
        <p:spPr>
          <a:xfrm flipH="1" flipV="1">
            <a:off x="7528286" y="5864692"/>
            <a:ext cx="5352" cy="34544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AE9CCF6E-67D3-C0D4-5D0F-9C730A1B578B}"/>
              </a:ext>
            </a:extLst>
          </p:cNvPr>
          <p:cNvSpPr/>
          <p:nvPr/>
        </p:nvSpPr>
        <p:spPr>
          <a:xfrm>
            <a:off x="6795019" y="4965666"/>
            <a:ext cx="704133" cy="555278"/>
          </a:xfrm>
          <a:prstGeom prst="rect">
            <a:avLst/>
          </a:prstGeom>
          <a:ln w="2857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1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CE3A926-5FA1-FE9A-4862-2EBFDF17A6B2}"/>
              </a:ext>
            </a:extLst>
          </p:cNvPr>
          <p:cNvSpPr/>
          <p:nvPr/>
        </p:nvSpPr>
        <p:spPr>
          <a:xfrm>
            <a:off x="5848479" y="4964356"/>
            <a:ext cx="914400" cy="555278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2</a:t>
            </a:r>
            <a:r>
              <a:rPr lang="en-IN" sz="1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(rem)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72394A04-89CE-2AB3-6BA6-B9DE5183182D}"/>
              </a:ext>
            </a:extLst>
          </p:cNvPr>
          <p:cNvCxnSpPr>
            <a:cxnSpLocks/>
          </p:cNvCxnSpPr>
          <p:nvPr/>
        </p:nvCxnSpPr>
        <p:spPr>
          <a:xfrm flipV="1">
            <a:off x="7608950" y="5867552"/>
            <a:ext cx="0" cy="34410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C489742F-7F8A-4C27-D27B-ECBBADEB6E65}"/>
              </a:ext>
            </a:extLst>
          </p:cNvPr>
          <p:cNvSpPr/>
          <p:nvPr/>
        </p:nvSpPr>
        <p:spPr>
          <a:xfrm>
            <a:off x="7668526" y="4965031"/>
            <a:ext cx="914400" cy="555278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3</a:t>
            </a:r>
          </a:p>
        </p:txBody>
      </p:sp>
      <p:pic>
        <p:nvPicPr>
          <p:cNvPr id="1026" name="Picture 2" descr="Clock,Clip art,Alarm clock,Turquoise,Analog watch,Graphics,Wall clock ...">
            <a:extLst>
              <a:ext uri="{FF2B5EF4-FFF2-40B4-BE49-F238E27FC236}">
                <a16:creationId xmlns:a16="http://schemas.microsoft.com/office/drawing/2014/main" id="{BEE4678F-0DCF-0200-BDC6-F251566BEA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7718" y="6287479"/>
            <a:ext cx="540243" cy="540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" name="Picture 2" descr="Clock,Clip art,Alarm clock,Turquoise,Analog watch,Graphics,Wall clock ...">
            <a:extLst>
              <a:ext uri="{FF2B5EF4-FFF2-40B4-BE49-F238E27FC236}">
                <a16:creationId xmlns:a16="http://schemas.microsoft.com/office/drawing/2014/main" id="{FF98D190-320B-9A73-5126-78C271ED0D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5208" y="6274779"/>
            <a:ext cx="540243" cy="540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" name="Picture 2" descr="Clock,Clip art,Alarm clock,Turquoise,Analog watch,Graphics,Wall clock ...">
            <a:extLst>
              <a:ext uri="{FF2B5EF4-FFF2-40B4-BE49-F238E27FC236}">
                <a16:creationId xmlns:a16="http://schemas.microsoft.com/office/drawing/2014/main" id="{9E1834A3-A5E4-C54E-A126-BC326D3846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6038" y="6287479"/>
            <a:ext cx="540243" cy="540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ush Button Icon 3 Types Color Stock Vector (Royalty Free) 1012989505 ...">
            <a:extLst>
              <a:ext uri="{FF2B5EF4-FFF2-40B4-BE49-F238E27FC236}">
                <a16:creationId xmlns:a16="http://schemas.microsoft.com/office/drawing/2014/main" id="{C8EC6307-DFD3-999A-BF71-ACA61A98B1B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308" t="19428" r="38103" b="26191"/>
          <a:stretch>
            <a:fillRect/>
          </a:stretch>
        </p:blipFill>
        <p:spPr bwMode="auto">
          <a:xfrm>
            <a:off x="2513571" y="6268601"/>
            <a:ext cx="465628" cy="577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9" name="Picture 4" descr="Push Button Icon 3 Types Color Stock Vector (Royalty Free) 1012989505 ...">
            <a:extLst>
              <a:ext uri="{FF2B5EF4-FFF2-40B4-BE49-F238E27FC236}">
                <a16:creationId xmlns:a16="http://schemas.microsoft.com/office/drawing/2014/main" id="{DA5D88AF-3AED-3B97-3BE4-853773F30E2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308" t="19428" r="38103" b="26191"/>
          <a:stretch>
            <a:fillRect/>
          </a:stretch>
        </p:blipFill>
        <p:spPr bwMode="auto">
          <a:xfrm>
            <a:off x="4796385" y="6268600"/>
            <a:ext cx="465628" cy="577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" name="Picture 4" descr="Push Button Icon 3 Types Color Stock Vector (Royalty Free) 1012989505 ...">
            <a:extLst>
              <a:ext uri="{FF2B5EF4-FFF2-40B4-BE49-F238E27FC236}">
                <a16:creationId xmlns:a16="http://schemas.microsoft.com/office/drawing/2014/main" id="{49894F77-A2C2-7038-568D-9DC2C487EA5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308" t="19428" r="38103" b="26191"/>
          <a:stretch>
            <a:fillRect/>
          </a:stretch>
        </p:blipFill>
        <p:spPr bwMode="auto">
          <a:xfrm>
            <a:off x="7646281" y="6268601"/>
            <a:ext cx="465628" cy="577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83B6ABB5-E401-E180-EB3A-F67E7F81269C}"/>
              </a:ext>
            </a:extLst>
          </p:cNvPr>
          <p:cNvSpPr txBox="1">
            <a:spLocks/>
          </p:cNvSpPr>
          <p:nvPr/>
        </p:nvSpPr>
        <p:spPr>
          <a:xfrm>
            <a:off x="3632200" y="1529378"/>
            <a:ext cx="4964061" cy="124463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400" b="1" dirty="0">
                <a:latin typeface="Consolas" panose="020B0609020204030204" pitchFamily="49" charset="0"/>
                <a:cs typeface="Times New Roman" panose="02020603050405020304" pitchFamily="18" charset="0"/>
              </a:rPr>
              <a:t>Void </a:t>
            </a:r>
            <a:r>
              <a:rPr lang="en-IN" sz="2400" b="1" dirty="0" err="1">
                <a:latin typeface="Consolas" panose="020B0609020204030204" pitchFamily="49" charset="0"/>
                <a:cs typeface="Times New Roman" panose="02020603050405020304" pitchFamily="18" charset="0"/>
              </a:rPr>
              <a:t>timer_int_Handler</a:t>
            </a:r>
            <a:r>
              <a:rPr lang="en-IN" sz="2400" b="1" dirty="0">
                <a:latin typeface="Consolas" panose="020B0609020204030204" pitchFamily="49" charset="0"/>
                <a:cs typeface="Times New Roman" panose="02020603050405020304" pitchFamily="18" charset="0"/>
              </a:rPr>
              <a:t>()</a:t>
            </a:r>
          </a:p>
          <a:p>
            <a:r>
              <a:rPr lang="en-IN" sz="2400" b="1" dirty="0">
                <a:latin typeface="Consolas" panose="020B0609020204030204" pitchFamily="49" charset="0"/>
                <a:cs typeface="Times New Roman" panose="02020603050405020304" pitchFamily="18" charset="0"/>
              </a:rPr>
              <a:t>{</a:t>
            </a:r>
          </a:p>
          <a:p>
            <a:r>
              <a:rPr lang="en-IN" sz="2400" b="1" dirty="0">
                <a:latin typeface="Consolas" panose="020B0609020204030204" pitchFamily="49" charset="0"/>
                <a:cs typeface="Times New Roman" panose="02020603050405020304" pitchFamily="18" charset="0"/>
              </a:rPr>
              <a:t>	Task2();</a:t>
            </a:r>
          </a:p>
          <a:p>
            <a:r>
              <a:rPr lang="en-IN" sz="2400" b="1" dirty="0">
                <a:latin typeface="Consolas" panose="020B0609020204030204" pitchFamily="49" charset="0"/>
                <a:cs typeface="Times New Roman" panose="02020603050405020304" pitchFamily="18" charset="0"/>
              </a:rPr>
              <a:t> }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BC340506-78DE-49BC-5BCF-05B90BDB98E9}"/>
              </a:ext>
            </a:extLst>
          </p:cNvPr>
          <p:cNvSpPr txBox="1">
            <a:spLocks/>
          </p:cNvSpPr>
          <p:nvPr/>
        </p:nvSpPr>
        <p:spPr>
          <a:xfrm>
            <a:off x="8200020" y="1529378"/>
            <a:ext cx="3963127" cy="124463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400" b="1" dirty="0">
                <a:latin typeface="Consolas" panose="020B0609020204030204" pitchFamily="49" charset="0"/>
                <a:cs typeface="Times New Roman" panose="02020603050405020304" pitchFamily="18" charset="0"/>
              </a:rPr>
              <a:t>Void </a:t>
            </a:r>
            <a:r>
              <a:rPr lang="en-IN" sz="2400" b="1" dirty="0" err="1">
                <a:latin typeface="Consolas" panose="020B0609020204030204" pitchFamily="49" charset="0"/>
                <a:cs typeface="Times New Roman" panose="02020603050405020304" pitchFamily="18" charset="0"/>
              </a:rPr>
              <a:t>Ext_int_Handler</a:t>
            </a:r>
            <a:r>
              <a:rPr lang="en-IN" sz="2400" b="1" dirty="0">
                <a:latin typeface="Consolas" panose="020B0609020204030204" pitchFamily="49" charset="0"/>
                <a:cs typeface="Times New Roman" panose="02020603050405020304" pitchFamily="18" charset="0"/>
              </a:rPr>
              <a:t>()</a:t>
            </a:r>
          </a:p>
          <a:p>
            <a:r>
              <a:rPr lang="en-IN" sz="2400" b="1" dirty="0">
                <a:latin typeface="Consolas" panose="020B0609020204030204" pitchFamily="49" charset="0"/>
                <a:cs typeface="Times New Roman" panose="02020603050405020304" pitchFamily="18" charset="0"/>
              </a:rPr>
              <a:t>{</a:t>
            </a:r>
          </a:p>
          <a:p>
            <a:r>
              <a:rPr lang="en-IN" sz="2400" b="1" dirty="0">
                <a:latin typeface="Consolas" panose="020B0609020204030204" pitchFamily="49" charset="0"/>
                <a:cs typeface="Times New Roman" panose="02020603050405020304" pitchFamily="18" charset="0"/>
              </a:rPr>
              <a:t>	Task3();</a:t>
            </a:r>
          </a:p>
          <a:p>
            <a:r>
              <a:rPr lang="en-IN" sz="2400" b="1" dirty="0">
                <a:latin typeface="Consolas" panose="020B0609020204030204" pitchFamily="49" charset="0"/>
                <a:cs typeface="Times New Roman" panose="02020603050405020304" pitchFamily="18" charset="0"/>
              </a:rPr>
              <a:t> }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8C67211-FAA2-7B7D-90A7-B19F9D1F46BB}"/>
              </a:ext>
            </a:extLst>
          </p:cNvPr>
          <p:cNvSpPr/>
          <p:nvPr/>
        </p:nvSpPr>
        <p:spPr>
          <a:xfrm>
            <a:off x="7523808" y="4965031"/>
            <a:ext cx="122473" cy="555278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67B635B-CE61-6947-6C6A-92511DE2D6A7}"/>
              </a:ext>
            </a:extLst>
          </p:cNvPr>
          <p:cNvSpPr/>
          <p:nvPr/>
        </p:nvSpPr>
        <p:spPr>
          <a:xfrm>
            <a:off x="8611501" y="4961602"/>
            <a:ext cx="677279" cy="555278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2</a:t>
            </a:r>
            <a:r>
              <a:rPr lang="en-IN" sz="1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(rem)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F1EB03D-4BFB-76EB-7ABA-9B5267590066}"/>
              </a:ext>
            </a:extLst>
          </p:cNvPr>
          <p:cNvSpPr/>
          <p:nvPr/>
        </p:nvSpPr>
        <p:spPr>
          <a:xfrm>
            <a:off x="9317239" y="4958046"/>
            <a:ext cx="936761" cy="555278"/>
          </a:xfrm>
          <a:prstGeom prst="rect">
            <a:avLst/>
          </a:prstGeom>
          <a:ln w="2857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1</a:t>
            </a:r>
            <a:r>
              <a:rPr lang="en-IN" sz="11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(rem)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E143690-DE83-48D6-75EA-1298587FD59D}"/>
              </a:ext>
            </a:extLst>
          </p:cNvPr>
          <p:cNvSpPr txBox="1">
            <a:spLocks/>
          </p:cNvSpPr>
          <p:nvPr/>
        </p:nvSpPr>
        <p:spPr>
          <a:xfrm>
            <a:off x="5343820" y="150623"/>
            <a:ext cx="2022384" cy="6315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Activity</a:t>
            </a:r>
          </a:p>
        </p:txBody>
      </p:sp>
    </p:spTree>
    <p:extLst>
      <p:ext uri="{BB962C8B-B14F-4D97-AF65-F5344CB8AC3E}">
        <p14:creationId xmlns:p14="http://schemas.microsoft.com/office/powerpoint/2010/main" val="35680096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9C9D52-1AFC-F490-D48D-382C6B944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E9090FC-BF4B-9B74-E76B-9C6542C447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7497030"/>
              </p:ext>
            </p:extLst>
          </p:nvPr>
        </p:nvGraphicFramePr>
        <p:xfrm>
          <a:off x="8243549" y="4728945"/>
          <a:ext cx="1916540" cy="1027081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91654">
                  <a:extLst>
                    <a:ext uri="{9D8B030D-6E8A-4147-A177-3AD203B41FA5}">
                      <a16:colId xmlns:a16="http://schemas.microsoft.com/office/drawing/2014/main" val="2655257046"/>
                    </a:ext>
                  </a:extLst>
                </a:gridCol>
                <a:gridCol w="191654">
                  <a:extLst>
                    <a:ext uri="{9D8B030D-6E8A-4147-A177-3AD203B41FA5}">
                      <a16:colId xmlns:a16="http://schemas.microsoft.com/office/drawing/2014/main" val="2205068456"/>
                    </a:ext>
                  </a:extLst>
                </a:gridCol>
                <a:gridCol w="191654">
                  <a:extLst>
                    <a:ext uri="{9D8B030D-6E8A-4147-A177-3AD203B41FA5}">
                      <a16:colId xmlns:a16="http://schemas.microsoft.com/office/drawing/2014/main" val="1633335839"/>
                    </a:ext>
                  </a:extLst>
                </a:gridCol>
                <a:gridCol w="191654">
                  <a:extLst>
                    <a:ext uri="{9D8B030D-6E8A-4147-A177-3AD203B41FA5}">
                      <a16:colId xmlns:a16="http://schemas.microsoft.com/office/drawing/2014/main" val="1972075571"/>
                    </a:ext>
                  </a:extLst>
                </a:gridCol>
                <a:gridCol w="191654">
                  <a:extLst>
                    <a:ext uri="{9D8B030D-6E8A-4147-A177-3AD203B41FA5}">
                      <a16:colId xmlns:a16="http://schemas.microsoft.com/office/drawing/2014/main" val="2282547152"/>
                    </a:ext>
                  </a:extLst>
                </a:gridCol>
                <a:gridCol w="191654">
                  <a:extLst>
                    <a:ext uri="{9D8B030D-6E8A-4147-A177-3AD203B41FA5}">
                      <a16:colId xmlns:a16="http://schemas.microsoft.com/office/drawing/2014/main" val="1849931788"/>
                    </a:ext>
                  </a:extLst>
                </a:gridCol>
                <a:gridCol w="191654">
                  <a:extLst>
                    <a:ext uri="{9D8B030D-6E8A-4147-A177-3AD203B41FA5}">
                      <a16:colId xmlns:a16="http://schemas.microsoft.com/office/drawing/2014/main" val="1816408813"/>
                    </a:ext>
                  </a:extLst>
                </a:gridCol>
                <a:gridCol w="191654">
                  <a:extLst>
                    <a:ext uri="{9D8B030D-6E8A-4147-A177-3AD203B41FA5}">
                      <a16:colId xmlns:a16="http://schemas.microsoft.com/office/drawing/2014/main" val="1916967613"/>
                    </a:ext>
                  </a:extLst>
                </a:gridCol>
                <a:gridCol w="191654">
                  <a:extLst>
                    <a:ext uri="{9D8B030D-6E8A-4147-A177-3AD203B41FA5}">
                      <a16:colId xmlns:a16="http://schemas.microsoft.com/office/drawing/2014/main" val="1149932455"/>
                    </a:ext>
                  </a:extLst>
                </a:gridCol>
                <a:gridCol w="191654">
                  <a:extLst>
                    <a:ext uri="{9D8B030D-6E8A-4147-A177-3AD203B41FA5}">
                      <a16:colId xmlns:a16="http://schemas.microsoft.com/office/drawing/2014/main" val="2608336672"/>
                    </a:ext>
                  </a:extLst>
                </a:gridCol>
              </a:tblGrid>
              <a:tr h="102708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 marL="83127" marR="8312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 marL="83127" marR="8312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 marL="83127" marR="8312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 marL="83127" marR="8312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 marL="83127" marR="8312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 marL="83127" marR="8312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 marL="83127" marR="8312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 marL="83127" marR="8312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 marL="83127" marR="8312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 marL="83127" marR="8312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4469447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4ADA80E-0D36-D05F-1C59-5EC0E783A3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3555447"/>
              </p:ext>
            </p:extLst>
          </p:nvPr>
        </p:nvGraphicFramePr>
        <p:xfrm>
          <a:off x="6333469" y="4728945"/>
          <a:ext cx="1916540" cy="1027081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91654">
                  <a:extLst>
                    <a:ext uri="{9D8B030D-6E8A-4147-A177-3AD203B41FA5}">
                      <a16:colId xmlns:a16="http://schemas.microsoft.com/office/drawing/2014/main" val="2655257046"/>
                    </a:ext>
                  </a:extLst>
                </a:gridCol>
                <a:gridCol w="191654">
                  <a:extLst>
                    <a:ext uri="{9D8B030D-6E8A-4147-A177-3AD203B41FA5}">
                      <a16:colId xmlns:a16="http://schemas.microsoft.com/office/drawing/2014/main" val="2205068456"/>
                    </a:ext>
                  </a:extLst>
                </a:gridCol>
                <a:gridCol w="191654">
                  <a:extLst>
                    <a:ext uri="{9D8B030D-6E8A-4147-A177-3AD203B41FA5}">
                      <a16:colId xmlns:a16="http://schemas.microsoft.com/office/drawing/2014/main" val="1633335839"/>
                    </a:ext>
                  </a:extLst>
                </a:gridCol>
                <a:gridCol w="191654">
                  <a:extLst>
                    <a:ext uri="{9D8B030D-6E8A-4147-A177-3AD203B41FA5}">
                      <a16:colId xmlns:a16="http://schemas.microsoft.com/office/drawing/2014/main" val="1972075571"/>
                    </a:ext>
                  </a:extLst>
                </a:gridCol>
                <a:gridCol w="191654">
                  <a:extLst>
                    <a:ext uri="{9D8B030D-6E8A-4147-A177-3AD203B41FA5}">
                      <a16:colId xmlns:a16="http://schemas.microsoft.com/office/drawing/2014/main" val="2282547152"/>
                    </a:ext>
                  </a:extLst>
                </a:gridCol>
                <a:gridCol w="191654">
                  <a:extLst>
                    <a:ext uri="{9D8B030D-6E8A-4147-A177-3AD203B41FA5}">
                      <a16:colId xmlns:a16="http://schemas.microsoft.com/office/drawing/2014/main" val="1849931788"/>
                    </a:ext>
                  </a:extLst>
                </a:gridCol>
                <a:gridCol w="191654">
                  <a:extLst>
                    <a:ext uri="{9D8B030D-6E8A-4147-A177-3AD203B41FA5}">
                      <a16:colId xmlns:a16="http://schemas.microsoft.com/office/drawing/2014/main" val="1816408813"/>
                    </a:ext>
                  </a:extLst>
                </a:gridCol>
                <a:gridCol w="191654">
                  <a:extLst>
                    <a:ext uri="{9D8B030D-6E8A-4147-A177-3AD203B41FA5}">
                      <a16:colId xmlns:a16="http://schemas.microsoft.com/office/drawing/2014/main" val="1916967613"/>
                    </a:ext>
                  </a:extLst>
                </a:gridCol>
                <a:gridCol w="191654">
                  <a:extLst>
                    <a:ext uri="{9D8B030D-6E8A-4147-A177-3AD203B41FA5}">
                      <a16:colId xmlns:a16="http://schemas.microsoft.com/office/drawing/2014/main" val="1149932455"/>
                    </a:ext>
                  </a:extLst>
                </a:gridCol>
                <a:gridCol w="191654">
                  <a:extLst>
                    <a:ext uri="{9D8B030D-6E8A-4147-A177-3AD203B41FA5}">
                      <a16:colId xmlns:a16="http://schemas.microsoft.com/office/drawing/2014/main" val="2608336672"/>
                    </a:ext>
                  </a:extLst>
                </a:gridCol>
              </a:tblGrid>
              <a:tr h="102708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 marL="83127" marR="8312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 marL="83127" marR="8312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 marL="83127" marR="8312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 marL="83127" marR="8312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 marL="83127" marR="8312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 marL="83127" marR="8312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 marL="83127" marR="8312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 marL="83127" marR="8312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 marL="83127" marR="8312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 marL="83127" marR="8312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4469447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0C57123-B25F-991E-AED8-DC6A2CB746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5521914"/>
              </p:ext>
            </p:extLst>
          </p:nvPr>
        </p:nvGraphicFramePr>
        <p:xfrm>
          <a:off x="4430299" y="4728945"/>
          <a:ext cx="1916540" cy="1027081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91654">
                  <a:extLst>
                    <a:ext uri="{9D8B030D-6E8A-4147-A177-3AD203B41FA5}">
                      <a16:colId xmlns:a16="http://schemas.microsoft.com/office/drawing/2014/main" val="2655257046"/>
                    </a:ext>
                  </a:extLst>
                </a:gridCol>
                <a:gridCol w="191654">
                  <a:extLst>
                    <a:ext uri="{9D8B030D-6E8A-4147-A177-3AD203B41FA5}">
                      <a16:colId xmlns:a16="http://schemas.microsoft.com/office/drawing/2014/main" val="2205068456"/>
                    </a:ext>
                  </a:extLst>
                </a:gridCol>
                <a:gridCol w="191654">
                  <a:extLst>
                    <a:ext uri="{9D8B030D-6E8A-4147-A177-3AD203B41FA5}">
                      <a16:colId xmlns:a16="http://schemas.microsoft.com/office/drawing/2014/main" val="1633335839"/>
                    </a:ext>
                  </a:extLst>
                </a:gridCol>
                <a:gridCol w="191654">
                  <a:extLst>
                    <a:ext uri="{9D8B030D-6E8A-4147-A177-3AD203B41FA5}">
                      <a16:colId xmlns:a16="http://schemas.microsoft.com/office/drawing/2014/main" val="1972075571"/>
                    </a:ext>
                  </a:extLst>
                </a:gridCol>
                <a:gridCol w="191654">
                  <a:extLst>
                    <a:ext uri="{9D8B030D-6E8A-4147-A177-3AD203B41FA5}">
                      <a16:colId xmlns:a16="http://schemas.microsoft.com/office/drawing/2014/main" val="2282547152"/>
                    </a:ext>
                  </a:extLst>
                </a:gridCol>
                <a:gridCol w="191654">
                  <a:extLst>
                    <a:ext uri="{9D8B030D-6E8A-4147-A177-3AD203B41FA5}">
                      <a16:colId xmlns:a16="http://schemas.microsoft.com/office/drawing/2014/main" val="1849931788"/>
                    </a:ext>
                  </a:extLst>
                </a:gridCol>
                <a:gridCol w="191654">
                  <a:extLst>
                    <a:ext uri="{9D8B030D-6E8A-4147-A177-3AD203B41FA5}">
                      <a16:colId xmlns:a16="http://schemas.microsoft.com/office/drawing/2014/main" val="1816408813"/>
                    </a:ext>
                  </a:extLst>
                </a:gridCol>
                <a:gridCol w="191654">
                  <a:extLst>
                    <a:ext uri="{9D8B030D-6E8A-4147-A177-3AD203B41FA5}">
                      <a16:colId xmlns:a16="http://schemas.microsoft.com/office/drawing/2014/main" val="1916967613"/>
                    </a:ext>
                  </a:extLst>
                </a:gridCol>
                <a:gridCol w="191654">
                  <a:extLst>
                    <a:ext uri="{9D8B030D-6E8A-4147-A177-3AD203B41FA5}">
                      <a16:colId xmlns:a16="http://schemas.microsoft.com/office/drawing/2014/main" val="1149932455"/>
                    </a:ext>
                  </a:extLst>
                </a:gridCol>
                <a:gridCol w="191654">
                  <a:extLst>
                    <a:ext uri="{9D8B030D-6E8A-4147-A177-3AD203B41FA5}">
                      <a16:colId xmlns:a16="http://schemas.microsoft.com/office/drawing/2014/main" val="2608336672"/>
                    </a:ext>
                  </a:extLst>
                </a:gridCol>
              </a:tblGrid>
              <a:tr h="102708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 marL="83127" marR="8312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 marL="83127" marR="8312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 marL="83127" marR="8312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 marL="83127" marR="8312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 marL="83127" marR="8312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 marL="83127" marR="8312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 marL="83127" marR="8312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 marL="83127" marR="8312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 marL="83127" marR="8312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 marL="83127" marR="8312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4469447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47FDA02-2102-7482-40B2-CB8152ECB5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2796507"/>
              </p:ext>
            </p:extLst>
          </p:nvPr>
        </p:nvGraphicFramePr>
        <p:xfrm>
          <a:off x="2520219" y="4739105"/>
          <a:ext cx="1916540" cy="1027081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91654">
                  <a:extLst>
                    <a:ext uri="{9D8B030D-6E8A-4147-A177-3AD203B41FA5}">
                      <a16:colId xmlns:a16="http://schemas.microsoft.com/office/drawing/2014/main" val="2655257046"/>
                    </a:ext>
                  </a:extLst>
                </a:gridCol>
                <a:gridCol w="191654">
                  <a:extLst>
                    <a:ext uri="{9D8B030D-6E8A-4147-A177-3AD203B41FA5}">
                      <a16:colId xmlns:a16="http://schemas.microsoft.com/office/drawing/2014/main" val="2205068456"/>
                    </a:ext>
                  </a:extLst>
                </a:gridCol>
                <a:gridCol w="191654">
                  <a:extLst>
                    <a:ext uri="{9D8B030D-6E8A-4147-A177-3AD203B41FA5}">
                      <a16:colId xmlns:a16="http://schemas.microsoft.com/office/drawing/2014/main" val="1633335839"/>
                    </a:ext>
                  </a:extLst>
                </a:gridCol>
                <a:gridCol w="191654">
                  <a:extLst>
                    <a:ext uri="{9D8B030D-6E8A-4147-A177-3AD203B41FA5}">
                      <a16:colId xmlns:a16="http://schemas.microsoft.com/office/drawing/2014/main" val="1972075571"/>
                    </a:ext>
                  </a:extLst>
                </a:gridCol>
                <a:gridCol w="191654">
                  <a:extLst>
                    <a:ext uri="{9D8B030D-6E8A-4147-A177-3AD203B41FA5}">
                      <a16:colId xmlns:a16="http://schemas.microsoft.com/office/drawing/2014/main" val="2282547152"/>
                    </a:ext>
                  </a:extLst>
                </a:gridCol>
                <a:gridCol w="191654">
                  <a:extLst>
                    <a:ext uri="{9D8B030D-6E8A-4147-A177-3AD203B41FA5}">
                      <a16:colId xmlns:a16="http://schemas.microsoft.com/office/drawing/2014/main" val="1849931788"/>
                    </a:ext>
                  </a:extLst>
                </a:gridCol>
                <a:gridCol w="191654">
                  <a:extLst>
                    <a:ext uri="{9D8B030D-6E8A-4147-A177-3AD203B41FA5}">
                      <a16:colId xmlns:a16="http://schemas.microsoft.com/office/drawing/2014/main" val="1816408813"/>
                    </a:ext>
                  </a:extLst>
                </a:gridCol>
                <a:gridCol w="191654">
                  <a:extLst>
                    <a:ext uri="{9D8B030D-6E8A-4147-A177-3AD203B41FA5}">
                      <a16:colId xmlns:a16="http://schemas.microsoft.com/office/drawing/2014/main" val="1916967613"/>
                    </a:ext>
                  </a:extLst>
                </a:gridCol>
                <a:gridCol w="191654">
                  <a:extLst>
                    <a:ext uri="{9D8B030D-6E8A-4147-A177-3AD203B41FA5}">
                      <a16:colId xmlns:a16="http://schemas.microsoft.com/office/drawing/2014/main" val="1149932455"/>
                    </a:ext>
                  </a:extLst>
                </a:gridCol>
                <a:gridCol w="191654">
                  <a:extLst>
                    <a:ext uri="{9D8B030D-6E8A-4147-A177-3AD203B41FA5}">
                      <a16:colId xmlns:a16="http://schemas.microsoft.com/office/drawing/2014/main" val="2608336672"/>
                    </a:ext>
                  </a:extLst>
                </a:gridCol>
              </a:tblGrid>
              <a:tr h="102708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 marL="83127" marR="8312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 marL="83127" marR="8312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 marL="83127" marR="8312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 marL="83127" marR="8312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 marL="83127" marR="8312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 marL="83127" marR="8312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 marL="83127" marR="8312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 marL="83127" marR="8312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 marL="83127" marR="8312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 marL="83127" marR="8312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4469447"/>
                  </a:ext>
                </a:extLst>
              </a:tr>
            </a:tbl>
          </a:graphicData>
        </a:graphic>
      </p:graphicFrame>
      <p:sp>
        <p:nvSpPr>
          <p:cNvPr id="7" name="Title 1">
            <a:extLst>
              <a:ext uri="{FF2B5EF4-FFF2-40B4-BE49-F238E27FC236}">
                <a16:creationId xmlns:a16="http://schemas.microsoft.com/office/drawing/2014/main" id="{266C90E8-5CD5-135A-0CC2-1F5B630EA3E5}"/>
              </a:ext>
            </a:extLst>
          </p:cNvPr>
          <p:cNvSpPr txBox="1">
            <a:spLocks/>
          </p:cNvSpPr>
          <p:nvPr/>
        </p:nvSpPr>
        <p:spPr>
          <a:xfrm>
            <a:off x="155111" y="730316"/>
            <a:ext cx="5648177" cy="6315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RTOS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A459563-30AB-D8BF-E57F-BBD34368D3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5131419"/>
              </p:ext>
            </p:extLst>
          </p:nvPr>
        </p:nvGraphicFramePr>
        <p:xfrm>
          <a:off x="629108" y="4739105"/>
          <a:ext cx="1916540" cy="1027081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91654">
                  <a:extLst>
                    <a:ext uri="{9D8B030D-6E8A-4147-A177-3AD203B41FA5}">
                      <a16:colId xmlns:a16="http://schemas.microsoft.com/office/drawing/2014/main" val="2655257046"/>
                    </a:ext>
                  </a:extLst>
                </a:gridCol>
                <a:gridCol w="191654">
                  <a:extLst>
                    <a:ext uri="{9D8B030D-6E8A-4147-A177-3AD203B41FA5}">
                      <a16:colId xmlns:a16="http://schemas.microsoft.com/office/drawing/2014/main" val="2205068456"/>
                    </a:ext>
                  </a:extLst>
                </a:gridCol>
                <a:gridCol w="191654">
                  <a:extLst>
                    <a:ext uri="{9D8B030D-6E8A-4147-A177-3AD203B41FA5}">
                      <a16:colId xmlns:a16="http://schemas.microsoft.com/office/drawing/2014/main" val="1633335839"/>
                    </a:ext>
                  </a:extLst>
                </a:gridCol>
                <a:gridCol w="191654">
                  <a:extLst>
                    <a:ext uri="{9D8B030D-6E8A-4147-A177-3AD203B41FA5}">
                      <a16:colId xmlns:a16="http://schemas.microsoft.com/office/drawing/2014/main" val="1972075571"/>
                    </a:ext>
                  </a:extLst>
                </a:gridCol>
                <a:gridCol w="191654">
                  <a:extLst>
                    <a:ext uri="{9D8B030D-6E8A-4147-A177-3AD203B41FA5}">
                      <a16:colId xmlns:a16="http://schemas.microsoft.com/office/drawing/2014/main" val="2282547152"/>
                    </a:ext>
                  </a:extLst>
                </a:gridCol>
                <a:gridCol w="191654">
                  <a:extLst>
                    <a:ext uri="{9D8B030D-6E8A-4147-A177-3AD203B41FA5}">
                      <a16:colId xmlns:a16="http://schemas.microsoft.com/office/drawing/2014/main" val="1849931788"/>
                    </a:ext>
                  </a:extLst>
                </a:gridCol>
                <a:gridCol w="191654">
                  <a:extLst>
                    <a:ext uri="{9D8B030D-6E8A-4147-A177-3AD203B41FA5}">
                      <a16:colId xmlns:a16="http://schemas.microsoft.com/office/drawing/2014/main" val="1816408813"/>
                    </a:ext>
                  </a:extLst>
                </a:gridCol>
                <a:gridCol w="191654">
                  <a:extLst>
                    <a:ext uri="{9D8B030D-6E8A-4147-A177-3AD203B41FA5}">
                      <a16:colId xmlns:a16="http://schemas.microsoft.com/office/drawing/2014/main" val="1916967613"/>
                    </a:ext>
                  </a:extLst>
                </a:gridCol>
                <a:gridCol w="191654">
                  <a:extLst>
                    <a:ext uri="{9D8B030D-6E8A-4147-A177-3AD203B41FA5}">
                      <a16:colId xmlns:a16="http://schemas.microsoft.com/office/drawing/2014/main" val="1149932455"/>
                    </a:ext>
                  </a:extLst>
                </a:gridCol>
                <a:gridCol w="191654">
                  <a:extLst>
                    <a:ext uri="{9D8B030D-6E8A-4147-A177-3AD203B41FA5}">
                      <a16:colId xmlns:a16="http://schemas.microsoft.com/office/drawing/2014/main" val="2608336672"/>
                    </a:ext>
                  </a:extLst>
                </a:gridCol>
              </a:tblGrid>
              <a:tr h="102708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 marL="83127" marR="8312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 marL="83127" marR="8312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 marL="83127" marR="8312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 marL="83127" marR="8312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 marL="83127" marR="8312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 marL="83127" marR="8312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 marL="83127" marR="8312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 marL="83127" marR="8312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 marL="83127" marR="8312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 marL="83127" marR="8312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4469447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1EF0131D-1B39-702E-8423-7D8BDA40BE8E}"/>
              </a:ext>
            </a:extLst>
          </p:cNvPr>
          <p:cNvSpPr/>
          <p:nvPr/>
        </p:nvSpPr>
        <p:spPr>
          <a:xfrm>
            <a:off x="812800" y="4961602"/>
            <a:ext cx="914400" cy="555278"/>
          </a:xfrm>
          <a:prstGeom prst="rect">
            <a:avLst/>
          </a:prstGeom>
          <a:ln w="2857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D060D9F-AF1F-D16D-D5CC-34616A0EFF55}"/>
              </a:ext>
            </a:extLst>
          </p:cNvPr>
          <p:cNvSpPr/>
          <p:nvPr/>
        </p:nvSpPr>
        <p:spPr>
          <a:xfrm>
            <a:off x="1767840" y="4961602"/>
            <a:ext cx="914400" cy="555278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EA61A69-7034-CA63-6576-08958E21C5FA}"/>
              </a:ext>
            </a:extLst>
          </p:cNvPr>
          <p:cNvSpPr/>
          <p:nvPr/>
        </p:nvSpPr>
        <p:spPr>
          <a:xfrm>
            <a:off x="2717800" y="4959062"/>
            <a:ext cx="914400" cy="555278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3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ABDA67F-1090-56E0-4CAC-F657C5461349}"/>
              </a:ext>
            </a:extLst>
          </p:cNvPr>
          <p:cNvCxnSpPr>
            <a:cxnSpLocks/>
          </p:cNvCxnSpPr>
          <p:nvPr/>
        </p:nvCxnSpPr>
        <p:spPr>
          <a:xfrm flipH="1" flipV="1">
            <a:off x="1744085" y="5865444"/>
            <a:ext cx="5352" cy="34544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8B11108-D3F7-3EC6-7EAD-C8147EDA97DD}"/>
              </a:ext>
            </a:extLst>
          </p:cNvPr>
          <p:cNvCxnSpPr>
            <a:cxnSpLocks/>
          </p:cNvCxnSpPr>
          <p:nvPr/>
        </p:nvCxnSpPr>
        <p:spPr>
          <a:xfrm flipV="1">
            <a:off x="2709285" y="5866780"/>
            <a:ext cx="0" cy="34410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0701F57-456E-3840-E7DE-43EC111209B8}"/>
              </a:ext>
            </a:extLst>
          </p:cNvPr>
          <p:cNvCxnSpPr>
            <a:cxnSpLocks/>
          </p:cNvCxnSpPr>
          <p:nvPr/>
        </p:nvCxnSpPr>
        <p:spPr>
          <a:xfrm flipH="1" flipV="1">
            <a:off x="4663439" y="5865444"/>
            <a:ext cx="5352" cy="34544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12EA160A-03A0-7BF7-95EE-FAE00EC118C7}"/>
              </a:ext>
            </a:extLst>
          </p:cNvPr>
          <p:cNvSpPr/>
          <p:nvPr/>
        </p:nvSpPr>
        <p:spPr>
          <a:xfrm>
            <a:off x="3671223" y="4957504"/>
            <a:ext cx="942762" cy="555278"/>
          </a:xfrm>
          <a:prstGeom prst="rect">
            <a:avLst/>
          </a:prstGeom>
          <a:ln w="2857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1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90528B4-C41A-08EC-4AFF-8C8AE035EEA5}"/>
              </a:ext>
            </a:extLst>
          </p:cNvPr>
          <p:cNvSpPr/>
          <p:nvPr/>
        </p:nvSpPr>
        <p:spPr>
          <a:xfrm>
            <a:off x="4643448" y="4955506"/>
            <a:ext cx="344295" cy="555278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A2F6DB8-DBBB-16B4-E0FD-3D66558EB106}"/>
              </a:ext>
            </a:extLst>
          </p:cNvPr>
          <p:cNvCxnSpPr>
            <a:cxnSpLocks/>
          </p:cNvCxnSpPr>
          <p:nvPr/>
        </p:nvCxnSpPr>
        <p:spPr>
          <a:xfrm flipV="1">
            <a:off x="4916622" y="5853376"/>
            <a:ext cx="0" cy="34410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38A2AD91-DDFA-1ED7-7261-B230EC081677}"/>
              </a:ext>
            </a:extLst>
          </p:cNvPr>
          <p:cNvSpPr/>
          <p:nvPr/>
        </p:nvSpPr>
        <p:spPr>
          <a:xfrm>
            <a:off x="5008083" y="4955506"/>
            <a:ext cx="914400" cy="555278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3</a:t>
            </a:r>
          </a:p>
        </p:txBody>
      </p:sp>
      <p:sp>
        <p:nvSpPr>
          <p:cNvPr id="35" name="Title 1">
            <a:extLst>
              <a:ext uri="{FF2B5EF4-FFF2-40B4-BE49-F238E27FC236}">
                <a16:creationId xmlns:a16="http://schemas.microsoft.com/office/drawing/2014/main" id="{29F7C663-278C-4FB4-BE72-E47F6F979E72}"/>
              </a:ext>
            </a:extLst>
          </p:cNvPr>
          <p:cNvSpPr txBox="1">
            <a:spLocks/>
          </p:cNvSpPr>
          <p:nvPr/>
        </p:nvSpPr>
        <p:spPr>
          <a:xfrm>
            <a:off x="443922" y="1239412"/>
            <a:ext cx="3562236" cy="315771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400" b="1" dirty="0">
                <a:latin typeface="Consolas" panose="020B0609020204030204" pitchFamily="49" charset="0"/>
                <a:cs typeface="Times New Roman" panose="02020603050405020304" pitchFamily="18" charset="0"/>
              </a:rPr>
              <a:t>int main()</a:t>
            </a:r>
          </a:p>
          <a:p>
            <a:r>
              <a:rPr lang="en-IN" sz="2400" b="1" dirty="0">
                <a:latin typeface="Consolas" panose="020B0609020204030204" pitchFamily="49" charset="0"/>
                <a:cs typeface="Times New Roman" panose="02020603050405020304" pitchFamily="18" charset="0"/>
              </a:rPr>
              <a:t>{</a:t>
            </a:r>
          </a:p>
          <a:p>
            <a:r>
              <a:rPr lang="en-IN" sz="2400" b="1" dirty="0">
                <a:latin typeface="Consolas" panose="020B0609020204030204" pitchFamily="49" charset="0"/>
                <a:cs typeface="Times New Roman" panose="02020603050405020304" pitchFamily="18" charset="0"/>
              </a:rPr>
              <a:t>  </a:t>
            </a:r>
            <a:r>
              <a:rPr lang="en-IN" sz="2400" b="1" dirty="0" err="1">
                <a:latin typeface="Consolas" panose="020B0609020204030204" pitchFamily="49" charset="0"/>
                <a:cs typeface="Times New Roman" panose="02020603050405020304" pitchFamily="18" charset="0"/>
              </a:rPr>
              <a:t>os_Initial_setup</a:t>
            </a:r>
            <a:r>
              <a:rPr lang="en-IN" sz="2400" b="1" dirty="0">
                <a:latin typeface="Consolas" panose="020B0609020204030204" pitchFamily="49" charset="0"/>
                <a:cs typeface="Times New Roman" panose="02020603050405020304" pitchFamily="18" charset="0"/>
              </a:rPr>
              <a:t>();</a:t>
            </a:r>
          </a:p>
          <a:p>
            <a:r>
              <a:rPr lang="en-IN" sz="2400" b="1" dirty="0">
                <a:latin typeface="Consolas" panose="020B0609020204030204" pitchFamily="49" charset="0"/>
                <a:cs typeface="Times New Roman" panose="02020603050405020304" pitchFamily="18" charset="0"/>
              </a:rPr>
              <a:t>  </a:t>
            </a:r>
            <a:r>
              <a:rPr lang="en-IN" sz="2400" b="1" dirty="0" err="1">
                <a:latin typeface="Consolas" panose="020B0609020204030204" pitchFamily="49" charset="0"/>
                <a:cs typeface="Times New Roman" panose="02020603050405020304" pitchFamily="18" charset="0"/>
              </a:rPr>
              <a:t>task_creation</a:t>
            </a:r>
            <a:r>
              <a:rPr lang="en-IN" sz="2400" b="1" dirty="0">
                <a:latin typeface="Consolas" panose="020B0609020204030204" pitchFamily="49" charset="0"/>
                <a:cs typeface="Times New Roman" panose="02020603050405020304" pitchFamily="18" charset="0"/>
              </a:rPr>
              <a:t>();</a:t>
            </a:r>
          </a:p>
          <a:p>
            <a:r>
              <a:rPr lang="en-IN" sz="2400" b="1" dirty="0">
                <a:latin typeface="Consolas" panose="020B0609020204030204" pitchFamily="49" charset="0"/>
                <a:cs typeface="Times New Roman" panose="02020603050405020304" pitchFamily="18" charset="0"/>
              </a:rPr>
              <a:t>while(1){</a:t>
            </a:r>
          </a:p>
          <a:p>
            <a:r>
              <a:rPr lang="en-IN" sz="2400" b="1" dirty="0">
                <a:latin typeface="Consolas" panose="020B0609020204030204" pitchFamily="49" charset="0"/>
                <a:cs typeface="Times New Roman" panose="02020603050405020304" pitchFamily="18" charset="0"/>
              </a:rPr>
              <a:t>}</a:t>
            </a:r>
          </a:p>
          <a:p>
            <a:r>
              <a:rPr lang="en-IN" sz="2400" b="1" dirty="0">
                <a:latin typeface="Consolas" panose="020B0609020204030204" pitchFamily="49" charset="0"/>
                <a:cs typeface="Times New Roman" panose="02020603050405020304" pitchFamily="18" charset="0"/>
              </a:rPr>
              <a:t>   return 0;        }</a:t>
            </a:r>
            <a:endParaRPr lang="en-IN" sz="4000" b="1" dirty="0"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472E8F5-117D-E451-68BC-88F71DDFA93D}"/>
              </a:ext>
            </a:extLst>
          </p:cNvPr>
          <p:cNvCxnSpPr>
            <a:cxnSpLocks/>
          </p:cNvCxnSpPr>
          <p:nvPr/>
        </p:nvCxnSpPr>
        <p:spPr>
          <a:xfrm flipH="1" flipV="1">
            <a:off x="7480274" y="5864692"/>
            <a:ext cx="5352" cy="34544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893E960D-CEE0-DDB0-6908-38D37AD824CE}"/>
              </a:ext>
            </a:extLst>
          </p:cNvPr>
          <p:cNvSpPr/>
          <p:nvPr/>
        </p:nvSpPr>
        <p:spPr>
          <a:xfrm>
            <a:off x="6893341" y="4955506"/>
            <a:ext cx="599987" cy="555278"/>
          </a:xfrm>
          <a:prstGeom prst="rect">
            <a:avLst/>
          </a:prstGeom>
          <a:ln w="2857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1</a:t>
            </a:r>
            <a:r>
              <a:rPr lang="en-IN" sz="11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(rem)</a:t>
            </a:r>
            <a:endParaRPr lang="en-IN" sz="16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77BE90B-0D42-AB3A-D469-192B32B75033}"/>
              </a:ext>
            </a:extLst>
          </p:cNvPr>
          <p:cNvSpPr/>
          <p:nvPr/>
        </p:nvSpPr>
        <p:spPr>
          <a:xfrm>
            <a:off x="5952983" y="4956522"/>
            <a:ext cx="914400" cy="555278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2</a:t>
            </a:r>
            <a:r>
              <a:rPr lang="en-IN" sz="1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(rem)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1351FA7F-CF01-223D-C2F5-518BCC77DA30}"/>
              </a:ext>
            </a:extLst>
          </p:cNvPr>
          <p:cNvCxnSpPr>
            <a:cxnSpLocks/>
          </p:cNvCxnSpPr>
          <p:nvPr/>
        </p:nvCxnSpPr>
        <p:spPr>
          <a:xfrm flipV="1">
            <a:off x="7673913" y="5846769"/>
            <a:ext cx="0" cy="34410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4F260E83-36CB-1FBA-6478-3701C83B7B06}"/>
              </a:ext>
            </a:extLst>
          </p:cNvPr>
          <p:cNvSpPr/>
          <p:nvPr/>
        </p:nvSpPr>
        <p:spPr>
          <a:xfrm>
            <a:off x="7666621" y="4955506"/>
            <a:ext cx="914400" cy="555278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3</a:t>
            </a:r>
          </a:p>
        </p:txBody>
      </p:sp>
      <p:pic>
        <p:nvPicPr>
          <p:cNvPr id="1026" name="Picture 2" descr="Clock,Clip art,Alarm clock,Turquoise,Analog watch,Graphics,Wall clock ...">
            <a:extLst>
              <a:ext uri="{FF2B5EF4-FFF2-40B4-BE49-F238E27FC236}">
                <a16:creationId xmlns:a16="http://schemas.microsoft.com/office/drawing/2014/main" id="{3FA7A413-CFFD-B509-1939-781B606752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7718" y="6287479"/>
            <a:ext cx="540243" cy="540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" name="Picture 2" descr="Clock,Clip art,Alarm clock,Turquoise,Analog watch,Graphics,Wall clock ...">
            <a:extLst>
              <a:ext uri="{FF2B5EF4-FFF2-40B4-BE49-F238E27FC236}">
                <a16:creationId xmlns:a16="http://schemas.microsoft.com/office/drawing/2014/main" id="{240C559B-98CA-06B3-0B67-457C16ED01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5208" y="6274779"/>
            <a:ext cx="540243" cy="540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" name="Picture 2" descr="Clock,Clip art,Alarm clock,Turquoise,Analog watch,Graphics,Wall clock ...">
            <a:extLst>
              <a:ext uri="{FF2B5EF4-FFF2-40B4-BE49-F238E27FC236}">
                <a16:creationId xmlns:a16="http://schemas.microsoft.com/office/drawing/2014/main" id="{8F88D39B-0E82-C111-0426-2DC41B0831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6038" y="6287479"/>
            <a:ext cx="540243" cy="540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ush Button Icon 3 Types Color Stock Vector (Royalty Free) 1012989505 ...">
            <a:extLst>
              <a:ext uri="{FF2B5EF4-FFF2-40B4-BE49-F238E27FC236}">
                <a16:creationId xmlns:a16="http://schemas.microsoft.com/office/drawing/2014/main" id="{8EDA90A4-47F6-AC80-661F-23F1AE77C30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308" t="19428" r="38103" b="26191"/>
          <a:stretch>
            <a:fillRect/>
          </a:stretch>
        </p:blipFill>
        <p:spPr bwMode="auto">
          <a:xfrm>
            <a:off x="2513571" y="6268601"/>
            <a:ext cx="465628" cy="577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9" name="Picture 4" descr="Push Button Icon 3 Types Color Stock Vector (Royalty Free) 1012989505 ...">
            <a:extLst>
              <a:ext uri="{FF2B5EF4-FFF2-40B4-BE49-F238E27FC236}">
                <a16:creationId xmlns:a16="http://schemas.microsoft.com/office/drawing/2014/main" id="{D180B6C2-A954-AEC1-F549-AA12D04B65D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308" t="19428" r="38103" b="26191"/>
          <a:stretch>
            <a:fillRect/>
          </a:stretch>
        </p:blipFill>
        <p:spPr bwMode="auto">
          <a:xfrm>
            <a:off x="4796385" y="6268600"/>
            <a:ext cx="465628" cy="577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" name="Picture 4" descr="Push Button Icon 3 Types Color Stock Vector (Royalty Free) 1012989505 ...">
            <a:extLst>
              <a:ext uri="{FF2B5EF4-FFF2-40B4-BE49-F238E27FC236}">
                <a16:creationId xmlns:a16="http://schemas.microsoft.com/office/drawing/2014/main" id="{D5B67980-11C1-8695-C85D-007CA52F55D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308" t="19428" r="38103" b="26191"/>
          <a:stretch>
            <a:fillRect/>
          </a:stretch>
        </p:blipFill>
        <p:spPr bwMode="auto">
          <a:xfrm>
            <a:off x="7646281" y="6268601"/>
            <a:ext cx="465628" cy="577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9C5D4B5A-3ED8-F281-2E59-1A57B1E4F9F9}"/>
              </a:ext>
            </a:extLst>
          </p:cNvPr>
          <p:cNvSpPr txBox="1">
            <a:spLocks/>
          </p:cNvSpPr>
          <p:nvPr/>
        </p:nvSpPr>
        <p:spPr>
          <a:xfrm>
            <a:off x="4551112" y="1519219"/>
            <a:ext cx="2171088" cy="25018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400" b="1" dirty="0">
                <a:latin typeface="Consolas" panose="020B0609020204030204" pitchFamily="49" charset="0"/>
                <a:cs typeface="Times New Roman" panose="02020603050405020304" pitchFamily="18" charset="0"/>
              </a:rPr>
              <a:t>Void task1()</a:t>
            </a:r>
          </a:p>
          <a:p>
            <a:r>
              <a:rPr lang="en-IN" sz="2400" b="1" dirty="0">
                <a:latin typeface="Consolas" panose="020B0609020204030204" pitchFamily="49" charset="0"/>
                <a:cs typeface="Times New Roman" panose="02020603050405020304" pitchFamily="18" charset="0"/>
              </a:rPr>
              <a:t>{</a:t>
            </a:r>
          </a:p>
          <a:p>
            <a:r>
              <a:rPr lang="en-IN" sz="2400" b="1" dirty="0">
                <a:latin typeface="Consolas" panose="020B0609020204030204" pitchFamily="49" charset="0"/>
                <a:cs typeface="Times New Roman" panose="02020603050405020304" pitchFamily="18" charset="0"/>
              </a:rPr>
              <a:t>	</a:t>
            </a:r>
          </a:p>
          <a:p>
            <a:endParaRPr lang="en-IN" sz="2400" b="1" dirty="0">
              <a:latin typeface="Consolas" panose="020B0609020204030204" pitchFamily="49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Consolas" panose="020B0609020204030204" pitchFamily="49" charset="0"/>
                <a:cs typeface="Times New Roman" panose="02020603050405020304" pitchFamily="18" charset="0"/>
              </a:rPr>
              <a:t> }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6879FB3-C575-BECA-9A49-E24312572198}"/>
              </a:ext>
            </a:extLst>
          </p:cNvPr>
          <p:cNvSpPr/>
          <p:nvPr/>
        </p:nvSpPr>
        <p:spPr>
          <a:xfrm>
            <a:off x="7523808" y="4955506"/>
            <a:ext cx="122473" cy="555278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3923722-DD8B-6E95-40D7-0D091889A034}"/>
              </a:ext>
            </a:extLst>
          </p:cNvPr>
          <p:cNvSpPr/>
          <p:nvPr/>
        </p:nvSpPr>
        <p:spPr>
          <a:xfrm>
            <a:off x="8611501" y="4946362"/>
            <a:ext cx="677279" cy="555278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2</a:t>
            </a:r>
            <a:r>
              <a:rPr lang="en-IN" sz="1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(rem)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5C0AE72-AE64-F085-38D4-3C916AEB8BFB}"/>
              </a:ext>
            </a:extLst>
          </p:cNvPr>
          <p:cNvSpPr/>
          <p:nvPr/>
        </p:nvSpPr>
        <p:spPr>
          <a:xfrm>
            <a:off x="9317239" y="4950426"/>
            <a:ext cx="936761" cy="555278"/>
          </a:xfrm>
          <a:prstGeom prst="rect">
            <a:avLst/>
          </a:prstGeom>
          <a:ln w="2857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1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300BD6EC-453C-9E8A-1C31-6EAAC84B800D}"/>
              </a:ext>
            </a:extLst>
          </p:cNvPr>
          <p:cNvSpPr txBox="1">
            <a:spLocks/>
          </p:cNvSpPr>
          <p:nvPr/>
        </p:nvSpPr>
        <p:spPr>
          <a:xfrm>
            <a:off x="6959102" y="1529379"/>
            <a:ext cx="2171088" cy="25018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400" b="1" dirty="0">
                <a:latin typeface="Consolas" panose="020B0609020204030204" pitchFamily="49" charset="0"/>
                <a:cs typeface="Times New Roman" panose="02020603050405020304" pitchFamily="18" charset="0"/>
              </a:rPr>
              <a:t>Void task2()</a:t>
            </a:r>
          </a:p>
          <a:p>
            <a:r>
              <a:rPr lang="en-IN" sz="2400" b="1" dirty="0">
                <a:latin typeface="Consolas" panose="020B0609020204030204" pitchFamily="49" charset="0"/>
                <a:cs typeface="Times New Roman" panose="02020603050405020304" pitchFamily="18" charset="0"/>
              </a:rPr>
              <a:t>{</a:t>
            </a:r>
          </a:p>
          <a:p>
            <a:r>
              <a:rPr lang="en-IN" sz="2400" b="1" dirty="0">
                <a:latin typeface="Consolas" panose="020B0609020204030204" pitchFamily="49" charset="0"/>
                <a:cs typeface="Times New Roman" panose="02020603050405020304" pitchFamily="18" charset="0"/>
              </a:rPr>
              <a:t>	</a:t>
            </a:r>
          </a:p>
          <a:p>
            <a:endParaRPr lang="en-IN" sz="2400" b="1" dirty="0">
              <a:latin typeface="Consolas" panose="020B0609020204030204" pitchFamily="49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Consolas" panose="020B0609020204030204" pitchFamily="49" charset="0"/>
                <a:cs typeface="Times New Roman" panose="02020603050405020304" pitchFamily="18" charset="0"/>
              </a:rPr>
              <a:t> }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EEC055C3-E00B-533A-87E8-CBB5F7AC3CBF}"/>
              </a:ext>
            </a:extLst>
          </p:cNvPr>
          <p:cNvSpPr txBox="1">
            <a:spLocks/>
          </p:cNvSpPr>
          <p:nvPr/>
        </p:nvSpPr>
        <p:spPr>
          <a:xfrm>
            <a:off x="9644993" y="1519219"/>
            <a:ext cx="2171088" cy="25018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400" b="1" dirty="0">
                <a:latin typeface="Consolas" panose="020B0609020204030204" pitchFamily="49" charset="0"/>
                <a:cs typeface="Times New Roman" panose="02020603050405020304" pitchFamily="18" charset="0"/>
              </a:rPr>
              <a:t>Void task3()</a:t>
            </a:r>
          </a:p>
          <a:p>
            <a:r>
              <a:rPr lang="en-IN" sz="2400" b="1" dirty="0">
                <a:latin typeface="Consolas" panose="020B0609020204030204" pitchFamily="49" charset="0"/>
                <a:cs typeface="Times New Roman" panose="02020603050405020304" pitchFamily="18" charset="0"/>
              </a:rPr>
              <a:t>{</a:t>
            </a:r>
          </a:p>
          <a:p>
            <a:r>
              <a:rPr lang="en-IN" sz="2400" b="1" dirty="0">
                <a:latin typeface="Consolas" panose="020B0609020204030204" pitchFamily="49" charset="0"/>
                <a:cs typeface="Times New Roman" panose="02020603050405020304" pitchFamily="18" charset="0"/>
              </a:rPr>
              <a:t>	</a:t>
            </a:r>
          </a:p>
          <a:p>
            <a:endParaRPr lang="en-IN" sz="2400" b="1" dirty="0">
              <a:latin typeface="Consolas" panose="020B0609020204030204" pitchFamily="49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Consolas" panose="020B0609020204030204" pitchFamily="49" charset="0"/>
                <a:cs typeface="Times New Roman" panose="02020603050405020304" pitchFamily="18" charset="0"/>
              </a:rPr>
              <a:t> }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C4AEE261-32E9-FBD4-0D2E-CED001481AB5}"/>
              </a:ext>
            </a:extLst>
          </p:cNvPr>
          <p:cNvSpPr txBox="1">
            <a:spLocks/>
          </p:cNvSpPr>
          <p:nvPr/>
        </p:nvSpPr>
        <p:spPr>
          <a:xfrm>
            <a:off x="5343820" y="150622"/>
            <a:ext cx="2022384" cy="66071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Activity</a:t>
            </a:r>
          </a:p>
        </p:txBody>
      </p:sp>
    </p:spTree>
    <p:extLst>
      <p:ext uri="{BB962C8B-B14F-4D97-AF65-F5344CB8AC3E}">
        <p14:creationId xmlns:p14="http://schemas.microsoft.com/office/powerpoint/2010/main" val="2313802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A9268E-3605-2027-8DA3-0761A0AEB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200D0-F4BA-E46C-5D9F-490AB96B7227}"/>
              </a:ext>
            </a:extLst>
          </p:cNvPr>
          <p:cNvSpPr txBox="1">
            <a:spLocks/>
          </p:cNvSpPr>
          <p:nvPr/>
        </p:nvSpPr>
        <p:spPr>
          <a:xfrm>
            <a:off x="2459110" y="154592"/>
            <a:ext cx="7767372" cy="93503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It's Great – And Why It's Not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9217199-4592-6B32-F004-6B546A3D38B1}"/>
              </a:ext>
            </a:extLst>
          </p:cNvPr>
          <p:cNvSpPr txBox="1">
            <a:spLocks/>
          </p:cNvSpPr>
          <p:nvPr/>
        </p:nvSpPr>
        <p:spPr>
          <a:xfrm>
            <a:off x="305581" y="894079"/>
            <a:ext cx="4307057" cy="51041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03EBB01-E69E-8663-BA5B-33F471E16A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6132004"/>
              </p:ext>
            </p:extLst>
          </p:nvPr>
        </p:nvGraphicFramePr>
        <p:xfrm>
          <a:off x="294967" y="743373"/>
          <a:ext cx="11602065" cy="560879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67355">
                  <a:extLst>
                    <a:ext uri="{9D8B030D-6E8A-4147-A177-3AD203B41FA5}">
                      <a16:colId xmlns:a16="http://schemas.microsoft.com/office/drawing/2014/main" val="214892091"/>
                    </a:ext>
                  </a:extLst>
                </a:gridCol>
                <a:gridCol w="3867355">
                  <a:extLst>
                    <a:ext uri="{9D8B030D-6E8A-4147-A177-3AD203B41FA5}">
                      <a16:colId xmlns:a16="http://schemas.microsoft.com/office/drawing/2014/main" val="3426176486"/>
                    </a:ext>
                  </a:extLst>
                </a:gridCol>
                <a:gridCol w="3867355">
                  <a:extLst>
                    <a:ext uri="{9D8B030D-6E8A-4147-A177-3AD203B41FA5}">
                      <a16:colId xmlns:a16="http://schemas.microsoft.com/office/drawing/2014/main" val="3727430296"/>
                    </a:ext>
                  </a:extLst>
                </a:gridCol>
              </a:tblGrid>
              <a:tr h="37069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Super loop (without interrupt)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Super loop (with interrupt)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RTOS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8829438"/>
                  </a:ext>
                </a:extLst>
              </a:tr>
              <a:tr h="2835381">
                <a:tc>
                  <a:txBody>
                    <a:bodyPr/>
                    <a:lstStyle/>
                    <a:p>
                      <a:pPr algn="l"/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Why it’s great</a:t>
                      </a:r>
                    </a:p>
                    <a:p>
                      <a:pPr marL="342900" indent="-342900" algn="l">
                        <a:buAutoNum type="arabicParenR"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Simple</a:t>
                      </a:r>
                    </a:p>
                    <a:p>
                      <a:pPr marL="342900" indent="-342900" algn="l">
                        <a:buAutoNum type="arabicParenR"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Suitable for small projects</a:t>
                      </a:r>
                    </a:p>
                    <a:p>
                      <a:pPr marL="342900" indent="-342900" algn="l">
                        <a:buAutoNum type="arabicParenR"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Easy to learn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Why it’s great</a:t>
                      </a:r>
                    </a:p>
                    <a:p>
                      <a:pPr marL="342900" indent="-342900">
                        <a:buAutoNum type="arabicParenR"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Better responsiveness with hardware interrupts</a:t>
                      </a:r>
                    </a:p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2)  Allows time-critical operation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Why it’s great</a:t>
                      </a:r>
                    </a:p>
                    <a:p>
                      <a:pPr marL="342900" indent="-342900">
                        <a:buAutoNum type="arabicParenR"/>
                      </a:pPr>
                      <a:r>
                        <a:rPr lang="en-US" dirty="0"/>
                        <a:t>True multitasking with priority-based scheduling</a:t>
                      </a:r>
                    </a:p>
                    <a:p>
                      <a:pPr marL="342900" indent="-342900">
                        <a:buAutoNum type="arabicParenR"/>
                      </a:pPr>
                      <a:r>
                        <a:rPr lang="en-IN" dirty="0"/>
                        <a:t>Excellent responsiveness .</a:t>
                      </a:r>
                      <a:endParaRPr lang="en-US" dirty="0"/>
                    </a:p>
                    <a:p>
                      <a:pPr marL="342900" indent="-342900">
                        <a:buAutoNum type="arabicParenR"/>
                      </a:pPr>
                      <a:r>
                        <a:rPr lang="en-US" dirty="0"/>
                        <a:t>Easier to organize complex applications</a:t>
                      </a:r>
                    </a:p>
                    <a:p>
                      <a:pPr marL="342900" indent="-342900">
                        <a:buAutoNum type="arabicParenR"/>
                      </a:pPr>
                      <a:r>
                        <a:rPr lang="en-IN" dirty="0"/>
                        <a:t>Built-in features (semaphores, queues, timers, etc.)</a:t>
                      </a:r>
                    </a:p>
                    <a:p>
                      <a:pPr marL="342900" indent="-342900">
                        <a:buAutoNum type="arabicParenR"/>
                      </a:pPr>
                      <a:r>
                        <a:rPr lang="en-US" dirty="0"/>
                        <a:t>Scalable for larger embedded systems and real-time needs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659789"/>
                  </a:ext>
                </a:extLst>
              </a:tr>
              <a:tr h="2402712"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Why it’s not great</a:t>
                      </a:r>
                    </a:p>
                    <a:p>
                      <a:pPr marL="342900" indent="-342900">
                        <a:buAutoNum type="arabicParenR"/>
                      </a:pPr>
                      <a:r>
                        <a:rPr lang="en-I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Poor responsiveness</a:t>
                      </a:r>
                    </a:p>
                    <a:p>
                      <a:pPr marL="342900" indent="-342900">
                        <a:buAutoNum type="arabicParenR"/>
                      </a:pPr>
                      <a:r>
                        <a:rPr lang="en-I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Blocking tasks delay the entire system</a:t>
                      </a:r>
                    </a:p>
                    <a:p>
                      <a:pPr marL="342900" indent="-342900">
                        <a:buAutoNum type="arabicParenR"/>
                      </a:pPr>
                      <a:r>
                        <a:rPr lang="en-I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scalable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Why it’s not great</a:t>
                      </a:r>
                    </a:p>
                    <a:p>
                      <a:r>
                        <a:rPr lang="en-I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1)  Limited scalability for multitasking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Why it’s not great</a:t>
                      </a:r>
                    </a:p>
                    <a:p>
                      <a:pPr marL="342900" indent="-342900">
                        <a:buAutoNum type="arabicParenR"/>
                      </a:pPr>
                      <a:r>
                        <a:rPr lang="en-US" dirty="0"/>
                        <a:t>Requires more memory and processing power</a:t>
                      </a:r>
                    </a:p>
                    <a:p>
                      <a:pPr marL="342900" indent="-342900">
                        <a:buAutoNum type="arabicParenR"/>
                      </a:pPr>
                      <a:r>
                        <a:rPr lang="en-US" dirty="0"/>
                        <a:t>Harder to debug due to concurrency</a:t>
                      </a:r>
                    </a:p>
                    <a:p>
                      <a:pPr marL="342900" indent="-342900">
                        <a:buAutoNum type="arabicParenR"/>
                      </a:pPr>
                      <a:r>
                        <a:rPr lang="en-US" dirty="0"/>
                        <a:t>Steeper learning curve for beginners</a:t>
                      </a:r>
                    </a:p>
                    <a:p>
                      <a:pPr marL="342900" indent="-342900">
                        <a:buAutoNum type="arabicParenR"/>
                      </a:pPr>
                      <a:r>
                        <a:rPr lang="en-US" dirty="0"/>
                        <a:t>Overkill for very simple applications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3425818"/>
                  </a:ext>
                </a:extLst>
              </a:tr>
            </a:tbl>
          </a:graphicData>
        </a:graphic>
      </p:graphicFrame>
      <p:grpSp>
        <p:nvGrpSpPr>
          <p:cNvPr id="3" name="Group 2">
            <a:extLst>
              <a:ext uri="{FF2B5EF4-FFF2-40B4-BE49-F238E27FC236}">
                <a16:creationId xmlns:a16="http://schemas.microsoft.com/office/drawing/2014/main" id="{92C8F7C1-031C-54B8-83B1-BC9D0D569566}"/>
              </a:ext>
            </a:extLst>
          </p:cNvPr>
          <p:cNvGrpSpPr/>
          <p:nvPr/>
        </p:nvGrpSpPr>
        <p:grpSpPr>
          <a:xfrm>
            <a:off x="0" y="6460919"/>
            <a:ext cx="12192000" cy="400250"/>
            <a:chOff x="0" y="6460919"/>
            <a:chExt cx="12192000" cy="40025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6AE36DE-D7A7-89D4-1FCA-E9A1E4BD9E17}"/>
                </a:ext>
              </a:extLst>
            </p:cNvPr>
            <p:cNvSpPr/>
            <p:nvPr/>
          </p:nvSpPr>
          <p:spPr>
            <a:xfrm>
              <a:off x="0" y="6460919"/>
              <a:ext cx="12192000" cy="397079"/>
            </a:xfrm>
            <a:prstGeom prst="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dirty="0"/>
                <a:t>                   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Jai Raja Saravanam S                                                                                                        </a:t>
              </a:r>
              <a:r>
                <a:rPr lang="en-IN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Emcog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Solutions</a:t>
              </a:r>
              <a:r>
                <a:rPr lang="en-IN" dirty="0"/>
                <a:t> </a:t>
              </a: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3D2367CA-F9E3-60DD-CD97-DB3EFD5A58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734477" y="6478141"/>
              <a:ext cx="349866" cy="3830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734852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E0BEE0-A36C-B679-3A12-E37B6ECB4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A221ADBF-E935-E310-5DAB-8BCAA361728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91861190"/>
              </p:ext>
            </p:extLst>
          </p:nvPr>
        </p:nvGraphicFramePr>
        <p:xfrm>
          <a:off x="505326" y="1402111"/>
          <a:ext cx="8864867" cy="28489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4E7283E8-239A-46A1-A529-33F634FC9CF2}"/>
              </a:ext>
            </a:extLst>
          </p:cNvPr>
          <p:cNvSpPr txBox="1"/>
          <p:nvPr/>
        </p:nvSpPr>
        <p:spPr>
          <a:xfrm>
            <a:off x="292330" y="4511742"/>
            <a:ext cx="36271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 the deadline leads to system failure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4531EE7-6E1F-26D0-3BC2-4959D0C57F9B}"/>
              </a:ext>
            </a:extLst>
          </p:cNvPr>
          <p:cNvSpPr txBox="1"/>
          <p:nvPr/>
        </p:nvSpPr>
        <p:spPr>
          <a:xfrm>
            <a:off x="5859780" y="4511742"/>
            <a:ext cx="40436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 the deadline degrades the performance of the system .(No system failure) 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25D651C6-FABD-533B-5261-F51AF86268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3839" y="121412"/>
            <a:ext cx="9144000" cy="830998"/>
          </a:xfrm>
        </p:spPr>
        <p:txBody>
          <a:bodyPr>
            <a:noAutofit/>
          </a:bodyPr>
          <a:lstStyle/>
          <a:p>
            <a: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Real Time System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305965F-C361-1C30-3085-F08DF10A81A2}"/>
              </a:ext>
            </a:extLst>
          </p:cNvPr>
          <p:cNvSpPr txBox="1"/>
          <p:nvPr/>
        </p:nvSpPr>
        <p:spPr>
          <a:xfrm>
            <a:off x="7226434" y="1859982"/>
            <a:ext cx="50062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A system which has deadline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128337D-A7D9-BF53-4856-3CEEDC9470CA}"/>
              </a:ext>
            </a:extLst>
          </p:cNvPr>
          <p:cNvGrpSpPr/>
          <p:nvPr/>
        </p:nvGrpSpPr>
        <p:grpSpPr>
          <a:xfrm>
            <a:off x="0" y="6460919"/>
            <a:ext cx="12192000" cy="400250"/>
            <a:chOff x="0" y="6460919"/>
            <a:chExt cx="12192000" cy="4002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FD85043-5ABE-2617-7317-8A70229833E5}"/>
                </a:ext>
              </a:extLst>
            </p:cNvPr>
            <p:cNvSpPr/>
            <p:nvPr/>
          </p:nvSpPr>
          <p:spPr>
            <a:xfrm>
              <a:off x="0" y="6460919"/>
              <a:ext cx="12192000" cy="397079"/>
            </a:xfrm>
            <a:prstGeom prst="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dirty="0"/>
                <a:t>                   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Jai Raja Saravanam S                                                                                                        </a:t>
              </a:r>
              <a:r>
                <a:rPr lang="en-IN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Emcog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Solutions</a:t>
              </a:r>
              <a:r>
                <a:rPr lang="en-IN" dirty="0"/>
                <a:t> </a:t>
              </a: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B4D841AD-E484-4EF7-23A0-2EBA3468B5E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734477" y="6478141"/>
              <a:ext cx="349866" cy="3830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560669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oud 1">
            <a:extLst>
              <a:ext uri="{FF2B5EF4-FFF2-40B4-BE49-F238E27FC236}">
                <a16:creationId xmlns:a16="http://schemas.microsoft.com/office/drawing/2014/main" id="{64B7B601-3865-ED97-0228-B7B9B01F3100}"/>
              </a:ext>
            </a:extLst>
          </p:cNvPr>
          <p:cNvSpPr/>
          <p:nvPr/>
        </p:nvSpPr>
        <p:spPr>
          <a:xfrm>
            <a:off x="383284" y="1478105"/>
            <a:ext cx="1776845" cy="1091046"/>
          </a:xfrm>
          <a:prstGeom prst="cloud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</a:t>
            </a:r>
          </a:p>
        </p:txBody>
      </p:sp>
      <p:sp>
        <p:nvSpPr>
          <p:cNvPr id="3" name="Cloud 2">
            <a:extLst>
              <a:ext uri="{FF2B5EF4-FFF2-40B4-BE49-F238E27FC236}">
                <a16:creationId xmlns:a16="http://schemas.microsoft.com/office/drawing/2014/main" id="{57371E6C-0850-28AE-16C4-0870DD81B751}"/>
              </a:ext>
            </a:extLst>
          </p:cNvPr>
          <p:cNvSpPr/>
          <p:nvPr/>
        </p:nvSpPr>
        <p:spPr>
          <a:xfrm>
            <a:off x="6123708" y="1761110"/>
            <a:ext cx="1776845" cy="1091046"/>
          </a:xfrm>
          <a:prstGeom prst="cloud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scheduler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C1C4F02-5AF7-DFF9-C00C-59AF1ECC3837}"/>
              </a:ext>
            </a:extLst>
          </p:cNvPr>
          <p:cNvSpPr txBox="1">
            <a:spLocks/>
          </p:cNvSpPr>
          <p:nvPr/>
        </p:nvSpPr>
        <p:spPr>
          <a:xfrm>
            <a:off x="4525205" y="185763"/>
            <a:ext cx="3141590" cy="59355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Terminologies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loud 4">
            <a:extLst>
              <a:ext uri="{FF2B5EF4-FFF2-40B4-BE49-F238E27FC236}">
                <a16:creationId xmlns:a16="http://schemas.microsoft.com/office/drawing/2014/main" id="{F8AAE48F-0B2D-3EDB-AEFB-FC3221E3F0C7}"/>
              </a:ext>
            </a:extLst>
          </p:cNvPr>
          <p:cNvSpPr/>
          <p:nvPr/>
        </p:nvSpPr>
        <p:spPr>
          <a:xfrm>
            <a:off x="9271393" y="1020711"/>
            <a:ext cx="2325832" cy="1091046"/>
          </a:xfrm>
          <a:prstGeom prst="cloud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Pre-emption</a:t>
            </a:r>
          </a:p>
        </p:txBody>
      </p:sp>
      <p:sp>
        <p:nvSpPr>
          <p:cNvPr id="6" name="Cloud 5">
            <a:extLst>
              <a:ext uri="{FF2B5EF4-FFF2-40B4-BE49-F238E27FC236}">
                <a16:creationId xmlns:a16="http://schemas.microsoft.com/office/drawing/2014/main" id="{228AE8EB-C593-BDD2-8043-BAD929C4E437}"/>
              </a:ext>
            </a:extLst>
          </p:cNvPr>
          <p:cNvSpPr/>
          <p:nvPr/>
        </p:nvSpPr>
        <p:spPr>
          <a:xfrm>
            <a:off x="8094540" y="2504877"/>
            <a:ext cx="2325832" cy="1091046"/>
          </a:xfrm>
          <a:prstGeom prst="cloud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Round Robin</a:t>
            </a:r>
          </a:p>
        </p:txBody>
      </p:sp>
      <p:sp>
        <p:nvSpPr>
          <p:cNvPr id="7" name="Cloud 6">
            <a:extLst>
              <a:ext uri="{FF2B5EF4-FFF2-40B4-BE49-F238E27FC236}">
                <a16:creationId xmlns:a16="http://schemas.microsoft.com/office/drawing/2014/main" id="{5A439D2A-CE99-495C-7082-2A97313F2DE5}"/>
              </a:ext>
            </a:extLst>
          </p:cNvPr>
          <p:cNvSpPr/>
          <p:nvPr/>
        </p:nvSpPr>
        <p:spPr>
          <a:xfrm>
            <a:off x="402647" y="3223778"/>
            <a:ext cx="2325832" cy="1091046"/>
          </a:xfrm>
          <a:prstGeom prst="cloud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Semaphore</a:t>
            </a:r>
          </a:p>
        </p:txBody>
      </p:sp>
      <p:sp>
        <p:nvSpPr>
          <p:cNvPr id="8" name="Cloud 7">
            <a:extLst>
              <a:ext uri="{FF2B5EF4-FFF2-40B4-BE49-F238E27FC236}">
                <a16:creationId xmlns:a16="http://schemas.microsoft.com/office/drawing/2014/main" id="{C882D748-5846-58E4-46A5-E740276DA146}"/>
              </a:ext>
            </a:extLst>
          </p:cNvPr>
          <p:cNvSpPr/>
          <p:nvPr/>
        </p:nvSpPr>
        <p:spPr>
          <a:xfrm>
            <a:off x="3247988" y="979712"/>
            <a:ext cx="2325832" cy="1091046"/>
          </a:xfrm>
          <a:prstGeom prst="cloud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Mutex</a:t>
            </a:r>
          </a:p>
        </p:txBody>
      </p:sp>
      <p:sp>
        <p:nvSpPr>
          <p:cNvPr id="9" name="Cloud 8">
            <a:extLst>
              <a:ext uri="{FF2B5EF4-FFF2-40B4-BE49-F238E27FC236}">
                <a16:creationId xmlns:a16="http://schemas.microsoft.com/office/drawing/2014/main" id="{078152E3-9A58-C023-A27C-4BAA452629D4}"/>
              </a:ext>
            </a:extLst>
          </p:cNvPr>
          <p:cNvSpPr/>
          <p:nvPr/>
        </p:nvSpPr>
        <p:spPr>
          <a:xfrm>
            <a:off x="6280365" y="5169477"/>
            <a:ext cx="2325832" cy="1091046"/>
          </a:xfrm>
          <a:prstGeom prst="cloud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Notification</a:t>
            </a:r>
          </a:p>
        </p:txBody>
      </p:sp>
      <p:sp>
        <p:nvSpPr>
          <p:cNvPr id="10" name="Cloud 9">
            <a:extLst>
              <a:ext uri="{FF2B5EF4-FFF2-40B4-BE49-F238E27FC236}">
                <a16:creationId xmlns:a16="http://schemas.microsoft.com/office/drawing/2014/main" id="{EC09337D-B2D5-288C-50EB-FEC3C28E388F}"/>
              </a:ext>
            </a:extLst>
          </p:cNvPr>
          <p:cNvSpPr/>
          <p:nvPr/>
        </p:nvSpPr>
        <p:spPr>
          <a:xfrm>
            <a:off x="6123708" y="3861985"/>
            <a:ext cx="2325832" cy="1091046"/>
          </a:xfrm>
          <a:prstGeom prst="cloud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Stack</a:t>
            </a:r>
          </a:p>
        </p:txBody>
      </p:sp>
      <p:sp>
        <p:nvSpPr>
          <p:cNvPr id="11" name="Cloud 10">
            <a:extLst>
              <a:ext uri="{FF2B5EF4-FFF2-40B4-BE49-F238E27FC236}">
                <a16:creationId xmlns:a16="http://schemas.microsoft.com/office/drawing/2014/main" id="{8E5AD08A-9877-AC71-0070-57D2C63FAC49}"/>
              </a:ext>
            </a:extLst>
          </p:cNvPr>
          <p:cNvSpPr/>
          <p:nvPr/>
        </p:nvSpPr>
        <p:spPr>
          <a:xfrm>
            <a:off x="3247988" y="5169479"/>
            <a:ext cx="2325832" cy="1091046"/>
          </a:xfrm>
          <a:prstGeom prst="cloud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Control Block</a:t>
            </a:r>
          </a:p>
        </p:txBody>
      </p:sp>
      <p:sp>
        <p:nvSpPr>
          <p:cNvPr id="12" name="Cloud 11">
            <a:extLst>
              <a:ext uri="{FF2B5EF4-FFF2-40B4-BE49-F238E27FC236}">
                <a16:creationId xmlns:a16="http://schemas.microsoft.com/office/drawing/2014/main" id="{6C42D6C9-EAC3-33FA-29D2-8058BB23A430}"/>
              </a:ext>
            </a:extLst>
          </p:cNvPr>
          <p:cNvSpPr/>
          <p:nvPr/>
        </p:nvSpPr>
        <p:spPr>
          <a:xfrm>
            <a:off x="9463521" y="3637065"/>
            <a:ext cx="2325832" cy="1091046"/>
          </a:xfrm>
          <a:prstGeom prst="cloud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Co-operative</a:t>
            </a:r>
          </a:p>
        </p:txBody>
      </p:sp>
      <p:sp>
        <p:nvSpPr>
          <p:cNvPr id="13" name="Cloud 12">
            <a:extLst>
              <a:ext uri="{FF2B5EF4-FFF2-40B4-BE49-F238E27FC236}">
                <a16:creationId xmlns:a16="http://schemas.microsoft.com/office/drawing/2014/main" id="{A8CF28A2-0D43-BC89-AA88-E31DEFCFC18B}"/>
              </a:ext>
            </a:extLst>
          </p:cNvPr>
          <p:cNvSpPr/>
          <p:nvPr/>
        </p:nvSpPr>
        <p:spPr>
          <a:xfrm>
            <a:off x="215611" y="5309754"/>
            <a:ext cx="2325832" cy="1091046"/>
          </a:xfrm>
          <a:prstGeom prst="cloud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Context Switching</a:t>
            </a:r>
          </a:p>
        </p:txBody>
      </p:sp>
      <p:sp>
        <p:nvSpPr>
          <p:cNvPr id="14" name="Cloud 13">
            <a:extLst>
              <a:ext uri="{FF2B5EF4-FFF2-40B4-BE49-F238E27FC236}">
                <a16:creationId xmlns:a16="http://schemas.microsoft.com/office/drawing/2014/main" id="{9E1E9AA5-B330-418B-7F21-82BA0FEEEE64}"/>
              </a:ext>
            </a:extLst>
          </p:cNvPr>
          <p:cNvSpPr/>
          <p:nvPr/>
        </p:nvSpPr>
        <p:spPr>
          <a:xfrm>
            <a:off x="9271393" y="5291766"/>
            <a:ext cx="2325832" cy="1091046"/>
          </a:xfrm>
          <a:prstGeom prst="cloud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Rtos</a:t>
            </a:r>
            <a:r>
              <a:rPr lang="en-IN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tick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075C339-3DC6-E15B-865C-70B7A03DBDB0}"/>
              </a:ext>
            </a:extLst>
          </p:cNvPr>
          <p:cNvGrpSpPr/>
          <p:nvPr/>
        </p:nvGrpSpPr>
        <p:grpSpPr>
          <a:xfrm>
            <a:off x="0" y="6460919"/>
            <a:ext cx="12192000" cy="400250"/>
            <a:chOff x="0" y="6460919"/>
            <a:chExt cx="12192000" cy="400250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2DB8659-30BA-C283-F69D-FE008119A166}"/>
                </a:ext>
              </a:extLst>
            </p:cNvPr>
            <p:cNvSpPr/>
            <p:nvPr/>
          </p:nvSpPr>
          <p:spPr>
            <a:xfrm>
              <a:off x="0" y="6460919"/>
              <a:ext cx="12192000" cy="397079"/>
            </a:xfrm>
            <a:prstGeom prst="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dirty="0"/>
                <a:t>                   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Jai Raja Saravanam S                                                                                                        </a:t>
              </a:r>
              <a:r>
                <a:rPr lang="en-IN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Emcog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Solutions</a:t>
              </a:r>
              <a:r>
                <a:rPr lang="en-IN" dirty="0"/>
                <a:t> </a:t>
              </a:r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63AA17CB-FC72-8634-F618-BEE34307A10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734477" y="6478141"/>
              <a:ext cx="349866" cy="383028"/>
            </a:xfrm>
            <a:prstGeom prst="rect">
              <a:avLst/>
            </a:prstGeom>
          </p:spPr>
        </p:pic>
      </p:grpSp>
      <p:sp>
        <p:nvSpPr>
          <p:cNvPr id="18" name="Cloud 17">
            <a:extLst>
              <a:ext uri="{FF2B5EF4-FFF2-40B4-BE49-F238E27FC236}">
                <a16:creationId xmlns:a16="http://schemas.microsoft.com/office/drawing/2014/main" id="{9D9FD434-756D-5B68-C02B-7B55BE9344F0}"/>
              </a:ext>
            </a:extLst>
          </p:cNvPr>
          <p:cNvSpPr/>
          <p:nvPr/>
        </p:nvSpPr>
        <p:spPr>
          <a:xfrm>
            <a:off x="3330282" y="3005386"/>
            <a:ext cx="2487587" cy="1091046"/>
          </a:xfrm>
          <a:prstGeom prst="cloud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Idle Task</a:t>
            </a:r>
          </a:p>
          <a:p>
            <a:pPr algn="ctr"/>
            <a:r>
              <a:rPr lang="en-IN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</a:p>
          <a:p>
            <a:pPr algn="ctr"/>
            <a:r>
              <a:rPr lang="en-IN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Timer task</a:t>
            </a:r>
          </a:p>
        </p:txBody>
      </p:sp>
      <p:sp>
        <p:nvSpPr>
          <p:cNvPr id="19" name="Cloud 18">
            <a:extLst>
              <a:ext uri="{FF2B5EF4-FFF2-40B4-BE49-F238E27FC236}">
                <a16:creationId xmlns:a16="http://schemas.microsoft.com/office/drawing/2014/main" id="{A2ED40FD-7C37-4117-9EC5-F4300E786F02}"/>
              </a:ext>
            </a:extLst>
          </p:cNvPr>
          <p:cNvSpPr/>
          <p:nvPr/>
        </p:nvSpPr>
        <p:spPr>
          <a:xfrm>
            <a:off x="7218639" y="960485"/>
            <a:ext cx="1690771" cy="653746"/>
          </a:xfrm>
          <a:prstGeom prst="cloud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Queue</a:t>
            </a:r>
          </a:p>
        </p:txBody>
      </p:sp>
    </p:spTree>
    <p:extLst>
      <p:ext uri="{BB962C8B-B14F-4D97-AF65-F5344CB8AC3E}">
        <p14:creationId xmlns:p14="http://schemas.microsoft.com/office/powerpoint/2010/main" val="296431373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B1562-3A4B-406B-F3F7-BE30D3916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18E3CA-EC79-BF7E-A8D3-232613862A77}"/>
              </a:ext>
            </a:extLst>
          </p:cNvPr>
          <p:cNvSpPr txBox="1">
            <a:spLocks/>
          </p:cNvSpPr>
          <p:nvPr/>
        </p:nvSpPr>
        <p:spPr>
          <a:xfrm>
            <a:off x="5492276" y="156154"/>
            <a:ext cx="1207448" cy="60238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09AFEF-9E96-0612-303C-4A5CE1D0B4C3}"/>
              </a:ext>
            </a:extLst>
          </p:cNvPr>
          <p:cNvSpPr txBox="1">
            <a:spLocks/>
          </p:cNvSpPr>
          <p:nvPr/>
        </p:nvSpPr>
        <p:spPr>
          <a:xfrm>
            <a:off x="947125" y="703386"/>
            <a:ext cx="3303600" cy="73178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 c function</a:t>
            </a: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Runs infinitely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0493AC-8BC4-33BA-ACE5-534F35F81E56}"/>
              </a:ext>
            </a:extLst>
          </p:cNvPr>
          <p:cNvSpPr txBox="1"/>
          <p:nvPr/>
        </p:nvSpPr>
        <p:spPr>
          <a:xfrm>
            <a:off x="1306774" y="2080296"/>
            <a:ext cx="11156328" cy="42165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IN" sz="1600" dirty="0" err="1">
                <a:solidFill>
                  <a:srgbClr val="00B050"/>
                </a:solidFill>
                <a:latin typeface="Consolas" panose="020B0609020204030204" pitchFamily="49" charset="0"/>
              </a:rPr>
              <a:t>BaseType_t</a:t>
            </a:r>
            <a:r>
              <a:rPr lang="en-IN" sz="1600" dirty="0">
                <a:solidFill>
                  <a:srgbClr val="00B050"/>
                </a:solidFill>
                <a:latin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00B0F0"/>
                </a:solidFill>
                <a:latin typeface="Consolas" panose="020B0609020204030204" pitchFamily="49" charset="0"/>
              </a:rPr>
              <a:t>xTaskCreate</a:t>
            </a:r>
            <a:r>
              <a:rPr lang="en-IN" sz="1600" dirty="0">
                <a:solidFill>
                  <a:srgbClr val="00B0F0"/>
                </a:solidFill>
                <a:latin typeface="Consolas" panose="020B0609020204030204" pitchFamily="49" charset="0"/>
              </a:rPr>
              <a:t> </a:t>
            </a:r>
            <a:r>
              <a:rPr lang="en-IN" sz="1600" dirty="0">
                <a:latin typeface="Consolas" panose="020B0609020204030204" pitchFamily="49" charset="0"/>
              </a:rPr>
              <a:t>( </a:t>
            </a:r>
            <a:r>
              <a:rPr lang="en-IN" sz="1600" dirty="0" err="1">
                <a:latin typeface="Consolas" panose="020B0609020204030204" pitchFamily="49" charset="0"/>
              </a:rPr>
              <a:t>TaskFunction_t</a:t>
            </a:r>
            <a:r>
              <a:rPr lang="en-IN" sz="1600" dirty="0">
                <a:latin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7030A0"/>
                </a:solidFill>
                <a:latin typeface="Consolas" panose="020B0609020204030204" pitchFamily="49" charset="0"/>
              </a:rPr>
              <a:t>pxTaskCode</a:t>
            </a:r>
            <a:r>
              <a:rPr lang="en-IN" sz="1600" dirty="0">
                <a:latin typeface="Consolas" panose="020B0609020204030204" pitchFamily="49" charset="0"/>
              </a:rPr>
              <a:t>,</a:t>
            </a:r>
          </a:p>
          <a:p>
            <a:pPr>
              <a:spcAft>
                <a:spcPts val="600"/>
              </a:spcAft>
            </a:pPr>
            <a:r>
              <a:rPr lang="en-IN" sz="1600" dirty="0">
                <a:latin typeface="Consolas" panose="020B0609020204030204" pitchFamily="49" charset="0"/>
              </a:rPr>
              <a:t>			</a:t>
            </a:r>
            <a:r>
              <a:rPr lang="en-IN" sz="1600" dirty="0" err="1">
                <a:latin typeface="Consolas" panose="020B0609020204030204" pitchFamily="49" charset="0"/>
              </a:rPr>
              <a:t>const</a:t>
            </a:r>
            <a:r>
              <a:rPr lang="en-IN" sz="1600" dirty="0">
                <a:latin typeface="Consolas" panose="020B0609020204030204" pitchFamily="49" charset="0"/>
              </a:rPr>
              <a:t> char * </a:t>
            </a:r>
            <a:r>
              <a:rPr lang="en-IN" sz="1600" dirty="0" err="1">
                <a:latin typeface="Consolas" panose="020B0609020204030204" pitchFamily="49" charset="0"/>
              </a:rPr>
              <a:t>const</a:t>
            </a:r>
            <a:r>
              <a:rPr lang="en-IN" sz="1600" dirty="0">
                <a:latin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7030A0"/>
                </a:solidFill>
                <a:latin typeface="Consolas" panose="020B0609020204030204" pitchFamily="49" charset="0"/>
              </a:rPr>
              <a:t>pcName</a:t>
            </a:r>
            <a:r>
              <a:rPr lang="en-IN" sz="1600" dirty="0">
                <a:latin typeface="Consolas" panose="020B0609020204030204" pitchFamily="49" charset="0"/>
              </a:rPr>
              <a:t>, </a:t>
            </a:r>
          </a:p>
          <a:p>
            <a:pPr>
              <a:spcAft>
                <a:spcPts val="600"/>
              </a:spcAft>
            </a:pPr>
            <a:r>
              <a:rPr lang="en-IN" sz="1600" dirty="0">
                <a:latin typeface="Consolas" panose="020B0609020204030204" pitchFamily="49" charset="0"/>
              </a:rPr>
              <a:t>			</a:t>
            </a:r>
            <a:r>
              <a:rPr lang="en-IN" sz="1600" dirty="0" err="1">
                <a:latin typeface="Consolas" panose="020B0609020204030204" pitchFamily="49" charset="0"/>
              </a:rPr>
              <a:t>const</a:t>
            </a:r>
            <a:r>
              <a:rPr lang="en-IN" sz="1600" dirty="0">
                <a:latin typeface="Consolas" panose="020B0609020204030204" pitchFamily="49" charset="0"/>
              </a:rPr>
              <a:t> </a:t>
            </a:r>
            <a:r>
              <a:rPr lang="en-IN" sz="1600" dirty="0" err="1">
                <a:latin typeface="Consolas" panose="020B0609020204030204" pitchFamily="49" charset="0"/>
              </a:rPr>
              <a:t>configSTACK_DEPTH_TYPE</a:t>
            </a:r>
            <a:r>
              <a:rPr lang="en-IN" sz="1600" dirty="0">
                <a:latin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7030A0"/>
                </a:solidFill>
                <a:latin typeface="Consolas" panose="020B0609020204030204" pitchFamily="49" charset="0"/>
              </a:rPr>
              <a:t>usStackDepth</a:t>
            </a:r>
            <a:r>
              <a:rPr lang="en-IN" sz="1600" dirty="0">
                <a:latin typeface="Consolas" panose="020B0609020204030204" pitchFamily="49" charset="0"/>
              </a:rPr>
              <a:t>,</a:t>
            </a:r>
          </a:p>
          <a:p>
            <a:pPr>
              <a:spcAft>
                <a:spcPts val="600"/>
              </a:spcAft>
            </a:pPr>
            <a:r>
              <a:rPr lang="en-IN" sz="1600" dirty="0">
                <a:latin typeface="Consolas" panose="020B0609020204030204" pitchFamily="49" charset="0"/>
              </a:rPr>
              <a:t>			void * </a:t>
            </a:r>
            <a:r>
              <a:rPr lang="en-IN" sz="1600" dirty="0" err="1">
                <a:latin typeface="Consolas" panose="020B0609020204030204" pitchFamily="49" charset="0"/>
              </a:rPr>
              <a:t>const</a:t>
            </a:r>
            <a:r>
              <a:rPr lang="en-IN" sz="1600" dirty="0">
                <a:latin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7030A0"/>
                </a:solidFill>
                <a:latin typeface="Consolas" panose="020B0609020204030204" pitchFamily="49" charset="0"/>
              </a:rPr>
              <a:t>pvParameters</a:t>
            </a:r>
            <a:r>
              <a:rPr lang="en-IN" sz="1600" dirty="0">
                <a:latin typeface="Consolas" panose="020B0609020204030204" pitchFamily="49" charset="0"/>
              </a:rPr>
              <a:t>,</a:t>
            </a:r>
          </a:p>
          <a:p>
            <a:pPr>
              <a:spcAft>
                <a:spcPts val="600"/>
              </a:spcAft>
            </a:pPr>
            <a:r>
              <a:rPr lang="en-IN" sz="1600" dirty="0">
                <a:latin typeface="Consolas" panose="020B0609020204030204" pitchFamily="49" charset="0"/>
              </a:rPr>
              <a:t> 			</a:t>
            </a:r>
            <a:r>
              <a:rPr lang="en-IN" sz="1600" dirty="0" err="1">
                <a:latin typeface="Consolas" panose="020B0609020204030204" pitchFamily="49" charset="0"/>
              </a:rPr>
              <a:t>UBaseType_t</a:t>
            </a:r>
            <a:r>
              <a:rPr lang="en-IN" sz="1600" dirty="0">
                <a:latin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7030A0"/>
                </a:solidFill>
                <a:latin typeface="Consolas" panose="020B0609020204030204" pitchFamily="49" charset="0"/>
              </a:rPr>
              <a:t>uxPriority</a:t>
            </a:r>
            <a:r>
              <a:rPr lang="en-IN" sz="1600" dirty="0">
                <a:latin typeface="Consolas" panose="020B0609020204030204" pitchFamily="49" charset="0"/>
              </a:rPr>
              <a:t>, </a:t>
            </a:r>
          </a:p>
          <a:p>
            <a:pPr>
              <a:spcAft>
                <a:spcPts val="600"/>
              </a:spcAft>
            </a:pPr>
            <a:r>
              <a:rPr lang="en-IN" sz="1600" dirty="0">
                <a:latin typeface="Consolas" panose="020B0609020204030204" pitchFamily="49" charset="0"/>
              </a:rPr>
              <a:t>			</a:t>
            </a:r>
            <a:r>
              <a:rPr lang="en-IN" sz="1600" dirty="0" err="1">
                <a:latin typeface="Consolas" panose="020B0609020204030204" pitchFamily="49" charset="0"/>
              </a:rPr>
              <a:t>TaskHandle_t</a:t>
            </a:r>
            <a:r>
              <a:rPr lang="en-IN" sz="1600" dirty="0">
                <a:latin typeface="Consolas" panose="020B0609020204030204" pitchFamily="49" charset="0"/>
              </a:rPr>
              <a:t> * </a:t>
            </a:r>
            <a:r>
              <a:rPr lang="en-IN" sz="1600" dirty="0" err="1">
                <a:latin typeface="Consolas" panose="020B0609020204030204" pitchFamily="49" charset="0"/>
              </a:rPr>
              <a:t>const</a:t>
            </a:r>
            <a:r>
              <a:rPr lang="en-IN" sz="1600" dirty="0">
                <a:latin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7030A0"/>
                </a:solidFill>
                <a:latin typeface="Consolas" panose="020B0609020204030204" pitchFamily="49" charset="0"/>
              </a:rPr>
              <a:t>pxCreatedTask</a:t>
            </a:r>
            <a:r>
              <a:rPr lang="en-IN" sz="1600" dirty="0">
                <a:latin typeface="Consolas" panose="020B0609020204030204" pitchFamily="49" charset="0"/>
              </a:rPr>
              <a:t> )</a:t>
            </a:r>
          </a:p>
          <a:p>
            <a:pPr>
              <a:spcAft>
                <a:spcPts val="600"/>
              </a:spcAft>
            </a:pPr>
            <a:endParaRPr lang="en-IN" sz="1600" dirty="0">
              <a:latin typeface="Consolas" panose="020B0609020204030204" pitchFamily="49" charset="0"/>
            </a:endParaRPr>
          </a:p>
          <a:p>
            <a:pPr>
              <a:spcAft>
                <a:spcPts val="600"/>
              </a:spcAft>
            </a:pPr>
            <a:endParaRPr lang="en-IN" sz="1600" dirty="0">
              <a:latin typeface="Consolas" panose="020B0609020204030204" pitchFamily="49" charset="0"/>
            </a:endParaRPr>
          </a:p>
          <a:p>
            <a:pPr>
              <a:spcAft>
                <a:spcPts val="600"/>
              </a:spcAft>
            </a:pPr>
            <a:endParaRPr lang="en-IN" sz="1600" dirty="0">
              <a:latin typeface="Consolas" panose="020B0609020204030204" pitchFamily="49" charset="0"/>
            </a:endParaRPr>
          </a:p>
          <a:p>
            <a:pPr>
              <a:spcAft>
                <a:spcPts val="600"/>
              </a:spcAft>
            </a:pPr>
            <a:r>
              <a:rPr lang="nb-NO" sz="1600" dirty="0">
                <a:latin typeface="Consolas" panose="020B0609020204030204" pitchFamily="49" charset="0"/>
              </a:rPr>
              <a:t>	</a:t>
            </a:r>
            <a:r>
              <a:rPr lang="nb-NO" sz="1600" dirty="0">
                <a:solidFill>
                  <a:srgbClr val="00B0F0"/>
                </a:solidFill>
                <a:latin typeface="Consolas" panose="020B0609020204030204" pitchFamily="49" charset="0"/>
              </a:rPr>
              <a:t>x</a:t>
            </a:r>
            <a:r>
              <a:rPr lang="nb-NO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nb-NO" sz="16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It is the </a:t>
            </a:r>
            <a:r>
              <a:rPr lang="nb-NO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return type</a:t>
            </a:r>
            <a:r>
              <a:rPr lang="nb-NO" sz="16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of the function .It returns value of type </a:t>
            </a:r>
            <a:r>
              <a:rPr lang="nb-NO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Basetype_t</a:t>
            </a:r>
          </a:p>
          <a:p>
            <a:pPr>
              <a:spcAft>
                <a:spcPts val="600"/>
              </a:spcAft>
            </a:pPr>
            <a:r>
              <a:rPr lang="nb-NO" sz="16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	</a:t>
            </a:r>
            <a:r>
              <a:rPr lang="nb-NO" sz="1600" dirty="0">
                <a:solidFill>
                  <a:srgbClr val="00B0F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Task</a:t>
            </a:r>
            <a:r>
              <a:rPr lang="nb-NO" sz="16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     It represent the </a:t>
            </a:r>
            <a:r>
              <a:rPr lang="nb-NO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location (File)</a:t>
            </a:r>
            <a:r>
              <a:rPr lang="nb-NO" sz="16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where the function is stored . It is present in Tasks.c</a:t>
            </a:r>
          </a:p>
          <a:p>
            <a:pPr>
              <a:spcAft>
                <a:spcPts val="600"/>
              </a:spcAft>
            </a:pPr>
            <a:r>
              <a:rPr lang="nb-NO" sz="16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	</a:t>
            </a:r>
            <a:r>
              <a:rPr lang="nb-NO" sz="1600" dirty="0">
                <a:solidFill>
                  <a:srgbClr val="00B0F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Create</a:t>
            </a:r>
            <a:r>
              <a:rPr lang="nb-NO" sz="16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  It tells about the action that it performs.</a:t>
            </a:r>
            <a:endParaRPr lang="en-IN" sz="1600" dirty="0"/>
          </a:p>
          <a:p>
            <a:pPr>
              <a:spcAft>
                <a:spcPts val="600"/>
              </a:spcAft>
            </a:pPr>
            <a:endParaRPr lang="en-IN" sz="1600" dirty="0">
              <a:latin typeface="Consolas" panose="020B0609020204030204" pitchFamily="49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7385676-2602-5DF9-F946-4EB476914115}"/>
              </a:ext>
            </a:extLst>
          </p:cNvPr>
          <p:cNvSpPr txBox="1">
            <a:spLocks/>
          </p:cNvSpPr>
          <p:nvPr/>
        </p:nvSpPr>
        <p:spPr>
          <a:xfrm>
            <a:off x="181691" y="1593976"/>
            <a:ext cx="9574395" cy="40011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 u="sng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RTOS API</a:t>
            </a:r>
            <a:endParaRPr lang="en-IN" sz="2000" u="sng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B7A9FA0-2766-7CE5-7C7A-BC4DCAAA3B23}"/>
              </a:ext>
            </a:extLst>
          </p:cNvPr>
          <p:cNvGrpSpPr/>
          <p:nvPr/>
        </p:nvGrpSpPr>
        <p:grpSpPr>
          <a:xfrm>
            <a:off x="0" y="6460919"/>
            <a:ext cx="12192000" cy="400250"/>
            <a:chOff x="0" y="6460919"/>
            <a:chExt cx="12192000" cy="40025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75A2BCB-FBA1-D9CF-CEB9-FAA64CAEE4FC}"/>
                </a:ext>
              </a:extLst>
            </p:cNvPr>
            <p:cNvSpPr/>
            <p:nvPr/>
          </p:nvSpPr>
          <p:spPr>
            <a:xfrm>
              <a:off x="0" y="6460919"/>
              <a:ext cx="12192000" cy="397079"/>
            </a:xfrm>
            <a:prstGeom prst="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dirty="0"/>
                <a:t>                   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Jai Raja Saravanam S                                                                                                        </a:t>
              </a:r>
              <a:r>
                <a:rPr lang="en-IN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Emcog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Solutions</a:t>
              </a:r>
              <a:r>
                <a:rPr lang="en-IN" dirty="0"/>
                <a:t> </a:t>
              </a:r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65990CAA-5626-3C16-92BD-E22B21F8AA5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734477" y="6478141"/>
              <a:ext cx="349866" cy="383028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51A3950D-4708-F347-1F51-8858F940DA9D}"/>
              </a:ext>
            </a:extLst>
          </p:cNvPr>
          <p:cNvSpPr txBox="1"/>
          <p:nvPr/>
        </p:nvSpPr>
        <p:spPr>
          <a:xfrm>
            <a:off x="7159678" y="1808066"/>
            <a:ext cx="4759192" cy="380271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the pointer to task handler (Implementation)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C265B4-1090-0537-EE0F-35B76FBD4DED}"/>
              </a:ext>
            </a:extLst>
          </p:cNvPr>
          <p:cNvSpPr txBox="1"/>
          <p:nvPr/>
        </p:nvSpPr>
        <p:spPr>
          <a:xfrm>
            <a:off x="8863690" y="2383989"/>
            <a:ext cx="2888239" cy="369332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Descriptive Name of the task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D84DDE-675C-0EFF-4921-4EEAC646C7B2}"/>
              </a:ext>
            </a:extLst>
          </p:cNvPr>
          <p:cNvSpPr txBox="1"/>
          <p:nvPr/>
        </p:nvSpPr>
        <p:spPr>
          <a:xfrm>
            <a:off x="252191" y="2501335"/>
            <a:ext cx="2888239" cy="1200329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Amount of stack memory allocated to this task in words (word –  stack width (32 bit)) (Not in bytes) 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90F344-383B-7B8C-EB1E-ADE8AD29F8D8}"/>
              </a:ext>
            </a:extLst>
          </p:cNvPr>
          <p:cNvSpPr txBox="1"/>
          <p:nvPr/>
        </p:nvSpPr>
        <p:spPr>
          <a:xfrm>
            <a:off x="9038623" y="3221285"/>
            <a:ext cx="2888239" cy="1200329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Pointer o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the data  which is passed to the Task handler (Implementation) once it gets scheduled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3CDDFD5-1BDF-16CD-B0B2-9D7E580E6501}"/>
              </a:ext>
            </a:extLst>
          </p:cNvPr>
          <p:cNvSpPr txBox="1"/>
          <p:nvPr/>
        </p:nvSpPr>
        <p:spPr>
          <a:xfrm>
            <a:off x="490244" y="3861505"/>
            <a:ext cx="2888239" cy="1000274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of the task </a:t>
            </a:r>
          </a:p>
          <a:p>
            <a:pPr>
              <a:spcAft>
                <a:spcPts val="600"/>
              </a:spcAft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the number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lower the priority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8E5961E-157F-2BB7-90D7-277C0583FC86}"/>
              </a:ext>
            </a:extLst>
          </p:cNvPr>
          <p:cNvSpPr txBox="1"/>
          <p:nvPr/>
        </p:nvSpPr>
        <p:spPr>
          <a:xfrm>
            <a:off x="4878276" y="4442234"/>
            <a:ext cx="2888239" cy="369332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the TCB of the task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D0EF514-2800-612E-0F19-A7BAFC4C57F3}"/>
              </a:ext>
            </a:extLst>
          </p:cNvPr>
          <p:cNvSpPr txBox="1"/>
          <p:nvPr/>
        </p:nvSpPr>
        <p:spPr>
          <a:xfrm>
            <a:off x="5325126" y="716671"/>
            <a:ext cx="6252518" cy="723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 its own stack, priority, and Task Control Block (TCB)</a:t>
            </a:r>
          </a:p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Practically, It is a piece of code that is schedulable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E72F690B-6E97-E66E-8217-E4D63196E853}"/>
              </a:ext>
            </a:extLst>
          </p:cNvPr>
          <p:cNvCxnSpPr>
            <a:cxnSpLocks/>
          </p:cNvCxnSpPr>
          <p:nvPr/>
        </p:nvCxnSpPr>
        <p:spPr>
          <a:xfrm flipV="1">
            <a:off x="6322395" y="1952567"/>
            <a:ext cx="737020" cy="127729"/>
          </a:xfrm>
          <a:prstGeom prst="bentConnector3">
            <a:avLst>
              <a:gd name="adj1" fmla="val 3056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01470AA6-61E9-63D9-357B-E960DB7C3185}"/>
              </a:ext>
            </a:extLst>
          </p:cNvPr>
          <p:cNvCxnSpPr>
            <a:cxnSpLocks/>
          </p:cNvCxnSpPr>
          <p:nvPr/>
        </p:nvCxnSpPr>
        <p:spPr>
          <a:xfrm>
            <a:off x="7059415" y="2568655"/>
            <a:ext cx="1804275" cy="71180"/>
          </a:xfrm>
          <a:prstGeom prst="bentConnector3">
            <a:avLst>
              <a:gd name="adj1" fmla="val 50000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E9C303E0-4C3A-E08B-9204-1A96C9C334C5}"/>
              </a:ext>
            </a:extLst>
          </p:cNvPr>
          <p:cNvCxnSpPr>
            <a:cxnSpLocks/>
          </p:cNvCxnSpPr>
          <p:nvPr/>
        </p:nvCxnSpPr>
        <p:spPr>
          <a:xfrm rot="10800000" flipV="1">
            <a:off x="3164613" y="2912046"/>
            <a:ext cx="997922" cy="189453"/>
          </a:xfrm>
          <a:prstGeom prst="bentConnector3">
            <a:avLst>
              <a:gd name="adj1" fmla="val 50000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AB3C83CC-A75E-DB59-1027-EFF23221C70E}"/>
              </a:ext>
            </a:extLst>
          </p:cNvPr>
          <p:cNvCxnSpPr>
            <a:cxnSpLocks/>
          </p:cNvCxnSpPr>
          <p:nvPr/>
        </p:nvCxnSpPr>
        <p:spPr>
          <a:xfrm>
            <a:off x="7076935" y="3247327"/>
            <a:ext cx="1953697" cy="273113"/>
          </a:xfrm>
          <a:prstGeom prst="bentConnector3">
            <a:avLst>
              <a:gd name="adj1" fmla="val 50000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063761E1-CB99-06E8-6DE0-F1D6C184CBEB}"/>
              </a:ext>
            </a:extLst>
          </p:cNvPr>
          <p:cNvCxnSpPr>
            <a:cxnSpLocks/>
          </p:cNvCxnSpPr>
          <p:nvPr/>
        </p:nvCxnSpPr>
        <p:spPr>
          <a:xfrm rot="5400000">
            <a:off x="7136563" y="4199462"/>
            <a:ext cx="479200" cy="3"/>
          </a:xfrm>
          <a:prstGeom prst="bentConnector3">
            <a:avLst>
              <a:gd name="adj1" fmla="val 50000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DFD3DF96-8A65-7F0C-689B-8E869B803E7C}"/>
              </a:ext>
            </a:extLst>
          </p:cNvPr>
          <p:cNvCxnSpPr/>
          <p:nvPr/>
        </p:nvCxnSpPr>
        <p:spPr>
          <a:xfrm flipH="1">
            <a:off x="3378483" y="4247822"/>
            <a:ext cx="19775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7D0A6D3C-6D12-536A-A116-C22CAEB14D99}"/>
              </a:ext>
            </a:extLst>
          </p:cNvPr>
          <p:cNvCxnSpPr>
            <a:cxnSpLocks/>
          </p:cNvCxnSpPr>
          <p:nvPr/>
        </p:nvCxnSpPr>
        <p:spPr>
          <a:xfrm rot="5400000">
            <a:off x="3468870" y="3627802"/>
            <a:ext cx="727385" cy="512658"/>
          </a:xfrm>
          <a:prstGeom prst="bentConnector3">
            <a:avLst>
              <a:gd name="adj1" fmla="val 2262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64311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9F4225-D1A0-0D21-515B-366967B21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7F8F038-05F1-7CCA-9F52-AA3617E2BE5A}"/>
              </a:ext>
            </a:extLst>
          </p:cNvPr>
          <p:cNvSpPr txBox="1"/>
          <p:nvPr/>
        </p:nvSpPr>
        <p:spPr>
          <a:xfrm>
            <a:off x="4391313" y="91923"/>
            <a:ext cx="340937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Task Control Block </a:t>
            </a:r>
            <a:endParaRPr lang="en-IN" sz="32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09025ED-3C3B-6CCE-58AE-F4A8BAAAB710}"/>
              </a:ext>
            </a:extLst>
          </p:cNvPr>
          <p:cNvSpPr txBox="1">
            <a:spLocks/>
          </p:cNvSpPr>
          <p:nvPr/>
        </p:nvSpPr>
        <p:spPr>
          <a:xfrm>
            <a:off x="558151" y="881254"/>
            <a:ext cx="10577209" cy="57884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Task Control Block (TCB) is a data structure used internally by FreeRTOS to store all information about a task</a:t>
            </a:r>
          </a:p>
          <a:p>
            <a:pPr marL="457200" indent="-457200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task has its own TCB</a:t>
            </a:r>
          </a:p>
          <a:p>
            <a:pPr marL="457200" indent="-457200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scheduler uses TCBs to decide which task to run, when to switch, and how to restore context.</a:t>
            </a:r>
          </a:p>
          <a:p>
            <a:pPr marL="457200" indent="-457200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are the contents of TCB</a:t>
            </a:r>
          </a:p>
          <a:p>
            <a:pPr marL="1798638" indent="-457200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 pointer</a:t>
            </a:r>
          </a:p>
          <a:p>
            <a:pPr marL="1798638" indent="-457200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name</a:t>
            </a:r>
          </a:p>
          <a:p>
            <a:pPr marL="1798638" indent="-457200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priority</a:t>
            </a:r>
          </a:p>
          <a:p>
            <a:pPr marL="1798638" indent="-457200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state</a:t>
            </a:r>
          </a:p>
          <a:p>
            <a:pPr marL="1798638" indent="-457200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 start address</a:t>
            </a:r>
          </a:p>
          <a:p>
            <a:pPr marL="1798638" indent="-457200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 end address</a:t>
            </a:r>
          </a:p>
          <a:p>
            <a:pPr marL="1798638" indent="-457200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parameters</a:t>
            </a:r>
          </a:p>
          <a:p>
            <a:pPr marL="1798638" indent="-457200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Tcb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list item</a:t>
            </a:r>
          </a:p>
          <a:p>
            <a:pPr marL="1798638" indent="-457200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Running time</a:t>
            </a:r>
          </a:p>
          <a:p>
            <a:pPr marL="1798638" indent="-457200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Delay/timeout information</a:t>
            </a:r>
          </a:p>
          <a:p>
            <a:pPr marL="1798638" indent="-457200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Notification value , state</a:t>
            </a:r>
          </a:p>
          <a:p>
            <a:pPr marL="1798638" indent="-457200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 list item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600"/>
              </a:spcAft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600"/>
              </a:spcAft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4AC5FA-3DF3-3512-FBBD-C762D941A121}"/>
              </a:ext>
            </a:extLst>
          </p:cNvPr>
          <p:cNvSpPr txBox="1">
            <a:spLocks/>
          </p:cNvSpPr>
          <p:nvPr/>
        </p:nvSpPr>
        <p:spPr>
          <a:xfrm>
            <a:off x="1415441" y="2655353"/>
            <a:ext cx="3703814" cy="213196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EB0B127-F6DF-C014-0419-D6A068C779F3}"/>
              </a:ext>
            </a:extLst>
          </p:cNvPr>
          <p:cNvGrpSpPr/>
          <p:nvPr/>
        </p:nvGrpSpPr>
        <p:grpSpPr>
          <a:xfrm>
            <a:off x="0" y="6460919"/>
            <a:ext cx="12192000" cy="400250"/>
            <a:chOff x="0" y="6460919"/>
            <a:chExt cx="12192000" cy="40025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6CAF011-29AA-E580-7C15-AE2033CEA11F}"/>
                </a:ext>
              </a:extLst>
            </p:cNvPr>
            <p:cNvSpPr/>
            <p:nvPr/>
          </p:nvSpPr>
          <p:spPr>
            <a:xfrm>
              <a:off x="0" y="6460919"/>
              <a:ext cx="12192000" cy="397079"/>
            </a:xfrm>
            <a:prstGeom prst="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dirty="0"/>
                <a:t>                   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Jai Raja Saravanam S                                                                                                        </a:t>
              </a:r>
              <a:r>
                <a:rPr lang="en-IN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Emcog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Solutions</a:t>
              </a:r>
              <a:r>
                <a:rPr lang="en-IN" dirty="0"/>
                <a:t> </a:t>
              </a: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1AB28E98-E9B2-CBB2-C9D4-03EAD3FB99A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734477" y="6478141"/>
              <a:ext cx="349866" cy="3830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110944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A8FFE2-5DC1-F2E8-4C3A-6EFD7FF6D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EAC67D8-E865-E119-E81E-305674097490}"/>
              </a:ext>
            </a:extLst>
          </p:cNvPr>
          <p:cNvSpPr txBox="1">
            <a:spLocks/>
          </p:cNvSpPr>
          <p:nvPr/>
        </p:nvSpPr>
        <p:spPr>
          <a:xfrm>
            <a:off x="5492276" y="156154"/>
            <a:ext cx="1207448" cy="60238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0C279C7-168D-2EBC-2440-242472D2FE71}"/>
              </a:ext>
            </a:extLst>
          </p:cNvPr>
          <p:cNvSpPr txBox="1">
            <a:spLocks/>
          </p:cNvSpPr>
          <p:nvPr/>
        </p:nvSpPr>
        <p:spPr>
          <a:xfrm>
            <a:off x="415912" y="822614"/>
            <a:ext cx="9574395" cy="40011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400" u="sng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RTOS API</a:t>
            </a:r>
            <a:endParaRPr lang="en-IN" sz="2400" u="sng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57E737C-14C3-B68E-6C99-3AE4CD24ABA4}"/>
              </a:ext>
            </a:extLst>
          </p:cNvPr>
          <p:cNvGrpSpPr/>
          <p:nvPr/>
        </p:nvGrpSpPr>
        <p:grpSpPr>
          <a:xfrm>
            <a:off x="0" y="6460919"/>
            <a:ext cx="12192000" cy="400250"/>
            <a:chOff x="0" y="6460919"/>
            <a:chExt cx="12192000" cy="40025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F8BF24D-3C2D-E0DA-BBC1-76364E7734A3}"/>
                </a:ext>
              </a:extLst>
            </p:cNvPr>
            <p:cNvSpPr/>
            <p:nvPr/>
          </p:nvSpPr>
          <p:spPr>
            <a:xfrm>
              <a:off x="0" y="6460919"/>
              <a:ext cx="12192000" cy="397079"/>
            </a:xfrm>
            <a:prstGeom prst="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dirty="0"/>
                <a:t>                   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Jai Raja Saravanam S                                                                                                        </a:t>
              </a:r>
              <a:r>
                <a:rPr lang="en-IN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Emcog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Solutions</a:t>
              </a:r>
              <a:r>
                <a:rPr lang="en-IN" dirty="0"/>
                <a:t> </a:t>
              </a:r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44690EAB-6230-74A7-EE5C-8262C2C2B42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734477" y="6478141"/>
              <a:ext cx="349866" cy="383028"/>
            </a:xfrm>
            <a:prstGeom prst="rect">
              <a:avLst/>
            </a:prstGeom>
          </p:spPr>
        </p:pic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7F5C47E7-78DA-F0F1-D41C-8DCEE5834599}"/>
              </a:ext>
            </a:extLst>
          </p:cNvPr>
          <p:cNvGrpSpPr/>
          <p:nvPr/>
        </p:nvGrpSpPr>
        <p:grpSpPr>
          <a:xfrm>
            <a:off x="806600" y="1430948"/>
            <a:ext cx="11156328" cy="2893100"/>
            <a:chOff x="776120" y="1190051"/>
            <a:chExt cx="11156328" cy="268336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8FB0D5C-A5F8-D038-3894-4504F39EE63B}"/>
                </a:ext>
              </a:extLst>
            </p:cNvPr>
            <p:cNvSpPr txBox="1"/>
            <p:nvPr/>
          </p:nvSpPr>
          <p:spPr>
            <a:xfrm>
              <a:off x="776120" y="1190051"/>
              <a:ext cx="11156328" cy="26833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IN" sz="1600" dirty="0" err="1">
                  <a:solidFill>
                    <a:srgbClr val="00B050"/>
                  </a:solidFill>
                  <a:latin typeface="Consolas" panose="020B0609020204030204" pitchFamily="49" charset="0"/>
                </a:rPr>
                <a:t>BaseType_t</a:t>
              </a:r>
              <a:r>
                <a:rPr lang="en-IN" sz="1600" dirty="0">
                  <a:solidFill>
                    <a:srgbClr val="00B050"/>
                  </a:solidFill>
                  <a:latin typeface="Consolas" panose="020B0609020204030204" pitchFamily="49" charset="0"/>
                </a:rPr>
                <a:t> </a:t>
              </a:r>
              <a:r>
                <a:rPr lang="en-IN" sz="1600" dirty="0" err="1">
                  <a:solidFill>
                    <a:srgbClr val="00B0F0"/>
                  </a:solidFill>
                  <a:latin typeface="Consolas" panose="020B0609020204030204" pitchFamily="49" charset="0"/>
                </a:rPr>
                <a:t>xTaskCreate</a:t>
              </a:r>
              <a:r>
                <a:rPr lang="en-IN" sz="1600" dirty="0">
                  <a:solidFill>
                    <a:srgbClr val="00B0F0"/>
                  </a:solidFill>
                  <a:latin typeface="Consolas" panose="020B0609020204030204" pitchFamily="49" charset="0"/>
                </a:rPr>
                <a:t> </a:t>
              </a:r>
              <a:r>
                <a:rPr lang="en-IN" sz="1600" dirty="0">
                  <a:latin typeface="Consolas" panose="020B0609020204030204" pitchFamily="49" charset="0"/>
                </a:rPr>
                <a:t>( </a:t>
              </a:r>
              <a:r>
                <a:rPr lang="en-IN" sz="1600" dirty="0" err="1">
                  <a:latin typeface="Consolas" panose="020B0609020204030204" pitchFamily="49" charset="0"/>
                </a:rPr>
                <a:t>TaskFunction_t</a:t>
              </a:r>
              <a:r>
                <a:rPr lang="en-IN" sz="1600" dirty="0">
                  <a:latin typeface="Consolas" panose="020B0609020204030204" pitchFamily="49" charset="0"/>
                </a:rPr>
                <a:t> </a:t>
              </a:r>
              <a:r>
                <a:rPr lang="en-IN" sz="1600" dirty="0" err="1">
                  <a:solidFill>
                    <a:srgbClr val="7030A0"/>
                  </a:solidFill>
                  <a:latin typeface="Consolas" panose="020B0609020204030204" pitchFamily="49" charset="0"/>
                </a:rPr>
                <a:t>pxTaskCode</a:t>
              </a:r>
              <a:r>
                <a:rPr lang="en-IN" sz="1600" dirty="0">
                  <a:latin typeface="Consolas" panose="020B0609020204030204" pitchFamily="49" charset="0"/>
                </a:rPr>
                <a:t>,</a:t>
              </a:r>
            </a:p>
            <a:p>
              <a:pPr>
                <a:spcAft>
                  <a:spcPts val="600"/>
                </a:spcAft>
              </a:pPr>
              <a:r>
                <a:rPr lang="en-IN" sz="1600" dirty="0">
                  <a:latin typeface="Consolas" panose="020B0609020204030204" pitchFamily="49" charset="0"/>
                </a:rPr>
                <a:t>			   </a:t>
              </a:r>
              <a:r>
                <a:rPr lang="en-IN" sz="1600" dirty="0" err="1">
                  <a:latin typeface="Consolas" panose="020B0609020204030204" pitchFamily="49" charset="0"/>
                </a:rPr>
                <a:t>const</a:t>
              </a:r>
              <a:r>
                <a:rPr lang="en-IN" sz="1600" dirty="0">
                  <a:latin typeface="Consolas" panose="020B0609020204030204" pitchFamily="49" charset="0"/>
                </a:rPr>
                <a:t> char * </a:t>
              </a:r>
              <a:r>
                <a:rPr lang="en-IN" sz="1600" dirty="0" err="1">
                  <a:latin typeface="Consolas" panose="020B0609020204030204" pitchFamily="49" charset="0"/>
                </a:rPr>
                <a:t>const</a:t>
              </a:r>
              <a:r>
                <a:rPr lang="en-IN" sz="1600" dirty="0">
                  <a:latin typeface="Consolas" panose="020B0609020204030204" pitchFamily="49" charset="0"/>
                </a:rPr>
                <a:t> </a:t>
              </a:r>
              <a:r>
                <a:rPr lang="en-IN" sz="1600" dirty="0" err="1">
                  <a:solidFill>
                    <a:srgbClr val="7030A0"/>
                  </a:solidFill>
                  <a:latin typeface="Consolas" panose="020B0609020204030204" pitchFamily="49" charset="0"/>
                </a:rPr>
                <a:t>pcName</a:t>
              </a:r>
              <a:r>
                <a:rPr lang="en-IN" sz="1600" dirty="0">
                  <a:latin typeface="Consolas" panose="020B0609020204030204" pitchFamily="49" charset="0"/>
                </a:rPr>
                <a:t>, </a:t>
              </a:r>
            </a:p>
            <a:p>
              <a:pPr>
                <a:spcAft>
                  <a:spcPts val="600"/>
                </a:spcAft>
              </a:pPr>
              <a:r>
                <a:rPr lang="en-IN" sz="1600" dirty="0">
                  <a:latin typeface="Consolas" panose="020B0609020204030204" pitchFamily="49" charset="0"/>
                </a:rPr>
                <a:t>			   </a:t>
              </a:r>
              <a:r>
                <a:rPr lang="en-IN" sz="1600" dirty="0" err="1">
                  <a:latin typeface="Consolas" panose="020B0609020204030204" pitchFamily="49" charset="0"/>
                </a:rPr>
                <a:t>const</a:t>
              </a:r>
              <a:r>
                <a:rPr lang="en-IN" sz="1600" dirty="0">
                  <a:latin typeface="Consolas" panose="020B0609020204030204" pitchFamily="49" charset="0"/>
                </a:rPr>
                <a:t> </a:t>
              </a:r>
              <a:r>
                <a:rPr lang="en-IN" sz="1600" dirty="0" err="1">
                  <a:latin typeface="Consolas" panose="020B0609020204030204" pitchFamily="49" charset="0"/>
                </a:rPr>
                <a:t>configSTACK_DEPTH_TYPE</a:t>
              </a:r>
              <a:r>
                <a:rPr lang="en-IN" sz="1600" dirty="0">
                  <a:latin typeface="Consolas" panose="020B0609020204030204" pitchFamily="49" charset="0"/>
                </a:rPr>
                <a:t> </a:t>
              </a:r>
              <a:r>
                <a:rPr lang="en-IN" sz="1600" dirty="0" err="1">
                  <a:solidFill>
                    <a:srgbClr val="7030A0"/>
                  </a:solidFill>
                  <a:latin typeface="Consolas" panose="020B0609020204030204" pitchFamily="49" charset="0"/>
                </a:rPr>
                <a:t>usStackDepth</a:t>
              </a:r>
              <a:r>
                <a:rPr lang="en-IN" sz="1600" dirty="0">
                  <a:latin typeface="Consolas" panose="020B0609020204030204" pitchFamily="49" charset="0"/>
                </a:rPr>
                <a:t>,</a:t>
              </a:r>
            </a:p>
            <a:p>
              <a:pPr>
                <a:spcAft>
                  <a:spcPts val="600"/>
                </a:spcAft>
              </a:pPr>
              <a:r>
                <a:rPr lang="en-IN" sz="1600" dirty="0">
                  <a:latin typeface="Consolas" panose="020B0609020204030204" pitchFamily="49" charset="0"/>
                </a:rPr>
                <a:t>			   void * </a:t>
              </a:r>
              <a:r>
                <a:rPr lang="en-IN" sz="1600" dirty="0" err="1">
                  <a:latin typeface="Consolas" panose="020B0609020204030204" pitchFamily="49" charset="0"/>
                </a:rPr>
                <a:t>const</a:t>
              </a:r>
              <a:r>
                <a:rPr lang="en-IN" sz="1600" dirty="0">
                  <a:latin typeface="Consolas" panose="020B0609020204030204" pitchFamily="49" charset="0"/>
                </a:rPr>
                <a:t> </a:t>
              </a:r>
              <a:r>
                <a:rPr lang="en-IN" sz="1600" dirty="0" err="1">
                  <a:solidFill>
                    <a:srgbClr val="7030A0"/>
                  </a:solidFill>
                  <a:latin typeface="Consolas" panose="020B0609020204030204" pitchFamily="49" charset="0"/>
                </a:rPr>
                <a:t>pvParameters</a:t>
              </a:r>
              <a:r>
                <a:rPr lang="en-IN" sz="1600" dirty="0">
                  <a:latin typeface="Consolas" panose="020B0609020204030204" pitchFamily="49" charset="0"/>
                </a:rPr>
                <a:t>,</a:t>
              </a:r>
            </a:p>
            <a:p>
              <a:pPr>
                <a:spcAft>
                  <a:spcPts val="600"/>
                </a:spcAft>
              </a:pPr>
              <a:r>
                <a:rPr lang="en-IN" sz="1600" dirty="0">
                  <a:latin typeface="Consolas" panose="020B0609020204030204" pitchFamily="49" charset="0"/>
                </a:rPr>
                <a:t> 			   </a:t>
              </a:r>
              <a:r>
                <a:rPr lang="en-IN" sz="1600" dirty="0" err="1">
                  <a:latin typeface="Consolas" panose="020B0609020204030204" pitchFamily="49" charset="0"/>
                </a:rPr>
                <a:t>UBaseType_t</a:t>
              </a:r>
              <a:r>
                <a:rPr lang="en-IN" sz="1600" dirty="0">
                  <a:latin typeface="Consolas" panose="020B0609020204030204" pitchFamily="49" charset="0"/>
                </a:rPr>
                <a:t> </a:t>
              </a:r>
              <a:r>
                <a:rPr lang="en-IN" sz="1600" dirty="0" err="1">
                  <a:solidFill>
                    <a:srgbClr val="7030A0"/>
                  </a:solidFill>
                  <a:latin typeface="Consolas" panose="020B0609020204030204" pitchFamily="49" charset="0"/>
                </a:rPr>
                <a:t>uxPriority</a:t>
              </a:r>
              <a:r>
                <a:rPr lang="en-IN" sz="1600" dirty="0">
                  <a:latin typeface="Consolas" panose="020B0609020204030204" pitchFamily="49" charset="0"/>
                </a:rPr>
                <a:t>, </a:t>
              </a:r>
            </a:p>
            <a:p>
              <a:pPr>
                <a:spcAft>
                  <a:spcPts val="600"/>
                </a:spcAft>
              </a:pPr>
              <a:r>
                <a:rPr lang="en-IN" sz="1600" dirty="0">
                  <a:latin typeface="Consolas" panose="020B0609020204030204" pitchFamily="49" charset="0"/>
                </a:rPr>
                <a:t>			   </a:t>
              </a:r>
              <a:r>
                <a:rPr lang="en-IN" sz="1600" dirty="0" err="1">
                  <a:latin typeface="Consolas" panose="020B0609020204030204" pitchFamily="49" charset="0"/>
                </a:rPr>
                <a:t>TaskHandle_t</a:t>
              </a:r>
              <a:r>
                <a:rPr lang="en-IN" sz="1600" dirty="0">
                  <a:latin typeface="Consolas" panose="020B0609020204030204" pitchFamily="49" charset="0"/>
                </a:rPr>
                <a:t> * </a:t>
              </a:r>
              <a:r>
                <a:rPr lang="en-IN" sz="1600" dirty="0" err="1">
                  <a:latin typeface="Consolas" panose="020B0609020204030204" pitchFamily="49" charset="0"/>
                </a:rPr>
                <a:t>const</a:t>
              </a:r>
              <a:r>
                <a:rPr lang="en-IN" sz="1600" dirty="0">
                  <a:latin typeface="Consolas" panose="020B0609020204030204" pitchFamily="49" charset="0"/>
                </a:rPr>
                <a:t> </a:t>
              </a:r>
              <a:r>
                <a:rPr lang="en-IN" sz="1600" dirty="0" err="1">
                  <a:solidFill>
                    <a:srgbClr val="7030A0"/>
                  </a:solidFill>
                  <a:latin typeface="Consolas" panose="020B0609020204030204" pitchFamily="49" charset="0"/>
                </a:rPr>
                <a:t>pxCreatedTask</a:t>
              </a:r>
              <a:r>
                <a:rPr lang="en-IN" sz="1600" dirty="0">
                  <a:latin typeface="Consolas" panose="020B0609020204030204" pitchFamily="49" charset="0"/>
                </a:rPr>
                <a:t> )</a:t>
              </a:r>
            </a:p>
            <a:p>
              <a:pPr>
                <a:spcAft>
                  <a:spcPts val="600"/>
                </a:spcAft>
              </a:pPr>
              <a:r>
                <a:rPr lang="nb-NO" dirty="0">
                  <a:latin typeface="Consolas" panose="020B0609020204030204" pitchFamily="49" charset="0"/>
                </a:rPr>
                <a:t>	</a:t>
              </a:r>
            </a:p>
            <a:p>
              <a:pPr>
                <a:spcAft>
                  <a:spcPts val="1200"/>
                </a:spcAft>
              </a:pPr>
              <a:endParaRPr lang="nb-NO" sz="500" b="1" dirty="0">
                <a:latin typeface="Consolas" panose="020B0609020204030204" pitchFamily="49" charset="0"/>
              </a:endParaRPr>
            </a:p>
            <a:p>
              <a:pPr>
                <a:spcAft>
                  <a:spcPts val="1200"/>
                </a:spcAft>
              </a:pPr>
              <a:r>
                <a:rPr lang="nb-NO" b="1" dirty="0">
                  <a:effectLst/>
                  <a:latin typeface="Consolas" panose="020B0609020204030204" pitchFamily="49" charset="0"/>
                </a:rPr>
                <a:t> xTaskCreate</a:t>
              </a:r>
              <a:r>
                <a:rPr lang="nb-NO" dirty="0">
                  <a:effectLst/>
                  <a:latin typeface="Consolas" panose="020B0609020204030204" pitchFamily="49" charset="0"/>
                </a:rPr>
                <a:t>(task1_handler, "task1",    100     </a:t>
              </a:r>
              <a:r>
                <a:rPr lang="nb-NO" dirty="0">
                  <a:latin typeface="Consolas" panose="020B0609020204030204" pitchFamily="49" charset="0"/>
                </a:rPr>
                <a:t>,</a:t>
              </a:r>
              <a:r>
                <a:rPr lang="nb-NO" dirty="0">
                  <a:effectLst/>
                  <a:latin typeface="Consolas" panose="020B0609020204030204" pitchFamily="49" charset="0"/>
                </a:rPr>
                <a:t>      </a:t>
              </a:r>
              <a:r>
                <a:rPr lang="nb-NO" dirty="0">
                  <a:latin typeface="Times New Roman" panose="02020603050405020304" pitchFamily="18" charset="0"/>
                  <a:cs typeface="Times New Roman" panose="02020603050405020304" pitchFamily="18" charset="0"/>
                  <a:sym typeface="Wingdings" panose="05000000000000000000" pitchFamily="2" charset="2"/>
                </a:rPr>
                <a:t>‘</a:t>
              </a:r>
              <a:r>
                <a:rPr lang="nb-NO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‘</a:t>
              </a:r>
              <a:r>
                <a:rPr lang="nb-NO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Hi’</a:t>
              </a:r>
              <a:r>
                <a:rPr lang="nb-NO" dirty="0">
                  <a:latin typeface="Times New Roman" panose="02020603050405020304" pitchFamily="18" charset="0"/>
                  <a:cs typeface="Times New Roman" panose="02020603050405020304" pitchFamily="18" charset="0"/>
                  <a:sym typeface="Wingdings" panose="05000000000000000000" pitchFamily="2" charset="2"/>
                </a:rPr>
                <a:t>’</a:t>
              </a:r>
              <a:r>
                <a:rPr lang="nb-NO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nb-NO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</a:t>
              </a:r>
              <a:r>
                <a:rPr lang="nb-NO" dirty="0">
                  <a:effectLst/>
                  <a:latin typeface="Consolas" panose="020B0609020204030204" pitchFamily="49" charset="0"/>
                </a:rPr>
                <a:t>,  2  , &amp;task1_handle);</a:t>
              </a:r>
              <a:endParaRPr lang="nb-NO" sz="2000" dirty="0">
                <a:latin typeface="Consolas" panose="020B0609020204030204" pitchFamily="49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AB8DD84-6B79-E675-A0AC-1A6BE44002A6}"/>
                </a:ext>
              </a:extLst>
            </p:cNvPr>
            <p:cNvSpPr txBox="1"/>
            <p:nvPr/>
          </p:nvSpPr>
          <p:spPr>
            <a:xfrm>
              <a:off x="2506716" y="3196877"/>
              <a:ext cx="1456434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1200"/>
                </a:spcAft>
              </a:pPr>
              <a:r>
                <a:rPr lang="en-IN" sz="1600" dirty="0" err="1">
                  <a:solidFill>
                    <a:srgbClr val="7030A0"/>
                  </a:solidFill>
                  <a:latin typeface="Consolas" panose="020B0609020204030204" pitchFamily="49" charset="0"/>
                </a:rPr>
                <a:t>pxTaskCode</a:t>
              </a:r>
              <a:endParaRPr lang="nb-NO" sz="1600" dirty="0">
                <a:latin typeface="Consolas" panose="020B0609020204030204" pitchFamily="49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65BDE0D-63FE-4C17-332C-6AC1F53AC479}"/>
                </a:ext>
              </a:extLst>
            </p:cNvPr>
            <p:cNvSpPr txBox="1"/>
            <p:nvPr/>
          </p:nvSpPr>
          <p:spPr>
            <a:xfrm>
              <a:off x="4235232" y="3196877"/>
              <a:ext cx="967877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600" dirty="0" err="1">
                  <a:solidFill>
                    <a:srgbClr val="7030A0"/>
                  </a:solidFill>
                  <a:latin typeface="Consolas" panose="020B0609020204030204" pitchFamily="49" charset="0"/>
                </a:rPr>
                <a:t>pcName</a:t>
              </a:r>
              <a:endParaRPr lang="en-IN" sz="1600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E3AF43EC-E0D8-36CB-475F-4731E0D20A06}"/>
                </a:ext>
              </a:extLst>
            </p:cNvPr>
            <p:cNvSpPr txBox="1"/>
            <p:nvPr/>
          </p:nvSpPr>
          <p:spPr>
            <a:xfrm>
              <a:off x="5221726" y="3219779"/>
              <a:ext cx="1748547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600" dirty="0" err="1">
                  <a:solidFill>
                    <a:srgbClr val="7030A0"/>
                  </a:solidFill>
                  <a:latin typeface="Consolas" panose="020B0609020204030204" pitchFamily="49" charset="0"/>
                </a:rPr>
                <a:t>usStackDepth</a:t>
              </a:r>
              <a:endParaRPr lang="en-IN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AC23D9C-CB32-15F3-BB45-C8E58E5E5F63}"/>
                </a:ext>
              </a:extLst>
            </p:cNvPr>
            <p:cNvSpPr txBox="1"/>
            <p:nvPr/>
          </p:nvSpPr>
          <p:spPr>
            <a:xfrm>
              <a:off x="7131680" y="3196877"/>
              <a:ext cx="177773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600" dirty="0" err="1">
                  <a:solidFill>
                    <a:srgbClr val="7030A0"/>
                  </a:solidFill>
                  <a:latin typeface="Consolas" panose="020B0609020204030204" pitchFamily="49" charset="0"/>
                </a:rPr>
                <a:t>pvParameters</a:t>
              </a:r>
              <a:endParaRPr lang="en-IN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7D356305-60D1-DD83-DABF-974740DF40D4}"/>
                </a:ext>
              </a:extLst>
            </p:cNvPr>
            <p:cNvSpPr txBox="1"/>
            <p:nvPr/>
          </p:nvSpPr>
          <p:spPr>
            <a:xfrm>
              <a:off x="9859444" y="3196877"/>
              <a:ext cx="2001466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600" dirty="0" err="1">
                  <a:solidFill>
                    <a:srgbClr val="7030A0"/>
                  </a:solidFill>
                  <a:latin typeface="Consolas" panose="020B0609020204030204" pitchFamily="49" charset="0"/>
                </a:rPr>
                <a:t>pxCreatedTask</a:t>
              </a:r>
              <a:endParaRPr lang="en-IN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4144F00-EFEB-F357-4F45-4D75D2A3F07E}"/>
                </a:ext>
              </a:extLst>
            </p:cNvPr>
            <p:cNvSpPr txBox="1"/>
            <p:nvPr/>
          </p:nvSpPr>
          <p:spPr>
            <a:xfrm>
              <a:off x="8619485" y="3188632"/>
              <a:ext cx="1553994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600" dirty="0" err="1">
                  <a:solidFill>
                    <a:srgbClr val="7030A0"/>
                  </a:solidFill>
                  <a:latin typeface="Consolas" panose="020B0609020204030204" pitchFamily="49" charset="0"/>
                </a:rPr>
                <a:t>uxPriority</a:t>
              </a:r>
              <a:endParaRPr lang="en-IN" dirty="0"/>
            </a:p>
          </p:txBody>
        </p:sp>
      </p:grpSp>
    </p:spTree>
    <p:extLst>
      <p:ext uri="{BB962C8B-B14F-4D97-AF65-F5344CB8AC3E}">
        <p14:creationId xmlns:p14="http://schemas.microsoft.com/office/powerpoint/2010/main" val="322347630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12F38E-5A7F-E9CD-CEFB-7E7B78204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68BDEBB-7C9C-DB3C-0BC6-D3D09076EB45}"/>
              </a:ext>
            </a:extLst>
          </p:cNvPr>
          <p:cNvSpPr txBox="1">
            <a:spLocks/>
          </p:cNvSpPr>
          <p:nvPr/>
        </p:nvSpPr>
        <p:spPr>
          <a:xfrm>
            <a:off x="3995245" y="136251"/>
            <a:ext cx="4108924" cy="60238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to create a Task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9443EC-7E3A-144D-C72E-7B9989722B34}"/>
              </a:ext>
            </a:extLst>
          </p:cNvPr>
          <p:cNvSpPr txBox="1"/>
          <p:nvPr/>
        </p:nvSpPr>
        <p:spPr>
          <a:xfrm>
            <a:off x="471543" y="867200"/>
            <a:ext cx="11156328" cy="4062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nb-NO" b="1" dirty="0">
                <a:latin typeface="Consolas" panose="020B0609020204030204" pitchFamily="49" charset="0"/>
              </a:rPr>
              <a:t>1</a:t>
            </a:r>
            <a:r>
              <a:rPr lang="nb-NO" sz="2000" b="1" dirty="0">
                <a:latin typeface="Consolas" panose="020B0609020204030204" pitchFamily="49" charset="0"/>
              </a:rPr>
              <a:t>. </a:t>
            </a:r>
            <a:r>
              <a:rPr lang="nb-NO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task</a:t>
            </a:r>
          </a:p>
          <a:p>
            <a:pPr>
              <a:spcAft>
                <a:spcPts val="1200"/>
              </a:spcAft>
            </a:pPr>
            <a:r>
              <a:rPr lang="nb-NO" sz="2000" dirty="0">
                <a:latin typeface="Consolas" panose="020B0609020204030204" pitchFamily="49" charset="0"/>
              </a:rPr>
              <a:t>      </a:t>
            </a:r>
            <a:r>
              <a:rPr lang="nb-NO" sz="2000" dirty="0">
                <a:effectLst/>
                <a:latin typeface="Consolas" panose="020B0609020204030204" pitchFamily="49" charset="0"/>
              </a:rPr>
              <a:t>xTaskCreate( </a:t>
            </a:r>
            <a:r>
              <a:rPr lang="nb-NO" sz="2000" dirty="0">
                <a:solidFill>
                  <a:srgbClr val="D450DE"/>
                </a:solidFill>
                <a:effectLst/>
                <a:latin typeface="Consolas" panose="020B0609020204030204" pitchFamily="49" charset="0"/>
              </a:rPr>
              <a:t>task1_handler </a:t>
            </a:r>
            <a:r>
              <a:rPr lang="nb-NO" sz="2000" dirty="0">
                <a:effectLst/>
                <a:latin typeface="Consolas" panose="020B0609020204030204" pitchFamily="49" charset="0"/>
              </a:rPr>
              <a:t>, "task1", 100 </a:t>
            </a:r>
            <a:r>
              <a:rPr lang="nb-NO" sz="2000" dirty="0">
                <a:latin typeface="Consolas" panose="020B0609020204030204" pitchFamily="49" charset="0"/>
              </a:rPr>
              <a:t>, </a:t>
            </a:r>
            <a:r>
              <a:rPr lang="nb-NO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‘</a:t>
            </a:r>
            <a:r>
              <a:rPr lang="nb-NO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‘</a:t>
            </a:r>
            <a:r>
              <a:rPr lang="nb-NO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Hi’</a:t>
            </a:r>
            <a:r>
              <a:rPr lang="nb-NO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’</a:t>
            </a:r>
            <a:r>
              <a:rPr lang="nb-NO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nb-NO" sz="2000" dirty="0">
                <a:effectLst/>
                <a:latin typeface="Consolas" panose="020B0609020204030204" pitchFamily="49" charset="0"/>
              </a:rPr>
              <a:t>, 2 , &amp;task1_handle );</a:t>
            </a:r>
            <a:endParaRPr lang="nb-NO" sz="2000" dirty="0">
              <a:latin typeface="Consolas" panose="020B0609020204030204" pitchFamily="49" charset="0"/>
            </a:endParaRPr>
          </a:p>
          <a:p>
            <a:pPr>
              <a:spcAft>
                <a:spcPts val="1200"/>
              </a:spcAft>
            </a:pPr>
            <a:r>
              <a:rPr lang="nb-NO" sz="20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  Implement the task</a:t>
            </a:r>
            <a:r>
              <a:rPr lang="nb-NO" sz="2000" dirty="0">
                <a:effectLst/>
                <a:latin typeface="Consolas" panose="020B0609020204030204" pitchFamily="49" charset="0"/>
              </a:rPr>
              <a:t> </a:t>
            </a:r>
          </a:p>
          <a:p>
            <a:pPr>
              <a:spcAft>
                <a:spcPts val="1200"/>
              </a:spcAft>
            </a:pPr>
            <a:r>
              <a:rPr lang="nb-NO" sz="2000" dirty="0">
                <a:latin typeface="Consolas" panose="020B0609020204030204" pitchFamily="49" charset="0"/>
              </a:rPr>
              <a:t>      </a:t>
            </a:r>
            <a:r>
              <a:rPr lang="nb-NO" sz="2000" dirty="0">
                <a:effectLst/>
                <a:latin typeface="Consolas" panose="020B0609020204030204" pitchFamily="49" charset="0"/>
              </a:rPr>
              <a:t>Void </a:t>
            </a:r>
            <a:r>
              <a:rPr lang="nb-NO" sz="2000" dirty="0">
                <a:solidFill>
                  <a:srgbClr val="D450DE"/>
                </a:solidFill>
                <a:latin typeface="Consolas" panose="020B0609020204030204" pitchFamily="49" charset="0"/>
              </a:rPr>
              <a:t>task1_handler()</a:t>
            </a:r>
            <a:r>
              <a:rPr lang="nb-NO" sz="2000" dirty="0">
                <a:effectLst/>
                <a:latin typeface="Consolas" panose="020B0609020204030204" pitchFamily="49" charset="0"/>
              </a:rPr>
              <a:t>{</a:t>
            </a:r>
          </a:p>
          <a:p>
            <a:pPr>
              <a:spcAft>
                <a:spcPts val="1200"/>
              </a:spcAft>
            </a:pPr>
            <a:r>
              <a:rPr lang="nb-NO" sz="2000" dirty="0">
                <a:latin typeface="Consolas" panose="020B0609020204030204" pitchFamily="49" charset="0"/>
              </a:rPr>
              <a:t>           for(;;){</a:t>
            </a:r>
          </a:p>
          <a:p>
            <a:pPr lvl="4">
              <a:spcAft>
                <a:spcPts val="1200"/>
              </a:spcAft>
            </a:pPr>
            <a:r>
              <a:rPr lang="nb-NO" sz="2000" dirty="0">
                <a:latin typeface="Consolas" panose="020B0609020204030204" pitchFamily="49" charset="0"/>
              </a:rPr>
              <a:t>   //Infinite loop </a:t>
            </a:r>
          </a:p>
          <a:p>
            <a:pPr lvl="4">
              <a:spcAft>
                <a:spcPts val="1200"/>
              </a:spcAft>
            </a:pPr>
            <a:r>
              <a:rPr lang="nb-NO" sz="2000" dirty="0">
                <a:latin typeface="Consolas" panose="020B0609020204030204" pitchFamily="49" charset="0"/>
              </a:rPr>
              <a:t>   //Task application code</a:t>
            </a:r>
          </a:p>
          <a:p>
            <a:pPr>
              <a:spcAft>
                <a:spcPts val="1200"/>
              </a:spcAft>
            </a:pPr>
            <a:r>
              <a:rPr lang="nb-NO" sz="2000" dirty="0">
                <a:latin typeface="Consolas" panose="020B0609020204030204" pitchFamily="49" charset="0"/>
              </a:rPr>
              <a:t>           }</a:t>
            </a:r>
          </a:p>
          <a:p>
            <a:pPr>
              <a:spcAft>
                <a:spcPts val="1200"/>
              </a:spcAft>
            </a:pPr>
            <a:r>
              <a:rPr lang="nb-NO" sz="2000" dirty="0">
                <a:latin typeface="Consolas" panose="020B0609020204030204" pitchFamily="49" charset="0"/>
              </a:rPr>
              <a:t>      </a:t>
            </a:r>
            <a:r>
              <a:rPr lang="nb-NO" sz="2000" dirty="0">
                <a:effectLst/>
                <a:latin typeface="Consolas" panose="020B0609020204030204" pitchFamily="49" charset="0"/>
              </a:rPr>
              <a:t>}</a:t>
            </a:r>
            <a:endParaRPr lang="nb-NO" dirty="0">
              <a:effectLst/>
              <a:latin typeface="Consolas" panose="020B0609020204030204" pitchFamily="49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719B043-7E3B-1D2B-19DD-40D519668D81}"/>
              </a:ext>
            </a:extLst>
          </p:cNvPr>
          <p:cNvGrpSpPr/>
          <p:nvPr/>
        </p:nvGrpSpPr>
        <p:grpSpPr>
          <a:xfrm>
            <a:off x="0" y="6460919"/>
            <a:ext cx="12192000" cy="400250"/>
            <a:chOff x="0" y="6460919"/>
            <a:chExt cx="12192000" cy="40025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AD3F3FE-6C69-79CD-EB0D-3AA7954E6A7D}"/>
                </a:ext>
              </a:extLst>
            </p:cNvPr>
            <p:cNvSpPr/>
            <p:nvPr/>
          </p:nvSpPr>
          <p:spPr>
            <a:xfrm>
              <a:off x="0" y="6460919"/>
              <a:ext cx="12192000" cy="397079"/>
            </a:xfrm>
            <a:prstGeom prst="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dirty="0"/>
                <a:t>                   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Jai Raja Saravanam S                                                                                                        </a:t>
              </a:r>
              <a:r>
                <a:rPr lang="en-IN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Emcog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Solutions</a:t>
              </a:r>
              <a:r>
                <a:rPr lang="en-IN" dirty="0"/>
                <a:t> </a:t>
              </a:r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4950974D-FE1B-CADE-7E84-66714D63B9B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734477" y="6478141"/>
              <a:ext cx="349866" cy="383028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84A94ED2-014B-BA33-9C53-45409CCD8D26}"/>
              </a:ext>
            </a:extLst>
          </p:cNvPr>
          <p:cNvSpPr txBox="1"/>
          <p:nvPr/>
        </p:nvSpPr>
        <p:spPr>
          <a:xfrm>
            <a:off x="517836" y="4858009"/>
            <a:ext cx="1014145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b-NO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create a task ?</a:t>
            </a:r>
          </a:p>
          <a:p>
            <a:pPr>
              <a:spcAft>
                <a:spcPts val="1200"/>
              </a:spcAft>
            </a:pPr>
            <a:r>
              <a:rPr lang="nb-NO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Allocating stack ,TCB and inserting the task in ready queue</a:t>
            </a:r>
          </a:p>
          <a:p>
            <a:pPr>
              <a:spcAft>
                <a:spcPts val="1200"/>
              </a:spcAft>
            </a:pPr>
            <a:r>
              <a:rPr lang="nb-NO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 has pointer of task Handler, Program counter, Link register ,Status Register Registers R0,R1, etc.</a:t>
            </a:r>
          </a:p>
        </p:txBody>
      </p:sp>
    </p:spTree>
    <p:extLst>
      <p:ext uri="{BB962C8B-B14F-4D97-AF65-F5344CB8AC3E}">
        <p14:creationId xmlns:p14="http://schemas.microsoft.com/office/powerpoint/2010/main" val="413088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8B273E-F314-E8F8-9F0F-0E4600492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7F8E1DE-383B-2993-1ACF-8BCF85ABBABE}"/>
              </a:ext>
            </a:extLst>
          </p:cNvPr>
          <p:cNvSpPr txBox="1">
            <a:spLocks/>
          </p:cNvSpPr>
          <p:nvPr/>
        </p:nvSpPr>
        <p:spPr>
          <a:xfrm>
            <a:off x="4968907" y="403513"/>
            <a:ext cx="2254185" cy="65312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Activity 7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569E78B-6FB3-AE12-4EE3-AC3949F00291}"/>
              </a:ext>
            </a:extLst>
          </p:cNvPr>
          <p:cNvSpPr txBox="1">
            <a:spLocks/>
          </p:cNvSpPr>
          <p:nvPr/>
        </p:nvSpPr>
        <p:spPr>
          <a:xfrm>
            <a:off x="405751" y="1264920"/>
            <a:ext cx="10871849" cy="346771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two tasks to send data from MCU to PC using UART. Assigning Priority 1 (lower) to task1 that sends ‘RTOS’ and Priority 2 (higher) to the task2 that sends ‘Course’.</a:t>
            </a:r>
          </a:p>
          <a:p>
            <a:pPr>
              <a:lnSpc>
                <a:spcPct val="100000"/>
              </a:lnSpc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Objective: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RTOS to STM32CubeIDE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to create a task 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how task priority affects CPU time allocation, and learn how to ensure that a lower-priority task also gets CPU execution time.</a:t>
            </a: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781C781-47A7-A838-F540-45B2FFDF578B}"/>
              </a:ext>
            </a:extLst>
          </p:cNvPr>
          <p:cNvGrpSpPr/>
          <p:nvPr/>
        </p:nvGrpSpPr>
        <p:grpSpPr>
          <a:xfrm>
            <a:off x="0" y="6460919"/>
            <a:ext cx="12192000" cy="400250"/>
            <a:chOff x="0" y="6460919"/>
            <a:chExt cx="12192000" cy="4002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F5EFDF4-1138-53F7-FB03-262289DD037C}"/>
                </a:ext>
              </a:extLst>
            </p:cNvPr>
            <p:cNvSpPr/>
            <p:nvPr/>
          </p:nvSpPr>
          <p:spPr>
            <a:xfrm>
              <a:off x="0" y="6460919"/>
              <a:ext cx="12192000" cy="397079"/>
            </a:xfrm>
            <a:prstGeom prst="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dirty="0"/>
                <a:t>                   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Jai Raja Saravanam S                                                                                                        </a:t>
              </a:r>
              <a:r>
                <a:rPr lang="en-IN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Emcog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Solutions</a:t>
              </a:r>
              <a:r>
                <a:rPr lang="en-IN" dirty="0"/>
                <a:t> </a:t>
              </a: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FA096F7B-0639-03D4-629F-97F1577D8DC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734477" y="6478141"/>
              <a:ext cx="349866" cy="3830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42956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22F171-6742-3DA4-347D-D09C4F732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E697D739-5CBB-C492-4797-46EE825AAEE8}"/>
              </a:ext>
            </a:extLst>
          </p:cNvPr>
          <p:cNvSpPr txBox="1">
            <a:spLocks/>
          </p:cNvSpPr>
          <p:nvPr/>
        </p:nvSpPr>
        <p:spPr>
          <a:xfrm>
            <a:off x="547994" y="31822"/>
            <a:ext cx="11096011" cy="182815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 of a task</a:t>
            </a: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C625556-4372-E8AE-07CB-5819AB8A255A}"/>
              </a:ext>
            </a:extLst>
          </p:cNvPr>
          <p:cNvSpPr/>
          <p:nvPr/>
        </p:nvSpPr>
        <p:spPr>
          <a:xfrm>
            <a:off x="2389914" y="1859973"/>
            <a:ext cx="2130136" cy="10287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4E8FDB8-7F70-3426-FA79-077400D435A1}"/>
              </a:ext>
            </a:extLst>
          </p:cNvPr>
          <p:cNvSpPr/>
          <p:nvPr/>
        </p:nvSpPr>
        <p:spPr>
          <a:xfrm>
            <a:off x="7519550" y="2143991"/>
            <a:ext cx="2130136" cy="10287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Running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20D1388-9B76-CBEE-E814-0B8B222DCDC1}"/>
              </a:ext>
            </a:extLst>
          </p:cNvPr>
          <p:cNvSpPr/>
          <p:nvPr/>
        </p:nvSpPr>
        <p:spPr>
          <a:xfrm>
            <a:off x="2542314" y="2012373"/>
            <a:ext cx="2130136" cy="10287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5096CFA-561B-AF20-6053-EBB941ADB57F}"/>
              </a:ext>
            </a:extLst>
          </p:cNvPr>
          <p:cNvSpPr/>
          <p:nvPr/>
        </p:nvSpPr>
        <p:spPr>
          <a:xfrm>
            <a:off x="2694714" y="2164773"/>
            <a:ext cx="2130136" cy="10287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CD65C30-B4DF-AAE7-2F60-810E54939D90}"/>
              </a:ext>
            </a:extLst>
          </p:cNvPr>
          <p:cNvSpPr/>
          <p:nvPr/>
        </p:nvSpPr>
        <p:spPr>
          <a:xfrm>
            <a:off x="2847114" y="2317173"/>
            <a:ext cx="2130136" cy="10287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Not running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EC89B0A2-883A-8683-191C-63261CDD2337}"/>
              </a:ext>
            </a:extLst>
          </p:cNvPr>
          <p:cNvSpPr/>
          <p:nvPr/>
        </p:nvSpPr>
        <p:spPr>
          <a:xfrm>
            <a:off x="5039591" y="2358737"/>
            <a:ext cx="2438395" cy="29094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EBB0417C-C31F-2056-B427-E5D8825D21F9}"/>
              </a:ext>
            </a:extLst>
          </p:cNvPr>
          <p:cNvSpPr/>
          <p:nvPr/>
        </p:nvSpPr>
        <p:spPr>
          <a:xfrm flipH="1">
            <a:off x="5008418" y="2760518"/>
            <a:ext cx="2438395" cy="29094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4E38CCFE-006E-9780-BD08-88049F352C07}"/>
              </a:ext>
            </a:extLst>
          </p:cNvPr>
          <p:cNvSpPr txBox="1">
            <a:spLocks/>
          </p:cNvSpPr>
          <p:nvPr/>
        </p:nvSpPr>
        <p:spPr>
          <a:xfrm>
            <a:off x="7611706" y="3415146"/>
            <a:ext cx="2130136" cy="54032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CPU time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F68EB90-A1DA-ABAA-F8FA-CCB83C6CE08F}"/>
              </a:ext>
            </a:extLst>
          </p:cNvPr>
          <p:cNvSpPr txBox="1">
            <a:spLocks/>
          </p:cNvSpPr>
          <p:nvPr/>
        </p:nvSpPr>
        <p:spPr>
          <a:xfrm>
            <a:off x="2288094" y="3460172"/>
            <a:ext cx="2772279" cy="63731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Using CPU time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04634F9-3A93-479C-6C3B-E15A6024FC48}"/>
              </a:ext>
            </a:extLst>
          </p:cNvPr>
          <p:cNvGrpSpPr/>
          <p:nvPr/>
        </p:nvGrpSpPr>
        <p:grpSpPr>
          <a:xfrm>
            <a:off x="0" y="6466566"/>
            <a:ext cx="12192000" cy="403007"/>
            <a:chOff x="0" y="6478141"/>
            <a:chExt cx="12192000" cy="403007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9D080E0-3FBB-EE16-738B-4A97DF621DCA}"/>
                </a:ext>
              </a:extLst>
            </p:cNvPr>
            <p:cNvSpPr/>
            <p:nvPr/>
          </p:nvSpPr>
          <p:spPr>
            <a:xfrm>
              <a:off x="0" y="6484069"/>
              <a:ext cx="12192000" cy="397079"/>
            </a:xfrm>
            <a:prstGeom prst="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dirty="0"/>
                <a:t>                   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Jai Raja Saravanam S                                                                                                        </a:t>
              </a:r>
              <a:r>
                <a:rPr lang="en-IN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Emcog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Solutions</a:t>
              </a:r>
              <a:r>
                <a:rPr lang="en-IN" dirty="0"/>
                <a:t> </a:t>
              </a:r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C02E6988-9B6A-64B8-2DAD-7B36C111C55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734477" y="6478141"/>
              <a:ext cx="349866" cy="3830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977831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9567D4-7A23-CCD9-14BC-AA9660160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301981C8-B2B7-CF2D-5C5A-42E2D75E8069}"/>
              </a:ext>
            </a:extLst>
          </p:cNvPr>
          <p:cNvSpPr/>
          <p:nvPr/>
        </p:nvSpPr>
        <p:spPr>
          <a:xfrm rot="16200000" flipH="1">
            <a:off x="10314656" y="4085788"/>
            <a:ext cx="77317" cy="371623"/>
          </a:xfrm>
          <a:prstGeom prst="rect">
            <a:avLst/>
          </a:prstGeom>
          <a:ln w="12700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7B35843-B382-A04A-8094-60CFC6C3DB29}"/>
              </a:ext>
            </a:extLst>
          </p:cNvPr>
          <p:cNvSpPr/>
          <p:nvPr/>
        </p:nvSpPr>
        <p:spPr>
          <a:xfrm>
            <a:off x="1537139" y="2466733"/>
            <a:ext cx="117516" cy="3714374"/>
          </a:xfrm>
          <a:prstGeom prst="rect">
            <a:avLst/>
          </a:prstGeom>
          <a:ln w="12700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0DE09A2-4E6B-B4B7-D789-1FABF5E18107}"/>
              </a:ext>
            </a:extLst>
          </p:cNvPr>
          <p:cNvSpPr txBox="1">
            <a:spLocks/>
          </p:cNvSpPr>
          <p:nvPr/>
        </p:nvSpPr>
        <p:spPr>
          <a:xfrm>
            <a:off x="547994" y="31822"/>
            <a:ext cx="11096011" cy="182815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 of a task</a:t>
            </a: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2E3E8EB-AE78-A138-2246-888247536906}"/>
              </a:ext>
            </a:extLst>
          </p:cNvPr>
          <p:cNvSpPr/>
          <p:nvPr/>
        </p:nvSpPr>
        <p:spPr>
          <a:xfrm>
            <a:off x="3449782" y="3782289"/>
            <a:ext cx="2130136" cy="10287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Ready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684EB24-651C-378C-25FA-B3923FAE321C}"/>
              </a:ext>
            </a:extLst>
          </p:cNvPr>
          <p:cNvSpPr/>
          <p:nvPr/>
        </p:nvSpPr>
        <p:spPr>
          <a:xfrm>
            <a:off x="8018319" y="3782289"/>
            <a:ext cx="2130136" cy="10287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Running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C4274F-E7FF-7F24-6C8C-424CB5A80C96}"/>
              </a:ext>
            </a:extLst>
          </p:cNvPr>
          <p:cNvSpPr txBox="1"/>
          <p:nvPr/>
        </p:nvSpPr>
        <p:spPr>
          <a:xfrm>
            <a:off x="413039" y="372254"/>
            <a:ext cx="609426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Ready state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Running state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Blocked state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Suspended state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3DF4EC0-671E-1FC4-789A-73FE9FAC12C5}"/>
              </a:ext>
            </a:extLst>
          </p:cNvPr>
          <p:cNvSpPr/>
          <p:nvPr/>
        </p:nvSpPr>
        <p:spPr>
          <a:xfrm>
            <a:off x="3449782" y="1908613"/>
            <a:ext cx="2130136" cy="10287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Suspended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523BF25-E6CE-C386-0825-C446BBC3F816}"/>
              </a:ext>
            </a:extLst>
          </p:cNvPr>
          <p:cNvSpPr/>
          <p:nvPr/>
        </p:nvSpPr>
        <p:spPr>
          <a:xfrm>
            <a:off x="3460173" y="5666356"/>
            <a:ext cx="2130136" cy="10287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Blocked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A4F6F781-54E0-5B29-EDF6-F5EA9287AEE8}"/>
              </a:ext>
            </a:extLst>
          </p:cNvPr>
          <p:cNvSpPr/>
          <p:nvPr/>
        </p:nvSpPr>
        <p:spPr>
          <a:xfrm>
            <a:off x="5579924" y="3964354"/>
            <a:ext cx="2438395" cy="1834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5871DFE4-0817-77E1-2DBF-A56E352F7111}"/>
              </a:ext>
            </a:extLst>
          </p:cNvPr>
          <p:cNvSpPr/>
          <p:nvPr/>
        </p:nvSpPr>
        <p:spPr>
          <a:xfrm flipH="1">
            <a:off x="5586850" y="4314183"/>
            <a:ext cx="2438395" cy="1834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IN" dirty="0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8E83EDA2-77E2-793E-CD30-C02A73FE57EF}"/>
              </a:ext>
            </a:extLst>
          </p:cNvPr>
          <p:cNvSpPr/>
          <p:nvPr/>
        </p:nvSpPr>
        <p:spPr>
          <a:xfrm rot="5400000">
            <a:off x="4487585" y="3265771"/>
            <a:ext cx="854643" cy="20176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 dirty="0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95A92785-AB5D-EDC6-8EA4-98BC93FA1964}"/>
              </a:ext>
            </a:extLst>
          </p:cNvPr>
          <p:cNvSpPr/>
          <p:nvPr/>
        </p:nvSpPr>
        <p:spPr>
          <a:xfrm rot="16200000" flipV="1">
            <a:off x="3652849" y="3251915"/>
            <a:ext cx="854643" cy="20176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 dirty="0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D9942730-EF8D-0FD5-025A-3664480753E4}"/>
              </a:ext>
            </a:extLst>
          </p:cNvPr>
          <p:cNvSpPr/>
          <p:nvPr/>
        </p:nvSpPr>
        <p:spPr>
          <a:xfrm rot="16200000" flipV="1">
            <a:off x="3603697" y="5132594"/>
            <a:ext cx="854643" cy="20176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 dirty="0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3964E6F2-844F-A666-50E2-F2A0363AA6A5}"/>
              </a:ext>
            </a:extLst>
          </p:cNvPr>
          <p:cNvSpPr/>
          <p:nvPr/>
        </p:nvSpPr>
        <p:spPr>
          <a:xfrm rot="16200000" flipV="1">
            <a:off x="4487584" y="5149987"/>
            <a:ext cx="854643" cy="20176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 dirty="0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B9323993-9320-B29D-F5FF-52177C0A0113}"/>
              </a:ext>
            </a:extLst>
          </p:cNvPr>
          <p:cNvSpPr/>
          <p:nvPr/>
        </p:nvSpPr>
        <p:spPr>
          <a:xfrm flipV="1">
            <a:off x="2588207" y="4222471"/>
            <a:ext cx="854643" cy="1834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 dirty="0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0B5FD59E-2191-0D64-BF63-728D056B8AFA}"/>
              </a:ext>
            </a:extLst>
          </p:cNvPr>
          <p:cNvSpPr/>
          <p:nvPr/>
        </p:nvSpPr>
        <p:spPr>
          <a:xfrm flipV="1">
            <a:off x="1537856" y="2349756"/>
            <a:ext cx="1904994" cy="16367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 dirty="0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F6C0B520-1550-9853-CF81-A548A969D6E4}"/>
              </a:ext>
            </a:extLst>
          </p:cNvPr>
          <p:cNvSpPr/>
          <p:nvPr/>
        </p:nvSpPr>
        <p:spPr>
          <a:xfrm rot="10800000" flipV="1">
            <a:off x="5591204" y="2316172"/>
            <a:ext cx="4941061" cy="18004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8D1AE59-59AA-D565-1BEA-76A37A8419ED}"/>
              </a:ext>
            </a:extLst>
          </p:cNvPr>
          <p:cNvSpPr/>
          <p:nvPr/>
        </p:nvSpPr>
        <p:spPr>
          <a:xfrm rot="5400000">
            <a:off x="2437372" y="5177934"/>
            <a:ext cx="101356" cy="1904993"/>
          </a:xfrm>
          <a:prstGeom prst="rect">
            <a:avLst/>
          </a:prstGeom>
          <a:ln w="12700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7617F46-4A4C-168D-2D8B-4A36E38F4905}"/>
              </a:ext>
            </a:extLst>
          </p:cNvPr>
          <p:cNvSpPr/>
          <p:nvPr/>
        </p:nvSpPr>
        <p:spPr>
          <a:xfrm rot="10800000">
            <a:off x="10441069" y="2358622"/>
            <a:ext cx="101356" cy="1945401"/>
          </a:xfrm>
          <a:prstGeom prst="rect">
            <a:avLst/>
          </a:prstGeom>
          <a:ln w="12700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0474C2F-0F38-3328-81EE-9BCEE22510E4}"/>
              </a:ext>
            </a:extLst>
          </p:cNvPr>
          <p:cNvSpPr/>
          <p:nvPr/>
        </p:nvSpPr>
        <p:spPr>
          <a:xfrm flipH="1">
            <a:off x="9031932" y="4806155"/>
            <a:ext cx="102909" cy="1411236"/>
          </a:xfrm>
          <a:prstGeom prst="rect">
            <a:avLst/>
          </a:prstGeom>
          <a:ln w="12700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0A740727-D2EC-49EB-C295-CAE79F2980FF}"/>
              </a:ext>
            </a:extLst>
          </p:cNvPr>
          <p:cNvSpPr/>
          <p:nvPr/>
        </p:nvSpPr>
        <p:spPr>
          <a:xfrm flipH="1" flipV="1">
            <a:off x="5596283" y="6054748"/>
            <a:ext cx="3538557" cy="21976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6583904-8044-83B8-57BB-E8C43EFF37A0}"/>
              </a:ext>
            </a:extLst>
          </p:cNvPr>
          <p:cNvSpPr/>
          <p:nvPr/>
        </p:nvSpPr>
        <p:spPr>
          <a:xfrm>
            <a:off x="1763828" y="4069268"/>
            <a:ext cx="1567545" cy="163673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Create new task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56C6FE1-C770-EAA5-3A35-15450C09B77D}"/>
              </a:ext>
            </a:extLst>
          </p:cNvPr>
          <p:cNvSpPr/>
          <p:nvPr/>
        </p:nvSpPr>
        <p:spPr>
          <a:xfrm>
            <a:off x="3552735" y="5159158"/>
            <a:ext cx="853103" cy="183424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Event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6C82E8E-0241-98B1-A910-7D13F73BA94B}"/>
              </a:ext>
            </a:extLst>
          </p:cNvPr>
          <p:cNvSpPr/>
          <p:nvPr/>
        </p:nvSpPr>
        <p:spPr>
          <a:xfrm>
            <a:off x="8066814" y="5250870"/>
            <a:ext cx="1914729" cy="303147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Blocking Api Called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468C010-7C6D-E4DC-FBB0-0D0648915D00}"/>
              </a:ext>
            </a:extLst>
          </p:cNvPr>
          <p:cNvSpPr/>
          <p:nvPr/>
        </p:nvSpPr>
        <p:spPr>
          <a:xfrm>
            <a:off x="5895109" y="4485688"/>
            <a:ext cx="1914729" cy="303147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Pre-empt / yield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B07B146-C66B-67DB-C6F8-FA052513528B}"/>
              </a:ext>
            </a:extLst>
          </p:cNvPr>
          <p:cNvSpPr/>
          <p:nvPr/>
        </p:nvSpPr>
        <p:spPr>
          <a:xfrm>
            <a:off x="6186266" y="3673125"/>
            <a:ext cx="1239562" cy="261233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Schedule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61AC983-AF8B-A1AC-DA86-AC2CD389A70A}"/>
              </a:ext>
            </a:extLst>
          </p:cNvPr>
          <p:cNvSpPr/>
          <p:nvPr/>
        </p:nvSpPr>
        <p:spPr>
          <a:xfrm>
            <a:off x="2946537" y="3223693"/>
            <a:ext cx="1567545" cy="23530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 err="1"/>
              <a:t>vTaskSuspend</a:t>
            </a:r>
            <a:r>
              <a:rPr lang="en-IN" sz="1600" dirty="0"/>
              <a:t>()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A3C5230-EC1F-2616-B341-2E1EEDEA2D2C}"/>
              </a:ext>
            </a:extLst>
          </p:cNvPr>
          <p:cNvSpPr/>
          <p:nvPr/>
        </p:nvSpPr>
        <p:spPr>
          <a:xfrm>
            <a:off x="4618721" y="3224269"/>
            <a:ext cx="1567545" cy="24455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 err="1"/>
              <a:t>vTaskResume</a:t>
            </a:r>
            <a:r>
              <a:rPr lang="en-IN" sz="1600" dirty="0"/>
              <a:t>()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F6D4C73-67B7-66C4-B72C-3BB67EAD10DE}"/>
              </a:ext>
            </a:extLst>
          </p:cNvPr>
          <p:cNvSpPr/>
          <p:nvPr/>
        </p:nvSpPr>
        <p:spPr>
          <a:xfrm>
            <a:off x="9753572" y="3056306"/>
            <a:ext cx="1567545" cy="24455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 err="1"/>
              <a:t>VTaskSuspend</a:t>
            </a:r>
            <a:r>
              <a:rPr lang="en-IN" sz="1600" dirty="0"/>
              <a:t>()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0B5670F-8E7E-8EF0-B705-9C70B172E03E}"/>
              </a:ext>
            </a:extLst>
          </p:cNvPr>
          <p:cNvSpPr/>
          <p:nvPr/>
        </p:nvSpPr>
        <p:spPr>
          <a:xfrm>
            <a:off x="4504552" y="5159158"/>
            <a:ext cx="1681714" cy="181257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 err="1"/>
              <a:t>vTaskAbortDelay</a:t>
            </a:r>
            <a:r>
              <a:rPr lang="en-IN" sz="1600" dirty="0"/>
              <a:t>()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F580632-C73D-C8B8-A771-A336CBE16257}"/>
              </a:ext>
            </a:extLst>
          </p:cNvPr>
          <p:cNvSpPr/>
          <p:nvPr/>
        </p:nvSpPr>
        <p:spPr>
          <a:xfrm>
            <a:off x="841663" y="1674911"/>
            <a:ext cx="7090195" cy="507853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0000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C471029-A6F1-B911-F046-EF8F1D5DEAD8}"/>
              </a:ext>
            </a:extLst>
          </p:cNvPr>
          <p:cNvSpPr txBox="1"/>
          <p:nvPr/>
        </p:nvSpPr>
        <p:spPr>
          <a:xfrm>
            <a:off x="1271293" y="1277921"/>
            <a:ext cx="609426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b="1" dirty="0">
                <a:solidFill>
                  <a:srgbClr val="FF0000"/>
                </a:solidFill>
              </a:rPr>
              <a:t>Not running</a:t>
            </a:r>
          </a:p>
        </p:txBody>
      </p:sp>
    </p:spTree>
    <p:extLst>
      <p:ext uri="{BB962C8B-B14F-4D97-AF65-F5344CB8AC3E}">
        <p14:creationId xmlns:p14="http://schemas.microsoft.com/office/powerpoint/2010/main" val="66789077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180BD6-D246-8AF9-29DC-6D62EEFA4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686C104-FED0-85E2-58A6-56BC94E2247F}"/>
              </a:ext>
            </a:extLst>
          </p:cNvPr>
          <p:cNvSpPr txBox="1">
            <a:spLocks/>
          </p:cNvSpPr>
          <p:nvPr/>
        </p:nvSpPr>
        <p:spPr>
          <a:xfrm>
            <a:off x="547994" y="180413"/>
            <a:ext cx="11096011" cy="59682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 of a task</a:t>
            </a: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C72C12-0E93-CD18-FF27-901F0001892C}"/>
              </a:ext>
            </a:extLst>
          </p:cNvPr>
          <p:cNvSpPr txBox="1"/>
          <p:nvPr/>
        </p:nvSpPr>
        <p:spPr>
          <a:xfrm>
            <a:off x="698788" y="1103774"/>
            <a:ext cx="10422601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IN" sz="20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Ready state</a:t>
            </a:r>
          </a:p>
          <a:p>
            <a:pPr lvl="1">
              <a:spcAft>
                <a:spcPts val="120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The task is ready to run, but the </a:t>
            </a:r>
            <a:r>
              <a:rPr lang="en-US" sz="2000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CPU is busy running another task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equal or higher priority.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IN" sz="20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Running state</a:t>
            </a:r>
          </a:p>
          <a:p>
            <a:pPr lvl="1">
              <a:spcAft>
                <a:spcPts val="120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The task is </a:t>
            </a:r>
            <a:r>
              <a:rPr lang="en-US" sz="2000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currently being executed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the CPU.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IN" sz="20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Blocked state</a:t>
            </a:r>
          </a:p>
          <a:p>
            <a:pPr>
              <a:spcAft>
                <a:spcPts val="120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The task is </a:t>
            </a:r>
            <a:r>
              <a:rPr lang="en-US" sz="2000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waiting for a RTOS resource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like queue , semaphore or event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1200"/>
              </a:spcAf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It can also wait for a delay to finish</a:t>
            </a:r>
          </a:p>
          <a:p>
            <a:pPr marL="457200" indent="-457200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IN" sz="20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Suspended state</a:t>
            </a:r>
          </a:p>
          <a:p>
            <a:pPr>
              <a:spcAft>
                <a:spcPts val="120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The task is completely stopped manually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vTaskSuspend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TaskHandle_t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handle); .It can only resume after any running task calls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vTaskResume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TaskHandle_t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handle);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21DE65C-87CB-A6B1-1795-B1E13EEB1131}"/>
              </a:ext>
            </a:extLst>
          </p:cNvPr>
          <p:cNvGrpSpPr/>
          <p:nvPr/>
        </p:nvGrpSpPr>
        <p:grpSpPr>
          <a:xfrm>
            <a:off x="0" y="6466566"/>
            <a:ext cx="12192000" cy="403007"/>
            <a:chOff x="0" y="6478141"/>
            <a:chExt cx="12192000" cy="403007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355D6AAC-E271-EA98-F7A6-66A7E5106C83}"/>
                </a:ext>
              </a:extLst>
            </p:cNvPr>
            <p:cNvSpPr/>
            <p:nvPr/>
          </p:nvSpPr>
          <p:spPr>
            <a:xfrm>
              <a:off x="0" y="6484069"/>
              <a:ext cx="12192000" cy="397079"/>
            </a:xfrm>
            <a:prstGeom prst="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dirty="0"/>
                <a:t>                   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Jai Raja Saravanam S                                                                                                        </a:t>
              </a:r>
              <a:r>
                <a:rPr lang="en-IN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Emcog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Solutions</a:t>
              </a:r>
              <a:r>
                <a:rPr lang="en-IN" dirty="0"/>
                <a:t> </a:t>
              </a: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AC226AEF-AD75-E3A1-CEBC-AB168198A0E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734477" y="6478141"/>
              <a:ext cx="349866" cy="3830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9395868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4B284C-9484-CCEE-6DD5-2CA2709D7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0EC62BE8-F8BB-A944-F43E-92A290B47DA9}"/>
              </a:ext>
            </a:extLst>
          </p:cNvPr>
          <p:cNvSpPr txBox="1">
            <a:spLocks/>
          </p:cNvSpPr>
          <p:nvPr/>
        </p:nvSpPr>
        <p:spPr>
          <a:xfrm>
            <a:off x="5148867" y="141104"/>
            <a:ext cx="1894266" cy="58921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AB700F-E365-D063-1D1C-88E27C40125B}"/>
              </a:ext>
            </a:extLst>
          </p:cNvPr>
          <p:cNvSpPr txBox="1"/>
          <p:nvPr/>
        </p:nvSpPr>
        <p:spPr>
          <a:xfrm>
            <a:off x="403570" y="602424"/>
            <a:ext cx="9585382" cy="1268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create a delay for the next program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periodic task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5BA753-06AB-857A-D277-319F92A5A1BD}"/>
              </a:ext>
            </a:extLst>
          </p:cNvPr>
          <p:cNvSpPr txBox="1"/>
          <p:nvPr/>
        </p:nvSpPr>
        <p:spPr>
          <a:xfrm>
            <a:off x="403569" y="2312150"/>
            <a:ext cx="11298435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temporarily blocks the task for the a period of time without engaging the Processor (CPU)</a:t>
            </a:r>
          </a:p>
          <a:p>
            <a:pPr algn="just">
              <a:spcAft>
                <a:spcPts val="600"/>
              </a:spcAft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vTaskDelay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TickType_t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xTicksToDelay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 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 Delay is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baed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Relative time at when this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function is called.</a:t>
            </a:r>
          </a:p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vTaskDelayUntil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 </a:t>
            </a:r>
            <a:r>
              <a:rPr lang="en-I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TickType_t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IN" sz="20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pxPreviousWakeTime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TickType_t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xTimeIncrement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 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 Delay is based on absolute time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C3F626C-F592-F519-DC19-6A3BA9AC3041}"/>
              </a:ext>
            </a:extLst>
          </p:cNvPr>
          <p:cNvSpPr txBox="1">
            <a:spLocks/>
          </p:cNvSpPr>
          <p:nvPr/>
        </p:nvSpPr>
        <p:spPr>
          <a:xfrm>
            <a:off x="692419" y="1734512"/>
            <a:ext cx="11096011" cy="58921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Blocking Delay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D70D50F-F3FC-5764-6FBC-D131FCE8CE97}"/>
              </a:ext>
            </a:extLst>
          </p:cNvPr>
          <p:cNvCxnSpPr>
            <a:cxnSpLocks/>
          </p:cNvCxnSpPr>
          <p:nvPr/>
        </p:nvCxnSpPr>
        <p:spPr>
          <a:xfrm flipV="1">
            <a:off x="497711" y="4375222"/>
            <a:ext cx="0" cy="196769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87B5035-19F2-D4D8-3485-6213AF0C22A0}"/>
              </a:ext>
            </a:extLst>
          </p:cNvPr>
          <p:cNvCxnSpPr>
            <a:cxnSpLocks/>
          </p:cNvCxnSpPr>
          <p:nvPr/>
        </p:nvCxnSpPr>
        <p:spPr>
          <a:xfrm>
            <a:off x="488068" y="6325509"/>
            <a:ext cx="10901423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44325FD-AC53-CBCE-6912-4BFCBCC92F65}"/>
              </a:ext>
            </a:extLst>
          </p:cNvPr>
          <p:cNvCxnSpPr/>
          <p:nvPr/>
        </p:nvCxnSpPr>
        <p:spPr>
          <a:xfrm>
            <a:off x="1987296" y="4399526"/>
            <a:ext cx="0" cy="193548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0AD8ABE-978E-E7B1-4AF8-E130D9EF5C3C}"/>
              </a:ext>
            </a:extLst>
          </p:cNvPr>
          <p:cNvCxnSpPr/>
          <p:nvPr/>
        </p:nvCxnSpPr>
        <p:spPr>
          <a:xfrm>
            <a:off x="3419856" y="4407439"/>
            <a:ext cx="0" cy="193548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CCAC5FE-154B-F3EC-EAAE-1DE4585683EA}"/>
              </a:ext>
            </a:extLst>
          </p:cNvPr>
          <p:cNvCxnSpPr/>
          <p:nvPr/>
        </p:nvCxnSpPr>
        <p:spPr>
          <a:xfrm>
            <a:off x="4852416" y="4397064"/>
            <a:ext cx="0" cy="193548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34C55B7-78B3-434C-BAA3-08B8723494C0}"/>
              </a:ext>
            </a:extLst>
          </p:cNvPr>
          <p:cNvCxnSpPr/>
          <p:nvPr/>
        </p:nvCxnSpPr>
        <p:spPr>
          <a:xfrm>
            <a:off x="6284976" y="4404977"/>
            <a:ext cx="0" cy="193548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DF8FCDD-35B4-AA4D-07E9-5B23D687F8A2}"/>
              </a:ext>
            </a:extLst>
          </p:cNvPr>
          <p:cNvCxnSpPr/>
          <p:nvPr/>
        </p:nvCxnSpPr>
        <p:spPr>
          <a:xfrm>
            <a:off x="7717536" y="4406794"/>
            <a:ext cx="0" cy="193548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B1E1EA5-E513-3AB7-3F37-9322AB9B3607}"/>
              </a:ext>
            </a:extLst>
          </p:cNvPr>
          <p:cNvCxnSpPr/>
          <p:nvPr/>
        </p:nvCxnSpPr>
        <p:spPr>
          <a:xfrm>
            <a:off x="9150096" y="4402515"/>
            <a:ext cx="0" cy="193548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4ECB7B5-2DBD-C436-E12C-EC9C57BEFD3D}"/>
              </a:ext>
            </a:extLst>
          </p:cNvPr>
          <p:cNvCxnSpPr/>
          <p:nvPr/>
        </p:nvCxnSpPr>
        <p:spPr>
          <a:xfrm>
            <a:off x="10582656" y="4392140"/>
            <a:ext cx="0" cy="193548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ACCC240E-A999-34B5-819D-31B3858F7B20}"/>
              </a:ext>
            </a:extLst>
          </p:cNvPr>
          <p:cNvSpPr txBox="1"/>
          <p:nvPr/>
        </p:nvSpPr>
        <p:spPr>
          <a:xfrm>
            <a:off x="1698238" y="6268743"/>
            <a:ext cx="7671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1000</a:t>
            </a:r>
            <a:endParaRPr lang="en-IN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EC2E3A9-B240-1604-40CD-6B73BCC06EA6}"/>
              </a:ext>
            </a:extLst>
          </p:cNvPr>
          <p:cNvSpPr txBox="1"/>
          <p:nvPr/>
        </p:nvSpPr>
        <p:spPr>
          <a:xfrm>
            <a:off x="3123854" y="6282247"/>
            <a:ext cx="7671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000</a:t>
            </a:r>
            <a:endParaRPr lang="en-IN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BCA6FC2-1DA0-B19F-5C0E-57DB3B20BE68}"/>
              </a:ext>
            </a:extLst>
          </p:cNvPr>
          <p:cNvSpPr txBox="1"/>
          <p:nvPr/>
        </p:nvSpPr>
        <p:spPr>
          <a:xfrm>
            <a:off x="4549470" y="6284176"/>
            <a:ext cx="7671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3000</a:t>
            </a:r>
            <a:endParaRPr lang="en-I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D50F6AE-5447-8F86-739D-107AA76604A5}"/>
              </a:ext>
            </a:extLst>
          </p:cNvPr>
          <p:cNvSpPr txBox="1"/>
          <p:nvPr/>
        </p:nvSpPr>
        <p:spPr>
          <a:xfrm>
            <a:off x="5986661" y="6286105"/>
            <a:ext cx="7671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000</a:t>
            </a:r>
            <a:endParaRPr lang="en-IN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4D5BA5B-7878-36C6-0BCA-2E4B146E71B4}"/>
              </a:ext>
            </a:extLst>
          </p:cNvPr>
          <p:cNvSpPr txBox="1"/>
          <p:nvPr/>
        </p:nvSpPr>
        <p:spPr>
          <a:xfrm>
            <a:off x="7435427" y="6288034"/>
            <a:ext cx="7671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000</a:t>
            </a:r>
            <a:endParaRPr lang="en-IN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E248133-6B8F-253F-12AF-AF6213C33AA8}"/>
              </a:ext>
            </a:extLst>
          </p:cNvPr>
          <p:cNvSpPr txBox="1"/>
          <p:nvPr/>
        </p:nvSpPr>
        <p:spPr>
          <a:xfrm>
            <a:off x="8849468" y="6266813"/>
            <a:ext cx="7671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000</a:t>
            </a:r>
            <a:endParaRPr lang="en-IN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2F3ED1A-41F3-27D5-DD1C-B7964BAF927A}"/>
              </a:ext>
            </a:extLst>
          </p:cNvPr>
          <p:cNvSpPr txBox="1"/>
          <p:nvPr/>
        </p:nvSpPr>
        <p:spPr>
          <a:xfrm>
            <a:off x="10275084" y="6280317"/>
            <a:ext cx="7671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000</a:t>
            </a:r>
            <a:endParaRPr lang="en-IN" dirty="0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FBEBB8F-4E1D-AE79-EDB3-802DD7BDFF3B}"/>
              </a:ext>
            </a:extLst>
          </p:cNvPr>
          <p:cNvCxnSpPr/>
          <p:nvPr/>
        </p:nvCxnSpPr>
        <p:spPr>
          <a:xfrm>
            <a:off x="497711" y="6018828"/>
            <a:ext cx="1489585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80CC9C9-B4A2-1E0A-52E9-F6ACD41F8206}"/>
              </a:ext>
            </a:extLst>
          </p:cNvPr>
          <p:cNvCxnSpPr>
            <a:cxnSpLocks/>
          </p:cNvCxnSpPr>
          <p:nvPr/>
        </p:nvCxnSpPr>
        <p:spPr>
          <a:xfrm>
            <a:off x="1969623" y="4816991"/>
            <a:ext cx="1450233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9B69C36-548C-0791-A3B4-35F297D18C99}"/>
              </a:ext>
            </a:extLst>
          </p:cNvPr>
          <p:cNvCxnSpPr>
            <a:cxnSpLocks/>
          </p:cNvCxnSpPr>
          <p:nvPr/>
        </p:nvCxnSpPr>
        <p:spPr>
          <a:xfrm>
            <a:off x="3396706" y="6018828"/>
            <a:ext cx="145571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71AEC81-C807-D6B8-9BB2-3F65B2ABB099}"/>
              </a:ext>
            </a:extLst>
          </p:cNvPr>
          <p:cNvCxnSpPr>
            <a:cxnSpLocks/>
          </p:cNvCxnSpPr>
          <p:nvPr/>
        </p:nvCxnSpPr>
        <p:spPr>
          <a:xfrm>
            <a:off x="4852416" y="4757188"/>
            <a:ext cx="143256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F4B2FFD-578E-0498-EBB7-76BE3BABC96C}"/>
              </a:ext>
            </a:extLst>
          </p:cNvPr>
          <p:cNvCxnSpPr/>
          <p:nvPr/>
        </p:nvCxnSpPr>
        <p:spPr>
          <a:xfrm>
            <a:off x="6284976" y="6018829"/>
            <a:ext cx="1489585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EA3209B-6CEB-B124-E358-FF6E09BDCBE1}"/>
              </a:ext>
            </a:extLst>
          </p:cNvPr>
          <p:cNvCxnSpPr>
            <a:cxnSpLocks/>
          </p:cNvCxnSpPr>
          <p:nvPr/>
        </p:nvCxnSpPr>
        <p:spPr>
          <a:xfrm>
            <a:off x="7717536" y="4757188"/>
            <a:ext cx="143256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B6057B67-CBD5-7F36-1E0C-A222088463E6}"/>
              </a:ext>
            </a:extLst>
          </p:cNvPr>
          <p:cNvCxnSpPr>
            <a:cxnSpLocks/>
          </p:cNvCxnSpPr>
          <p:nvPr/>
        </p:nvCxnSpPr>
        <p:spPr>
          <a:xfrm>
            <a:off x="9150096" y="6007254"/>
            <a:ext cx="143256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DE6565F7-F71D-B244-0A17-67E0E357ADB9}"/>
              </a:ext>
            </a:extLst>
          </p:cNvPr>
          <p:cNvSpPr txBox="1"/>
          <p:nvPr/>
        </p:nvSpPr>
        <p:spPr>
          <a:xfrm>
            <a:off x="11389491" y="6123717"/>
            <a:ext cx="7671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RTOS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Tick</a:t>
            </a:r>
            <a:endParaRPr lang="en-IN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585F769-691A-F208-4CE7-264A8B9FB5C3}"/>
              </a:ext>
            </a:extLst>
          </p:cNvPr>
          <p:cNvSpPr txBox="1"/>
          <p:nvPr/>
        </p:nvSpPr>
        <p:spPr>
          <a:xfrm>
            <a:off x="-97842" y="4541600"/>
            <a:ext cx="681159" cy="396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3.3v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4D72A13-A9A7-109D-89B8-8599C786AB36}"/>
              </a:ext>
            </a:extLst>
          </p:cNvPr>
          <p:cNvSpPr txBox="1"/>
          <p:nvPr/>
        </p:nvSpPr>
        <p:spPr>
          <a:xfrm>
            <a:off x="56968" y="5780606"/>
            <a:ext cx="497210" cy="396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0v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6FBB9A3-F965-AE04-484A-BB7F76A1CB00}"/>
              </a:ext>
            </a:extLst>
          </p:cNvPr>
          <p:cNvCxnSpPr>
            <a:cxnSpLocks/>
          </p:cNvCxnSpPr>
          <p:nvPr/>
        </p:nvCxnSpPr>
        <p:spPr>
          <a:xfrm flipV="1">
            <a:off x="2006199" y="4570324"/>
            <a:ext cx="0" cy="37372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12487D70-8C07-CF8E-AAA0-7B5D49613682}"/>
              </a:ext>
            </a:extLst>
          </p:cNvPr>
          <p:cNvCxnSpPr>
            <a:cxnSpLocks/>
          </p:cNvCxnSpPr>
          <p:nvPr/>
        </p:nvCxnSpPr>
        <p:spPr>
          <a:xfrm flipV="1">
            <a:off x="528191" y="5783256"/>
            <a:ext cx="0" cy="37372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132F99D9-1F8D-A4C7-A19E-6E1EBDF95330}"/>
              </a:ext>
            </a:extLst>
          </p:cNvPr>
          <p:cNvCxnSpPr>
            <a:cxnSpLocks/>
          </p:cNvCxnSpPr>
          <p:nvPr/>
        </p:nvCxnSpPr>
        <p:spPr>
          <a:xfrm flipV="1">
            <a:off x="3438759" y="5803576"/>
            <a:ext cx="0" cy="37372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BA840A43-8A09-AA05-8A22-E8939EB8CF2A}"/>
              </a:ext>
            </a:extLst>
          </p:cNvPr>
          <p:cNvCxnSpPr>
            <a:cxnSpLocks/>
          </p:cNvCxnSpPr>
          <p:nvPr/>
        </p:nvCxnSpPr>
        <p:spPr>
          <a:xfrm flipV="1">
            <a:off x="9150096" y="5853178"/>
            <a:ext cx="0" cy="37372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09012EC6-33C6-2F81-A703-AF826E45E8D1}"/>
              </a:ext>
            </a:extLst>
          </p:cNvPr>
          <p:cNvCxnSpPr>
            <a:cxnSpLocks/>
          </p:cNvCxnSpPr>
          <p:nvPr/>
        </p:nvCxnSpPr>
        <p:spPr>
          <a:xfrm flipV="1">
            <a:off x="4859929" y="4541600"/>
            <a:ext cx="0" cy="37372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6243C8DC-ED2C-4E82-E348-AE6EE01C40A7}"/>
              </a:ext>
            </a:extLst>
          </p:cNvPr>
          <p:cNvCxnSpPr>
            <a:cxnSpLocks/>
          </p:cNvCxnSpPr>
          <p:nvPr/>
        </p:nvCxnSpPr>
        <p:spPr>
          <a:xfrm flipV="1">
            <a:off x="7736439" y="4570324"/>
            <a:ext cx="0" cy="37372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D6A2FAEC-E1E5-B00B-4947-B619EA3AEF2C}"/>
              </a:ext>
            </a:extLst>
          </p:cNvPr>
          <p:cNvCxnSpPr>
            <a:cxnSpLocks/>
          </p:cNvCxnSpPr>
          <p:nvPr/>
        </p:nvCxnSpPr>
        <p:spPr>
          <a:xfrm flipV="1">
            <a:off x="6303393" y="5824454"/>
            <a:ext cx="0" cy="37372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763570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0581E-2E7C-6B5D-D4A9-2447AE086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584AA04-BD83-F0B3-9173-E866EE687C9B}"/>
              </a:ext>
            </a:extLst>
          </p:cNvPr>
          <p:cNvSpPr txBox="1">
            <a:spLocks/>
          </p:cNvSpPr>
          <p:nvPr/>
        </p:nvSpPr>
        <p:spPr>
          <a:xfrm>
            <a:off x="547994" y="0"/>
            <a:ext cx="11096011" cy="60133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 contd.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B57A45-2A0E-002A-E16B-5E0231ED7A10}"/>
              </a:ext>
            </a:extLst>
          </p:cNvPr>
          <p:cNvSpPr txBox="1"/>
          <p:nvPr/>
        </p:nvSpPr>
        <p:spPr>
          <a:xfrm>
            <a:off x="526650" y="1018288"/>
            <a:ext cx="725184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N" i="0" dirty="0">
                <a:effectLst/>
                <a:latin typeface="Consolas" panose="020B0609020204030204" pitchFamily="49" charset="0"/>
              </a:rPr>
              <a:t>void </a:t>
            </a:r>
            <a:r>
              <a:rPr lang="en-IN" i="0" dirty="0" err="1">
                <a:effectLst/>
                <a:latin typeface="Consolas" panose="020B0609020204030204" pitchFamily="49" charset="0"/>
              </a:rPr>
              <a:t>vTaskFunction</a:t>
            </a:r>
            <a:r>
              <a:rPr lang="en-IN" i="0" dirty="0">
                <a:effectLst/>
                <a:latin typeface="Consolas" panose="020B0609020204030204" pitchFamily="49" charset="0"/>
              </a:rPr>
              <a:t>( void * </a:t>
            </a:r>
            <a:r>
              <a:rPr lang="en-IN" i="0" dirty="0" err="1">
                <a:effectLst/>
                <a:latin typeface="Consolas" panose="020B0609020204030204" pitchFamily="49" charset="0"/>
              </a:rPr>
              <a:t>pvParameters</a:t>
            </a:r>
            <a:r>
              <a:rPr lang="en-IN" i="0" dirty="0">
                <a:effectLst/>
                <a:latin typeface="Consolas" panose="020B0609020204030204" pitchFamily="49" charset="0"/>
              </a:rPr>
              <a:t> )</a:t>
            </a:r>
          </a:p>
          <a:p>
            <a:pPr algn="l">
              <a:buNone/>
            </a:pPr>
            <a:r>
              <a:rPr lang="en-IN" i="0" dirty="0">
                <a:effectLst/>
                <a:latin typeface="Consolas" panose="020B0609020204030204" pitchFamily="49" charset="0"/>
              </a:rPr>
              <a:t>{</a:t>
            </a:r>
          </a:p>
          <a:p>
            <a:pPr algn="l">
              <a:buNone/>
            </a:pPr>
            <a:r>
              <a:rPr lang="en-IN" i="0" dirty="0" err="1">
                <a:effectLst/>
                <a:latin typeface="Consolas" panose="020B0609020204030204" pitchFamily="49" charset="0"/>
              </a:rPr>
              <a:t>const</a:t>
            </a:r>
            <a:r>
              <a:rPr lang="en-IN" i="0" dirty="0">
                <a:effectLst/>
                <a:latin typeface="Consolas" panose="020B0609020204030204" pitchFamily="49" charset="0"/>
              </a:rPr>
              <a:t> </a:t>
            </a:r>
            <a:r>
              <a:rPr lang="en-IN" i="0" dirty="0" err="1">
                <a:effectLst/>
                <a:latin typeface="Consolas" panose="020B0609020204030204" pitchFamily="49" charset="0"/>
              </a:rPr>
              <a:t>TickType_t</a:t>
            </a:r>
            <a:r>
              <a:rPr lang="en-IN" i="0" dirty="0">
                <a:effectLst/>
                <a:latin typeface="Consolas" panose="020B0609020204030204" pitchFamily="49" charset="0"/>
              </a:rPr>
              <a:t> </a:t>
            </a:r>
            <a:r>
              <a:rPr lang="en-IN" i="0" dirty="0" err="1">
                <a:effectLst/>
                <a:latin typeface="Consolas" panose="020B0609020204030204" pitchFamily="49" charset="0"/>
              </a:rPr>
              <a:t>xDelay</a:t>
            </a:r>
            <a:r>
              <a:rPr lang="en-IN" i="0" dirty="0">
                <a:effectLst/>
                <a:latin typeface="Consolas" panose="020B0609020204030204" pitchFamily="49" charset="0"/>
              </a:rPr>
              <a:t> = </a:t>
            </a:r>
            <a:r>
              <a:rPr lang="en-IN" dirty="0">
                <a:latin typeface="Consolas" panose="020B0609020204030204" pitchFamily="49" charset="0"/>
              </a:rPr>
              <a:t>10</a:t>
            </a:r>
            <a:r>
              <a:rPr lang="en-IN" i="0" dirty="0">
                <a:effectLst/>
                <a:latin typeface="Consolas" panose="020B0609020204030204" pitchFamily="49" charset="0"/>
              </a:rPr>
              <a:t>00 / </a:t>
            </a:r>
            <a:r>
              <a:rPr lang="en-IN" i="0" dirty="0" err="1">
                <a:effectLst/>
                <a:latin typeface="Consolas" panose="020B0609020204030204" pitchFamily="49" charset="0"/>
              </a:rPr>
              <a:t>portTICK_PERIOD_MS</a:t>
            </a:r>
            <a:r>
              <a:rPr lang="en-IN" i="0" dirty="0">
                <a:effectLst/>
                <a:latin typeface="Consolas" panose="020B0609020204030204" pitchFamily="49" charset="0"/>
              </a:rPr>
              <a:t>;</a:t>
            </a:r>
          </a:p>
          <a:p>
            <a:pPr algn="l">
              <a:buNone/>
            </a:pPr>
            <a:endParaRPr lang="en-IN" i="0" dirty="0">
              <a:effectLst/>
              <a:latin typeface="Consolas" panose="020B0609020204030204" pitchFamily="49" charset="0"/>
            </a:endParaRPr>
          </a:p>
          <a:p>
            <a:pPr algn="l">
              <a:buNone/>
            </a:pPr>
            <a:r>
              <a:rPr lang="en-IN" i="0" dirty="0">
                <a:effectLst/>
                <a:latin typeface="Consolas" panose="020B0609020204030204" pitchFamily="49" charset="0"/>
              </a:rPr>
              <a:t>for( ;; )</a:t>
            </a:r>
          </a:p>
          <a:p>
            <a:pPr algn="l">
              <a:buNone/>
            </a:pPr>
            <a:r>
              <a:rPr lang="en-IN" i="0" dirty="0">
                <a:effectLst/>
                <a:latin typeface="Consolas" panose="020B0609020204030204" pitchFamily="49" charset="0"/>
              </a:rPr>
              <a:t>{</a:t>
            </a:r>
          </a:p>
          <a:p>
            <a:pPr algn="l">
              <a:buNone/>
            </a:pPr>
            <a:r>
              <a:rPr lang="en-IN" i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vToggleLED</a:t>
            </a:r>
            <a:r>
              <a:rPr lang="en-IN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 algn="l">
              <a:buNone/>
            </a:pPr>
            <a:r>
              <a:rPr lang="en-IN" i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vTaskDelay</a:t>
            </a:r>
            <a:r>
              <a:rPr lang="en-IN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( </a:t>
            </a:r>
            <a:r>
              <a:rPr lang="en-IN" i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xDelay</a:t>
            </a:r>
            <a:r>
              <a:rPr lang="en-IN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 );  </a:t>
            </a:r>
          </a:p>
          <a:p>
            <a:pPr algn="l">
              <a:buNone/>
            </a:pPr>
            <a:r>
              <a:rPr lang="en-IN" i="0" dirty="0">
                <a:effectLst/>
                <a:latin typeface="Consolas" panose="020B0609020204030204" pitchFamily="49" charset="0"/>
              </a:rPr>
              <a:t>}  </a:t>
            </a:r>
          </a:p>
          <a:p>
            <a:pPr algn="l">
              <a:buNone/>
            </a:pPr>
            <a:r>
              <a:rPr lang="en-IN" i="0" dirty="0"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4F50F1-D1FC-E9BC-6D5D-7A664C25370C}"/>
              </a:ext>
            </a:extLst>
          </p:cNvPr>
          <p:cNvSpPr txBox="1"/>
          <p:nvPr/>
        </p:nvSpPr>
        <p:spPr>
          <a:xfrm>
            <a:off x="1223123" y="564281"/>
            <a:ext cx="208054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vTaskDelay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 ) </a:t>
            </a:r>
            <a:endParaRPr lang="en-IN" sz="2400" dirty="0"/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323B20FA-0735-8D98-FC85-DC2638EC5579}"/>
              </a:ext>
            </a:extLst>
          </p:cNvPr>
          <p:cNvCxnSpPr>
            <a:cxnSpLocks/>
          </p:cNvCxnSpPr>
          <p:nvPr/>
        </p:nvCxnSpPr>
        <p:spPr>
          <a:xfrm flipV="1">
            <a:off x="558671" y="4435541"/>
            <a:ext cx="0" cy="196769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E935D5A1-407C-486A-9B3D-39EB54B20389}"/>
              </a:ext>
            </a:extLst>
          </p:cNvPr>
          <p:cNvCxnSpPr>
            <a:cxnSpLocks/>
          </p:cNvCxnSpPr>
          <p:nvPr/>
        </p:nvCxnSpPr>
        <p:spPr>
          <a:xfrm>
            <a:off x="549028" y="6385828"/>
            <a:ext cx="10901423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1A136C2-773A-9C65-2B64-D95232CCA088}"/>
              </a:ext>
            </a:extLst>
          </p:cNvPr>
          <p:cNvCxnSpPr/>
          <p:nvPr/>
        </p:nvCxnSpPr>
        <p:spPr>
          <a:xfrm>
            <a:off x="2048256" y="4459845"/>
            <a:ext cx="0" cy="193548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29BEF3C-303E-BE14-281D-EA45972CAA1D}"/>
              </a:ext>
            </a:extLst>
          </p:cNvPr>
          <p:cNvCxnSpPr/>
          <p:nvPr/>
        </p:nvCxnSpPr>
        <p:spPr>
          <a:xfrm>
            <a:off x="3480816" y="4467758"/>
            <a:ext cx="0" cy="193548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36F774A-B448-0ABF-365C-52219A879773}"/>
              </a:ext>
            </a:extLst>
          </p:cNvPr>
          <p:cNvCxnSpPr/>
          <p:nvPr/>
        </p:nvCxnSpPr>
        <p:spPr>
          <a:xfrm>
            <a:off x="4913376" y="4457383"/>
            <a:ext cx="0" cy="193548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CAC5534-8DCF-CE75-65D8-ABA76AD43EE6}"/>
              </a:ext>
            </a:extLst>
          </p:cNvPr>
          <p:cNvCxnSpPr/>
          <p:nvPr/>
        </p:nvCxnSpPr>
        <p:spPr>
          <a:xfrm>
            <a:off x="6345936" y="4465296"/>
            <a:ext cx="0" cy="193548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7862526-A3E0-9AE3-2B9F-68D05B1F169E}"/>
              </a:ext>
            </a:extLst>
          </p:cNvPr>
          <p:cNvCxnSpPr/>
          <p:nvPr/>
        </p:nvCxnSpPr>
        <p:spPr>
          <a:xfrm>
            <a:off x="7778496" y="4467113"/>
            <a:ext cx="0" cy="193548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41B7914-A7E3-7625-89F3-69965F6383AA}"/>
              </a:ext>
            </a:extLst>
          </p:cNvPr>
          <p:cNvCxnSpPr/>
          <p:nvPr/>
        </p:nvCxnSpPr>
        <p:spPr>
          <a:xfrm>
            <a:off x="9211056" y="4462834"/>
            <a:ext cx="0" cy="193548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2913CB2-FF47-94DA-7CDC-5CF106E08F50}"/>
              </a:ext>
            </a:extLst>
          </p:cNvPr>
          <p:cNvCxnSpPr/>
          <p:nvPr/>
        </p:nvCxnSpPr>
        <p:spPr>
          <a:xfrm>
            <a:off x="10643616" y="4452459"/>
            <a:ext cx="0" cy="193548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B65CC3F5-BC88-0C3F-2C0C-6AC6BF538178}"/>
              </a:ext>
            </a:extLst>
          </p:cNvPr>
          <p:cNvSpPr txBox="1"/>
          <p:nvPr/>
        </p:nvSpPr>
        <p:spPr>
          <a:xfrm>
            <a:off x="1759198" y="6329062"/>
            <a:ext cx="7671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1000</a:t>
            </a:r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C55BAD5-F716-C2D7-C343-D76B337834C7}"/>
              </a:ext>
            </a:extLst>
          </p:cNvPr>
          <p:cNvSpPr txBox="1"/>
          <p:nvPr/>
        </p:nvSpPr>
        <p:spPr>
          <a:xfrm>
            <a:off x="3184814" y="6342566"/>
            <a:ext cx="7671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000</a:t>
            </a:r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64821B4-4F5D-4DF1-47C8-9B5A42BA3294}"/>
              </a:ext>
            </a:extLst>
          </p:cNvPr>
          <p:cNvSpPr txBox="1"/>
          <p:nvPr/>
        </p:nvSpPr>
        <p:spPr>
          <a:xfrm>
            <a:off x="4610430" y="6344495"/>
            <a:ext cx="7671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3000</a:t>
            </a:r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CF3B6D2-593C-1521-53D8-4874FD0B6D9F}"/>
              </a:ext>
            </a:extLst>
          </p:cNvPr>
          <p:cNvSpPr txBox="1"/>
          <p:nvPr/>
        </p:nvSpPr>
        <p:spPr>
          <a:xfrm>
            <a:off x="6047621" y="6346424"/>
            <a:ext cx="7671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000</a:t>
            </a:r>
            <a:endParaRPr lang="en-IN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6F4D32C-EBC9-C617-A9A7-A529DC7F678D}"/>
              </a:ext>
            </a:extLst>
          </p:cNvPr>
          <p:cNvSpPr txBox="1"/>
          <p:nvPr/>
        </p:nvSpPr>
        <p:spPr>
          <a:xfrm>
            <a:off x="7496387" y="6348353"/>
            <a:ext cx="7671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000</a:t>
            </a:r>
            <a:endParaRPr lang="en-IN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3B6B904-4542-3B1B-A570-0BB50F3428E2}"/>
              </a:ext>
            </a:extLst>
          </p:cNvPr>
          <p:cNvSpPr txBox="1"/>
          <p:nvPr/>
        </p:nvSpPr>
        <p:spPr>
          <a:xfrm>
            <a:off x="8910428" y="6327132"/>
            <a:ext cx="7671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000</a:t>
            </a:r>
            <a:endParaRPr lang="en-I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2998B4D-9369-C584-860F-6EB07A12E457}"/>
              </a:ext>
            </a:extLst>
          </p:cNvPr>
          <p:cNvSpPr txBox="1"/>
          <p:nvPr/>
        </p:nvSpPr>
        <p:spPr>
          <a:xfrm>
            <a:off x="10336044" y="6340636"/>
            <a:ext cx="7671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000</a:t>
            </a:r>
            <a:endParaRPr lang="en-IN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9D25590-AF59-CFDF-ECC4-926583B2DE5F}"/>
              </a:ext>
            </a:extLst>
          </p:cNvPr>
          <p:cNvCxnSpPr/>
          <p:nvPr/>
        </p:nvCxnSpPr>
        <p:spPr>
          <a:xfrm>
            <a:off x="558671" y="6079147"/>
            <a:ext cx="1489585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5A487E6-0B98-5B63-BE1C-2DEA9F41A732}"/>
              </a:ext>
            </a:extLst>
          </p:cNvPr>
          <p:cNvCxnSpPr>
            <a:cxnSpLocks/>
          </p:cNvCxnSpPr>
          <p:nvPr/>
        </p:nvCxnSpPr>
        <p:spPr>
          <a:xfrm>
            <a:off x="2030583" y="4877310"/>
            <a:ext cx="1450233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130A1FB-690B-03C6-677E-48DC8BA56DC9}"/>
              </a:ext>
            </a:extLst>
          </p:cNvPr>
          <p:cNvCxnSpPr>
            <a:cxnSpLocks/>
          </p:cNvCxnSpPr>
          <p:nvPr/>
        </p:nvCxnSpPr>
        <p:spPr>
          <a:xfrm>
            <a:off x="3650706" y="6079147"/>
            <a:ext cx="145571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A7BB8C9-95C9-098D-D7EB-F940F7234B73}"/>
              </a:ext>
            </a:extLst>
          </p:cNvPr>
          <p:cNvCxnSpPr>
            <a:cxnSpLocks/>
          </p:cNvCxnSpPr>
          <p:nvPr/>
        </p:nvCxnSpPr>
        <p:spPr>
          <a:xfrm>
            <a:off x="5106416" y="4817507"/>
            <a:ext cx="143256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660DC57-F264-D702-2B73-5C175BCDB75D}"/>
              </a:ext>
            </a:extLst>
          </p:cNvPr>
          <p:cNvCxnSpPr/>
          <p:nvPr/>
        </p:nvCxnSpPr>
        <p:spPr>
          <a:xfrm>
            <a:off x="6549136" y="6079148"/>
            <a:ext cx="1489585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18323764-CD16-03F5-6ABE-030A87377B97}"/>
              </a:ext>
            </a:extLst>
          </p:cNvPr>
          <p:cNvCxnSpPr>
            <a:cxnSpLocks/>
          </p:cNvCxnSpPr>
          <p:nvPr/>
        </p:nvCxnSpPr>
        <p:spPr>
          <a:xfrm>
            <a:off x="8052816" y="4817507"/>
            <a:ext cx="143256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BB7099E-28E5-8341-20F9-B33EF9C12F96}"/>
              </a:ext>
            </a:extLst>
          </p:cNvPr>
          <p:cNvCxnSpPr>
            <a:cxnSpLocks/>
          </p:cNvCxnSpPr>
          <p:nvPr/>
        </p:nvCxnSpPr>
        <p:spPr>
          <a:xfrm>
            <a:off x="9485376" y="6067573"/>
            <a:ext cx="143256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B72C1B1B-C5F6-59EA-F46A-B7678B8A5268}"/>
              </a:ext>
            </a:extLst>
          </p:cNvPr>
          <p:cNvSpPr txBox="1"/>
          <p:nvPr/>
        </p:nvSpPr>
        <p:spPr>
          <a:xfrm>
            <a:off x="11450451" y="6184036"/>
            <a:ext cx="7671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RTOS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Tick</a:t>
            </a:r>
            <a:endParaRPr lang="en-IN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410CB82-DE8F-1FB0-5C58-0FE05050C36E}"/>
              </a:ext>
            </a:extLst>
          </p:cNvPr>
          <p:cNvSpPr txBox="1"/>
          <p:nvPr/>
        </p:nvSpPr>
        <p:spPr>
          <a:xfrm>
            <a:off x="-36882" y="4601919"/>
            <a:ext cx="681159" cy="396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3.3v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0969C48-03DC-0FF9-2453-ECDB58C9EADC}"/>
              </a:ext>
            </a:extLst>
          </p:cNvPr>
          <p:cNvSpPr txBox="1"/>
          <p:nvPr/>
        </p:nvSpPr>
        <p:spPr>
          <a:xfrm>
            <a:off x="117928" y="5840925"/>
            <a:ext cx="497210" cy="396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0v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3ED1D87-14D1-172E-4FC2-6B5BDE4C33A8}"/>
              </a:ext>
            </a:extLst>
          </p:cNvPr>
          <p:cNvCxnSpPr>
            <a:cxnSpLocks/>
          </p:cNvCxnSpPr>
          <p:nvPr/>
        </p:nvCxnSpPr>
        <p:spPr>
          <a:xfrm flipV="1">
            <a:off x="2298653" y="4630643"/>
            <a:ext cx="0" cy="37372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A5D31E5-0D4F-2CF2-4868-A179582F96C2}"/>
              </a:ext>
            </a:extLst>
          </p:cNvPr>
          <p:cNvCxnSpPr>
            <a:cxnSpLocks/>
          </p:cNvCxnSpPr>
          <p:nvPr/>
        </p:nvCxnSpPr>
        <p:spPr>
          <a:xfrm flipV="1">
            <a:off x="589151" y="5843575"/>
            <a:ext cx="0" cy="37372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F8709D0B-B546-0604-6042-221605E1AA41}"/>
              </a:ext>
            </a:extLst>
          </p:cNvPr>
          <p:cNvCxnSpPr>
            <a:cxnSpLocks/>
          </p:cNvCxnSpPr>
          <p:nvPr/>
        </p:nvCxnSpPr>
        <p:spPr>
          <a:xfrm flipV="1">
            <a:off x="3672439" y="5863895"/>
            <a:ext cx="0" cy="37372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AB70EDF1-EE8D-B55D-B4B2-EA382F7A8BDB}"/>
              </a:ext>
            </a:extLst>
          </p:cNvPr>
          <p:cNvCxnSpPr>
            <a:cxnSpLocks/>
          </p:cNvCxnSpPr>
          <p:nvPr/>
        </p:nvCxnSpPr>
        <p:spPr>
          <a:xfrm flipV="1">
            <a:off x="9485376" y="5913497"/>
            <a:ext cx="0" cy="37372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E0879B78-A698-68EF-DFB4-D59184E2A5FB}"/>
              </a:ext>
            </a:extLst>
          </p:cNvPr>
          <p:cNvCxnSpPr>
            <a:cxnSpLocks/>
          </p:cNvCxnSpPr>
          <p:nvPr/>
        </p:nvCxnSpPr>
        <p:spPr>
          <a:xfrm flipV="1">
            <a:off x="5124089" y="4601919"/>
            <a:ext cx="0" cy="37372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DD6524BA-D625-E048-3F55-F165BF568449}"/>
              </a:ext>
            </a:extLst>
          </p:cNvPr>
          <p:cNvCxnSpPr>
            <a:cxnSpLocks/>
          </p:cNvCxnSpPr>
          <p:nvPr/>
        </p:nvCxnSpPr>
        <p:spPr>
          <a:xfrm flipV="1">
            <a:off x="8071719" y="4630643"/>
            <a:ext cx="0" cy="37372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26C03819-DE6B-9AD5-DF5F-569831498330}"/>
              </a:ext>
            </a:extLst>
          </p:cNvPr>
          <p:cNvCxnSpPr>
            <a:cxnSpLocks/>
          </p:cNvCxnSpPr>
          <p:nvPr/>
        </p:nvCxnSpPr>
        <p:spPr>
          <a:xfrm flipV="1">
            <a:off x="6547233" y="5884773"/>
            <a:ext cx="0" cy="37372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90341507-E053-5329-52ED-ED06F2F46B61}"/>
              </a:ext>
            </a:extLst>
          </p:cNvPr>
          <p:cNvCxnSpPr>
            <a:cxnSpLocks/>
          </p:cNvCxnSpPr>
          <p:nvPr/>
        </p:nvCxnSpPr>
        <p:spPr>
          <a:xfrm>
            <a:off x="3480816" y="4877310"/>
            <a:ext cx="191623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AB13D481-A9CC-4549-C23B-A568ACF59140}"/>
              </a:ext>
            </a:extLst>
          </p:cNvPr>
          <p:cNvSpPr txBox="1"/>
          <p:nvPr/>
        </p:nvSpPr>
        <p:spPr>
          <a:xfrm>
            <a:off x="3400076" y="5479616"/>
            <a:ext cx="7671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22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</a:t>
            </a:r>
            <a:endParaRPr lang="en-IN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7154161-10C3-2BC7-DCA0-5891D6BB943D}"/>
              </a:ext>
            </a:extLst>
          </p:cNvPr>
          <p:cNvSpPr txBox="1"/>
          <p:nvPr/>
        </p:nvSpPr>
        <p:spPr>
          <a:xfrm>
            <a:off x="4856351" y="4240913"/>
            <a:ext cx="7671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33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</a:t>
            </a:r>
            <a:endParaRPr lang="en-IN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5568CC6-EDFA-6618-3E54-EDE7B45CC5BF}"/>
              </a:ext>
            </a:extLst>
          </p:cNvPr>
          <p:cNvSpPr txBox="1"/>
          <p:nvPr/>
        </p:nvSpPr>
        <p:spPr>
          <a:xfrm>
            <a:off x="6274213" y="5513331"/>
            <a:ext cx="7671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4400</a:t>
            </a:r>
            <a:endParaRPr lang="en-IN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997D71C-877C-C3EE-5804-13E26040C9D6}"/>
              </a:ext>
            </a:extLst>
          </p:cNvPr>
          <p:cNvSpPr txBox="1"/>
          <p:nvPr/>
        </p:nvSpPr>
        <p:spPr>
          <a:xfrm>
            <a:off x="7778997" y="4254629"/>
            <a:ext cx="7671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  <a:endParaRPr lang="en-IN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05E72E1-E19C-B4A4-096A-8F4149BA94F3}"/>
              </a:ext>
            </a:extLst>
          </p:cNvPr>
          <p:cNvSpPr txBox="1"/>
          <p:nvPr/>
        </p:nvSpPr>
        <p:spPr>
          <a:xfrm>
            <a:off x="9230890" y="5571958"/>
            <a:ext cx="7671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6100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E61CFE-01F2-EEB9-D3AC-15157409052D}"/>
              </a:ext>
            </a:extLst>
          </p:cNvPr>
          <p:cNvSpPr txBox="1"/>
          <p:nvPr/>
        </p:nvSpPr>
        <p:spPr>
          <a:xfrm>
            <a:off x="2065930" y="4254629"/>
            <a:ext cx="7671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</a:t>
            </a:r>
            <a:endParaRPr lang="en-IN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E4F0D62-39F1-694B-2EF7-F89495EC399C}"/>
              </a:ext>
            </a:extLst>
          </p:cNvPr>
          <p:cNvCxnSpPr>
            <a:cxnSpLocks/>
          </p:cNvCxnSpPr>
          <p:nvPr/>
        </p:nvCxnSpPr>
        <p:spPr>
          <a:xfrm flipV="1">
            <a:off x="8802650" y="3610855"/>
            <a:ext cx="0" cy="37372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A1D7505A-7F23-184F-6EE4-701406A4FF09}"/>
              </a:ext>
            </a:extLst>
          </p:cNvPr>
          <p:cNvSpPr txBox="1"/>
          <p:nvPr/>
        </p:nvSpPr>
        <p:spPr>
          <a:xfrm>
            <a:off x="8822338" y="3573937"/>
            <a:ext cx="32878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Delay API called Time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42617991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9D607D-14B0-03BA-EAF7-EA4B71318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A53229E-3213-22F5-273A-215034BE2DC1}"/>
              </a:ext>
            </a:extLst>
          </p:cNvPr>
          <p:cNvSpPr txBox="1">
            <a:spLocks/>
          </p:cNvSpPr>
          <p:nvPr/>
        </p:nvSpPr>
        <p:spPr>
          <a:xfrm>
            <a:off x="547992" y="49451"/>
            <a:ext cx="11096011" cy="60133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 contd.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D01F3E-CE30-806D-246D-798A6EF27D79}"/>
              </a:ext>
            </a:extLst>
          </p:cNvPr>
          <p:cNvSpPr txBox="1"/>
          <p:nvPr/>
        </p:nvSpPr>
        <p:spPr>
          <a:xfrm>
            <a:off x="294637" y="957746"/>
            <a:ext cx="609407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N" i="0" dirty="0">
                <a:effectLst/>
                <a:latin typeface="Consolas" panose="020B0609020204030204" pitchFamily="49" charset="0"/>
              </a:rPr>
              <a:t>void </a:t>
            </a:r>
            <a:r>
              <a:rPr lang="en-IN" i="0" dirty="0" err="1">
                <a:effectLst/>
                <a:latin typeface="Consolas" panose="020B0609020204030204" pitchFamily="49" charset="0"/>
              </a:rPr>
              <a:t>vTaskFunction</a:t>
            </a:r>
            <a:r>
              <a:rPr lang="en-IN" i="0" dirty="0">
                <a:effectLst/>
                <a:latin typeface="Consolas" panose="020B0609020204030204" pitchFamily="49" charset="0"/>
              </a:rPr>
              <a:t>( void * </a:t>
            </a:r>
            <a:r>
              <a:rPr lang="en-IN" i="0" dirty="0" err="1">
                <a:effectLst/>
                <a:latin typeface="Consolas" panose="020B0609020204030204" pitchFamily="49" charset="0"/>
              </a:rPr>
              <a:t>pvParameters</a:t>
            </a:r>
            <a:r>
              <a:rPr lang="en-IN" i="0" dirty="0">
                <a:effectLst/>
                <a:latin typeface="Consolas" panose="020B0609020204030204" pitchFamily="49" charset="0"/>
              </a:rPr>
              <a:t> )</a:t>
            </a:r>
          </a:p>
          <a:p>
            <a:pPr algn="l">
              <a:buNone/>
            </a:pPr>
            <a:r>
              <a:rPr lang="en-IN" i="0" dirty="0">
                <a:effectLst/>
                <a:latin typeface="Consolas" panose="020B0609020204030204" pitchFamily="49" charset="0"/>
              </a:rPr>
              <a:t>{</a:t>
            </a:r>
          </a:p>
          <a:p>
            <a:pPr algn="l">
              <a:buNone/>
            </a:pPr>
            <a:r>
              <a:rPr lang="en-IN" i="0" dirty="0" err="1">
                <a:effectLst/>
                <a:latin typeface="Consolas" panose="020B0609020204030204" pitchFamily="49" charset="0"/>
              </a:rPr>
              <a:t>TickType_t</a:t>
            </a:r>
            <a:r>
              <a:rPr lang="en-IN" i="0" dirty="0">
                <a:effectLst/>
                <a:latin typeface="Consolas" panose="020B0609020204030204" pitchFamily="49" charset="0"/>
              </a:rPr>
              <a:t> </a:t>
            </a:r>
            <a:r>
              <a:rPr lang="en-IN" i="0" dirty="0" err="1">
                <a:effectLst/>
                <a:latin typeface="Consolas" panose="020B0609020204030204" pitchFamily="49" charset="0"/>
              </a:rPr>
              <a:t>xLastWakeTime</a:t>
            </a:r>
            <a:r>
              <a:rPr lang="en-IN" i="0" dirty="0">
                <a:effectLst/>
                <a:latin typeface="Consolas" panose="020B0609020204030204" pitchFamily="49" charset="0"/>
              </a:rPr>
              <a:t>;</a:t>
            </a:r>
          </a:p>
          <a:p>
            <a:pPr algn="l">
              <a:buNone/>
            </a:pPr>
            <a:r>
              <a:rPr lang="en-IN" i="0" dirty="0" err="1">
                <a:effectLst/>
                <a:latin typeface="Consolas" panose="020B0609020204030204" pitchFamily="49" charset="0"/>
              </a:rPr>
              <a:t>const</a:t>
            </a:r>
            <a:r>
              <a:rPr lang="en-IN" i="0" dirty="0">
                <a:effectLst/>
                <a:latin typeface="Consolas" panose="020B0609020204030204" pitchFamily="49" charset="0"/>
              </a:rPr>
              <a:t> </a:t>
            </a:r>
            <a:r>
              <a:rPr lang="en-IN" i="0" dirty="0" err="1">
                <a:effectLst/>
                <a:latin typeface="Consolas" panose="020B0609020204030204" pitchFamily="49" charset="0"/>
              </a:rPr>
              <a:t>TickType_t</a:t>
            </a:r>
            <a:r>
              <a:rPr lang="en-IN" i="0" dirty="0">
                <a:effectLst/>
                <a:latin typeface="Consolas" panose="020B0609020204030204" pitchFamily="49" charset="0"/>
              </a:rPr>
              <a:t> </a:t>
            </a:r>
            <a:r>
              <a:rPr lang="en-IN" i="0" dirty="0" err="1">
                <a:effectLst/>
                <a:latin typeface="Consolas" panose="020B0609020204030204" pitchFamily="49" charset="0"/>
              </a:rPr>
              <a:t>xFrequency</a:t>
            </a:r>
            <a:r>
              <a:rPr lang="en-IN" i="0" dirty="0">
                <a:effectLst/>
                <a:latin typeface="Consolas" panose="020B0609020204030204" pitchFamily="49" charset="0"/>
              </a:rPr>
              <a:t> = 1000;</a:t>
            </a:r>
          </a:p>
          <a:p>
            <a:pPr algn="l">
              <a:buNone/>
            </a:pPr>
            <a:r>
              <a:rPr lang="en-IN" i="0" dirty="0" err="1">
                <a:effectLst/>
                <a:latin typeface="Consolas" panose="020B0609020204030204" pitchFamily="49" charset="0"/>
              </a:rPr>
              <a:t>xLastWakeTime</a:t>
            </a:r>
            <a:r>
              <a:rPr lang="en-IN" i="0" dirty="0">
                <a:effectLst/>
                <a:latin typeface="Consolas" panose="020B0609020204030204" pitchFamily="49" charset="0"/>
              </a:rPr>
              <a:t> = </a:t>
            </a:r>
            <a:r>
              <a:rPr lang="en-IN" i="0" dirty="0" err="1">
                <a:effectLst/>
                <a:latin typeface="Consolas" panose="020B0609020204030204" pitchFamily="49" charset="0"/>
              </a:rPr>
              <a:t>xTaskGetTickCount</a:t>
            </a:r>
            <a:r>
              <a:rPr lang="en-IN" i="0" dirty="0">
                <a:effectLst/>
                <a:latin typeface="Consolas" panose="020B0609020204030204" pitchFamily="49" charset="0"/>
              </a:rPr>
              <a:t> ();</a:t>
            </a:r>
          </a:p>
          <a:p>
            <a:pPr algn="l">
              <a:buNone/>
            </a:pPr>
            <a:endParaRPr lang="en-IN" i="0" dirty="0">
              <a:effectLst/>
              <a:latin typeface="Consolas" panose="020B0609020204030204" pitchFamily="49" charset="0"/>
            </a:endParaRPr>
          </a:p>
          <a:p>
            <a:pPr algn="l">
              <a:buNone/>
            </a:pPr>
            <a:r>
              <a:rPr lang="en-IN" i="0" dirty="0">
                <a:effectLst/>
                <a:latin typeface="Consolas" panose="020B0609020204030204" pitchFamily="49" charset="0"/>
              </a:rPr>
              <a:t>for( ;; )</a:t>
            </a:r>
          </a:p>
          <a:p>
            <a:pPr algn="l">
              <a:buNone/>
            </a:pPr>
            <a:r>
              <a:rPr lang="en-IN" i="0" dirty="0"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IN" dirty="0" err="1">
                <a:solidFill>
                  <a:srgbClr val="FF0000"/>
                </a:solidFill>
                <a:latin typeface="Consolas" panose="020B0609020204030204" pitchFamily="49" charset="0"/>
              </a:rPr>
              <a:t>vToggleLED</a:t>
            </a:r>
            <a:r>
              <a:rPr lang="en-IN" dirty="0">
                <a:solidFill>
                  <a:srgbClr val="FF0000"/>
                </a:solidFill>
                <a:latin typeface="Consolas" panose="020B0609020204030204" pitchFamily="49" charset="0"/>
              </a:rPr>
              <a:t>() ; </a:t>
            </a:r>
          </a:p>
          <a:p>
            <a:r>
              <a:rPr lang="en-IN" dirty="0" err="1">
                <a:solidFill>
                  <a:srgbClr val="FF0000"/>
                </a:solidFill>
                <a:latin typeface="Consolas" panose="020B0609020204030204" pitchFamily="49" charset="0"/>
              </a:rPr>
              <a:t>vTaskDelayUntil</a:t>
            </a:r>
            <a:r>
              <a:rPr lang="en-IN" dirty="0">
                <a:solidFill>
                  <a:srgbClr val="FF0000"/>
                </a:solidFill>
                <a:latin typeface="Consolas" panose="020B0609020204030204" pitchFamily="49" charset="0"/>
              </a:rPr>
              <a:t>( &amp;</a:t>
            </a:r>
            <a:r>
              <a:rPr lang="en-IN" dirty="0" err="1">
                <a:solidFill>
                  <a:srgbClr val="FF0000"/>
                </a:solidFill>
                <a:latin typeface="Consolas" panose="020B0609020204030204" pitchFamily="49" charset="0"/>
              </a:rPr>
              <a:t>xLastWakeTime</a:t>
            </a:r>
            <a:r>
              <a:rPr lang="en-IN" dirty="0">
                <a:solidFill>
                  <a:srgbClr val="FF0000"/>
                </a:solidFill>
                <a:latin typeface="Consolas" panose="020B0609020204030204" pitchFamily="49" charset="0"/>
              </a:rPr>
              <a:t>, </a:t>
            </a:r>
            <a:r>
              <a:rPr lang="en-IN" dirty="0" err="1">
                <a:solidFill>
                  <a:srgbClr val="FF0000"/>
                </a:solidFill>
                <a:latin typeface="Consolas" panose="020B0609020204030204" pitchFamily="49" charset="0"/>
              </a:rPr>
              <a:t>xFrequency</a:t>
            </a:r>
            <a:r>
              <a:rPr lang="en-IN" dirty="0">
                <a:solidFill>
                  <a:srgbClr val="FF0000"/>
                </a:solidFill>
                <a:latin typeface="Consolas" panose="020B0609020204030204" pitchFamily="49" charset="0"/>
              </a:rPr>
              <a:t> ) ;</a:t>
            </a:r>
          </a:p>
          <a:p>
            <a:r>
              <a:rPr lang="en-IN" dirty="0">
                <a:solidFill>
                  <a:srgbClr val="FF0000"/>
                </a:solidFill>
                <a:latin typeface="Consolas" panose="020B0609020204030204" pitchFamily="49" charset="0"/>
              </a:rPr>
              <a:t>  </a:t>
            </a:r>
          </a:p>
          <a:p>
            <a:r>
              <a:rPr lang="en-IN" dirty="0">
                <a:latin typeface="Consolas" panose="020B0609020204030204" pitchFamily="49" charset="0"/>
              </a:rPr>
              <a:t>}   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4559109-446C-408D-A53F-3F0941305C45}"/>
              </a:ext>
            </a:extLst>
          </p:cNvPr>
          <p:cNvSpPr txBox="1"/>
          <p:nvPr/>
        </p:nvSpPr>
        <p:spPr>
          <a:xfrm>
            <a:off x="1331539" y="475523"/>
            <a:ext cx="28097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vTaskDelayUntil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 )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dirty="0"/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4AF61F9C-41E3-209A-1352-D325CB02E80A}"/>
              </a:ext>
            </a:extLst>
          </p:cNvPr>
          <p:cNvCxnSpPr>
            <a:cxnSpLocks/>
          </p:cNvCxnSpPr>
          <p:nvPr/>
        </p:nvCxnSpPr>
        <p:spPr>
          <a:xfrm flipV="1">
            <a:off x="497711" y="4375222"/>
            <a:ext cx="0" cy="196769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62F587A9-2124-BEB7-D97B-E1D08AE0B428}"/>
              </a:ext>
            </a:extLst>
          </p:cNvPr>
          <p:cNvCxnSpPr>
            <a:cxnSpLocks/>
          </p:cNvCxnSpPr>
          <p:nvPr/>
        </p:nvCxnSpPr>
        <p:spPr>
          <a:xfrm>
            <a:off x="488068" y="6325509"/>
            <a:ext cx="10901423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B4E7ACC-ABD2-C9EB-0FBE-9DF57ADAC419}"/>
              </a:ext>
            </a:extLst>
          </p:cNvPr>
          <p:cNvCxnSpPr/>
          <p:nvPr/>
        </p:nvCxnSpPr>
        <p:spPr>
          <a:xfrm>
            <a:off x="1987296" y="4399526"/>
            <a:ext cx="0" cy="193548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1DF046F-D3FC-D699-EF5B-E6A85F9671F9}"/>
              </a:ext>
            </a:extLst>
          </p:cNvPr>
          <p:cNvCxnSpPr/>
          <p:nvPr/>
        </p:nvCxnSpPr>
        <p:spPr>
          <a:xfrm>
            <a:off x="3419856" y="4407439"/>
            <a:ext cx="0" cy="193548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8AEF049-BB2C-89AD-9595-04BED13E13D6}"/>
              </a:ext>
            </a:extLst>
          </p:cNvPr>
          <p:cNvCxnSpPr/>
          <p:nvPr/>
        </p:nvCxnSpPr>
        <p:spPr>
          <a:xfrm>
            <a:off x="4852416" y="4397064"/>
            <a:ext cx="0" cy="193548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4F89356-C414-382F-F54D-21906063ED53}"/>
              </a:ext>
            </a:extLst>
          </p:cNvPr>
          <p:cNvCxnSpPr/>
          <p:nvPr/>
        </p:nvCxnSpPr>
        <p:spPr>
          <a:xfrm>
            <a:off x="6284976" y="4404977"/>
            <a:ext cx="0" cy="193548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0B89903-B225-3836-D1A5-5FF26271F806}"/>
              </a:ext>
            </a:extLst>
          </p:cNvPr>
          <p:cNvCxnSpPr/>
          <p:nvPr/>
        </p:nvCxnSpPr>
        <p:spPr>
          <a:xfrm>
            <a:off x="7717536" y="4406794"/>
            <a:ext cx="0" cy="193548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E75CA32-3750-D8B9-CFA0-8269832265CE}"/>
              </a:ext>
            </a:extLst>
          </p:cNvPr>
          <p:cNvCxnSpPr/>
          <p:nvPr/>
        </p:nvCxnSpPr>
        <p:spPr>
          <a:xfrm>
            <a:off x="9150096" y="4402515"/>
            <a:ext cx="0" cy="193548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F11BAAA-9D43-4CDC-A8E5-3DCD3B4DB947}"/>
              </a:ext>
            </a:extLst>
          </p:cNvPr>
          <p:cNvCxnSpPr/>
          <p:nvPr/>
        </p:nvCxnSpPr>
        <p:spPr>
          <a:xfrm>
            <a:off x="10582656" y="4392140"/>
            <a:ext cx="0" cy="193548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62EA1A19-8CAF-FF4C-53A3-A970F52A878E}"/>
              </a:ext>
            </a:extLst>
          </p:cNvPr>
          <p:cNvSpPr txBox="1"/>
          <p:nvPr/>
        </p:nvSpPr>
        <p:spPr>
          <a:xfrm>
            <a:off x="1698238" y="6268743"/>
            <a:ext cx="7671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1000</a:t>
            </a:r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50E3A6F-350A-0A29-5A27-68D0383CB3AC}"/>
              </a:ext>
            </a:extLst>
          </p:cNvPr>
          <p:cNvSpPr txBox="1"/>
          <p:nvPr/>
        </p:nvSpPr>
        <p:spPr>
          <a:xfrm>
            <a:off x="3123854" y="6282247"/>
            <a:ext cx="7671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000</a:t>
            </a:r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04FBED7-B314-0717-8680-E5D30AA0D2BC}"/>
              </a:ext>
            </a:extLst>
          </p:cNvPr>
          <p:cNvSpPr txBox="1"/>
          <p:nvPr/>
        </p:nvSpPr>
        <p:spPr>
          <a:xfrm>
            <a:off x="4549470" y="6284176"/>
            <a:ext cx="7671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3000</a:t>
            </a:r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942B4FF-81E0-1FC3-C600-72A973B094C1}"/>
              </a:ext>
            </a:extLst>
          </p:cNvPr>
          <p:cNvSpPr txBox="1"/>
          <p:nvPr/>
        </p:nvSpPr>
        <p:spPr>
          <a:xfrm>
            <a:off x="5986661" y="6286105"/>
            <a:ext cx="7671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000</a:t>
            </a:r>
            <a:endParaRPr lang="en-IN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2FB7390-79C5-F0B5-9EE2-538A2229BFEA}"/>
              </a:ext>
            </a:extLst>
          </p:cNvPr>
          <p:cNvSpPr txBox="1"/>
          <p:nvPr/>
        </p:nvSpPr>
        <p:spPr>
          <a:xfrm>
            <a:off x="7435427" y="6288034"/>
            <a:ext cx="7671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000</a:t>
            </a:r>
            <a:endParaRPr lang="en-IN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B1F30A8-C466-C316-1ECA-CE4197102C8B}"/>
              </a:ext>
            </a:extLst>
          </p:cNvPr>
          <p:cNvSpPr txBox="1"/>
          <p:nvPr/>
        </p:nvSpPr>
        <p:spPr>
          <a:xfrm>
            <a:off x="8849468" y="6266813"/>
            <a:ext cx="7671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000</a:t>
            </a:r>
            <a:endParaRPr lang="en-I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D57CC4A-92BB-A95C-ADBA-7B512FA4C149}"/>
              </a:ext>
            </a:extLst>
          </p:cNvPr>
          <p:cNvSpPr txBox="1"/>
          <p:nvPr/>
        </p:nvSpPr>
        <p:spPr>
          <a:xfrm>
            <a:off x="10275084" y="6280317"/>
            <a:ext cx="7671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000</a:t>
            </a:r>
            <a:endParaRPr lang="en-IN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60B55ED-ECE5-AF7A-F8FB-A9F32F5BEE70}"/>
              </a:ext>
            </a:extLst>
          </p:cNvPr>
          <p:cNvCxnSpPr/>
          <p:nvPr/>
        </p:nvCxnSpPr>
        <p:spPr>
          <a:xfrm>
            <a:off x="497711" y="6018828"/>
            <a:ext cx="1489585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D7F7733-D570-19CF-44F3-C7DA5B5B803D}"/>
              </a:ext>
            </a:extLst>
          </p:cNvPr>
          <p:cNvCxnSpPr>
            <a:cxnSpLocks/>
          </p:cNvCxnSpPr>
          <p:nvPr/>
        </p:nvCxnSpPr>
        <p:spPr>
          <a:xfrm>
            <a:off x="1969623" y="4816991"/>
            <a:ext cx="1450233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F5A938A-F64A-2C3A-32D8-B21C237E06BE}"/>
              </a:ext>
            </a:extLst>
          </p:cNvPr>
          <p:cNvCxnSpPr>
            <a:cxnSpLocks/>
          </p:cNvCxnSpPr>
          <p:nvPr/>
        </p:nvCxnSpPr>
        <p:spPr>
          <a:xfrm>
            <a:off x="3396706" y="6018828"/>
            <a:ext cx="145571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A6A901B-B9CA-81C2-3094-4467BBAD1F35}"/>
              </a:ext>
            </a:extLst>
          </p:cNvPr>
          <p:cNvCxnSpPr>
            <a:cxnSpLocks/>
          </p:cNvCxnSpPr>
          <p:nvPr/>
        </p:nvCxnSpPr>
        <p:spPr>
          <a:xfrm>
            <a:off x="4852416" y="4757188"/>
            <a:ext cx="143256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EF2935C-04FA-7FCA-1419-1E192721E9E3}"/>
              </a:ext>
            </a:extLst>
          </p:cNvPr>
          <p:cNvCxnSpPr/>
          <p:nvPr/>
        </p:nvCxnSpPr>
        <p:spPr>
          <a:xfrm>
            <a:off x="6284976" y="6018829"/>
            <a:ext cx="1489585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179C3DD-51B1-0719-7CB8-D445F3E47987}"/>
              </a:ext>
            </a:extLst>
          </p:cNvPr>
          <p:cNvCxnSpPr>
            <a:cxnSpLocks/>
          </p:cNvCxnSpPr>
          <p:nvPr/>
        </p:nvCxnSpPr>
        <p:spPr>
          <a:xfrm>
            <a:off x="7717536" y="4757188"/>
            <a:ext cx="143256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0A67A02-6934-3091-ED30-9C0201CAF8DF}"/>
              </a:ext>
            </a:extLst>
          </p:cNvPr>
          <p:cNvCxnSpPr>
            <a:cxnSpLocks/>
          </p:cNvCxnSpPr>
          <p:nvPr/>
        </p:nvCxnSpPr>
        <p:spPr>
          <a:xfrm>
            <a:off x="9150096" y="6007254"/>
            <a:ext cx="143256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09020BFD-701B-120B-618C-A976D4FE1607}"/>
              </a:ext>
            </a:extLst>
          </p:cNvPr>
          <p:cNvSpPr txBox="1"/>
          <p:nvPr/>
        </p:nvSpPr>
        <p:spPr>
          <a:xfrm>
            <a:off x="11389491" y="6123717"/>
            <a:ext cx="7671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RTOS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Tick</a:t>
            </a:r>
            <a:endParaRPr lang="en-IN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943C13A-47DF-A1A0-84B1-3C236D2FA8CC}"/>
              </a:ext>
            </a:extLst>
          </p:cNvPr>
          <p:cNvSpPr txBox="1"/>
          <p:nvPr/>
        </p:nvSpPr>
        <p:spPr>
          <a:xfrm>
            <a:off x="-97842" y="4541600"/>
            <a:ext cx="681159" cy="396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3.3v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2870D11-EC77-87CB-3F90-FD752B884C8F}"/>
              </a:ext>
            </a:extLst>
          </p:cNvPr>
          <p:cNvSpPr txBox="1"/>
          <p:nvPr/>
        </p:nvSpPr>
        <p:spPr>
          <a:xfrm>
            <a:off x="56968" y="5780606"/>
            <a:ext cx="497210" cy="396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0v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3CA0995-912E-54E7-BA5E-2C8B63F0C96D}"/>
              </a:ext>
            </a:extLst>
          </p:cNvPr>
          <p:cNvCxnSpPr>
            <a:cxnSpLocks/>
          </p:cNvCxnSpPr>
          <p:nvPr/>
        </p:nvCxnSpPr>
        <p:spPr>
          <a:xfrm flipV="1">
            <a:off x="2226118" y="4570324"/>
            <a:ext cx="0" cy="37372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5D7C43C-DA78-CD01-3AB1-0A07F84AB8D9}"/>
              </a:ext>
            </a:extLst>
          </p:cNvPr>
          <p:cNvCxnSpPr>
            <a:cxnSpLocks/>
          </p:cNvCxnSpPr>
          <p:nvPr/>
        </p:nvCxnSpPr>
        <p:spPr>
          <a:xfrm flipV="1">
            <a:off x="528191" y="5783256"/>
            <a:ext cx="0" cy="37372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FA7AEBF-995A-FB7E-F7A5-AD32FABF2CB8}"/>
              </a:ext>
            </a:extLst>
          </p:cNvPr>
          <p:cNvCxnSpPr>
            <a:cxnSpLocks/>
          </p:cNvCxnSpPr>
          <p:nvPr/>
        </p:nvCxnSpPr>
        <p:spPr>
          <a:xfrm flipV="1">
            <a:off x="4549930" y="5803576"/>
            <a:ext cx="0" cy="37372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08009C08-A0B4-CD14-0E6A-6E772783631B}"/>
              </a:ext>
            </a:extLst>
          </p:cNvPr>
          <p:cNvCxnSpPr>
            <a:cxnSpLocks/>
          </p:cNvCxnSpPr>
          <p:nvPr/>
        </p:nvCxnSpPr>
        <p:spPr>
          <a:xfrm flipV="1">
            <a:off x="9150096" y="5853178"/>
            <a:ext cx="0" cy="37372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7B5A791A-B6D7-EE4C-4685-334B960F5430}"/>
              </a:ext>
            </a:extLst>
          </p:cNvPr>
          <p:cNvCxnSpPr>
            <a:cxnSpLocks/>
          </p:cNvCxnSpPr>
          <p:nvPr/>
        </p:nvCxnSpPr>
        <p:spPr>
          <a:xfrm flipV="1">
            <a:off x="5010401" y="4541600"/>
            <a:ext cx="0" cy="37372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CF45172-D819-6FE2-BDA6-E8AAEBCE2CC3}"/>
              </a:ext>
            </a:extLst>
          </p:cNvPr>
          <p:cNvCxnSpPr>
            <a:cxnSpLocks/>
          </p:cNvCxnSpPr>
          <p:nvPr/>
        </p:nvCxnSpPr>
        <p:spPr>
          <a:xfrm flipV="1">
            <a:off x="7736439" y="4570324"/>
            <a:ext cx="0" cy="37372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7F05EE4B-0A18-3BDD-D184-D8EAD48141DF}"/>
              </a:ext>
            </a:extLst>
          </p:cNvPr>
          <p:cNvCxnSpPr>
            <a:cxnSpLocks/>
          </p:cNvCxnSpPr>
          <p:nvPr/>
        </p:nvCxnSpPr>
        <p:spPr>
          <a:xfrm flipV="1">
            <a:off x="6303393" y="5824454"/>
            <a:ext cx="0" cy="37372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47E8B8CD-5D7B-7AC7-0821-7A8FB3C3AB70}"/>
              </a:ext>
            </a:extLst>
          </p:cNvPr>
          <p:cNvCxnSpPr>
            <a:cxnSpLocks/>
          </p:cNvCxnSpPr>
          <p:nvPr/>
        </p:nvCxnSpPr>
        <p:spPr>
          <a:xfrm flipV="1">
            <a:off x="8582731" y="3726602"/>
            <a:ext cx="0" cy="37372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25BA06E-415C-C189-545A-1C929B7BECC9}"/>
              </a:ext>
            </a:extLst>
          </p:cNvPr>
          <p:cNvSpPr txBox="1"/>
          <p:nvPr/>
        </p:nvSpPr>
        <p:spPr>
          <a:xfrm>
            <a:off x="8602419" y="3689684"/>
            <a:ext cx="32878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Delay API called Time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62524832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A212A-B887-3BFA-DAEB-CC71E20B9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5B2B4596-4CB9-E426-2BBE-B8B14211966A}"/>
              </a:ext>
            </a:extLst>
          </p:cNvPr>
          <p:cNvSpPr txBox="1">
            <a:spLocks/>
          </p:cNvSpPr>
          <p:nvPr/>
        </p:nvSpPr>
        <p:spPr>
          <a:xfrm>
            <a:off x="547992" y="313611"/>
            <a:ext cx="11096011" cy="60133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 contd.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2827FE-83B6-810F-83C6-3C89CBE0A4CF}"/>
              </a:ext>
            </a:extLst>
          </p:cNvPr>
          <p:cNvSpPr txBox="1"/>
          <p:nvPr/>
        </p:nvSpPr>
        <p:spPr>
          <a:xfrm>
            <a:off x="384860" y="2128848"/>
            <a:ext cx="3902552" cy="723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IN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vToggleLED</a:t>
            </a:r>
            <a:r>
              <a:rPr lang="en-IN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</a:t>
            </a:r>
            <a:r>
              <a:rPr lang="en-IN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</a:t>
            </a:r>
            <a:r>
              <a:rPr lang="en-IN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endParaRPr lang="en-IN" i="0" dirty="0">
              <a:solidFill>
                <a:srgbClr val="00B0F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r>
              <a:rPr lang="en-IN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vTaskDelay</a:t>
            </a:r>
            <a:r>
              <a:rPr lang="en-IN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en-IN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xDelay</a:t>
            </a:r>
            <a:r>
              <a:rPr lang="en-IN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);                </a:t>
            </a:r>
            <a:r>
              <a:rPr lang="en-IN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 </a:t>
            </a:r>
            <a:r>
              <a:rPr lang="en-IN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endParaRPr lang="en-IN" i="0" dirty="0">
              <a:solidFill>
                <a:srgbClr val="00B0F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CD3D01-E394-6007-E135-62CAB57F4A87}"/>
              </a:ext>
            </a:extLst>
          </p:cNvPr>
          <p:cNvSpPr txBox="1"/>
          <p:nvPr/>
        </p:nvSpPr>
        <p:spPr>
          <a:xfrm>
            <a:off x="6217988" y="1790910"/>
            <a:ext cx="435594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vToggleLED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                           </a:t>
            </a:r>
            <a:r>
              <a:rPr lang="en-IN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</a:t>
            </a:r>
            <a:r>
              <a:rPr lang="en-IN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None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IN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TaskDelayUntil</a:t>
            </a:r>
            <a:r>
              <a:rPr lang="en-IN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  ) ;                 </a:t>
            </a:r>
            <a:r>
              <a:rPr lang="en-IN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</a:t>
            </a:r>
            <a:r>
              <a:rPr lang="en-IN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endParaRPr lang="en-IN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5B8FA6-A13E-048D-091B-84146B1EFD76}"/>
              </a:ext>
            </a:extLst>
          </p:cNvPr>
          <p:cNvSpPr txBox="1"/>
          <p:nvPr/>
        </p:nvSpPr>
        <p:spPr>
          <a:xfrm>
            <a:off x="1507603" y="950361"/>
            <a:ext cx="208054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vTaskDelay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 ) </a:t>
            </a:r>
            <a:endParaRPr lang="en-IN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F6A857-583B-9861-B5F9-686670564D3F}"/>
              </a:ext>
            </a:extLst>
          </p:cNvPr>
          <p:cNvSpPr txBox="1"/>
          <p:nvPr/>
        </p:nvSpPr>
        <p:spPr>
          <a:xfrm>
            <a:off x="7132899" y="973363"/>
            <a:ext cx="28097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vTaskDelayUntil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 )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1D2321B-7544-E029-915A-6E58B4AE240D}"/>
              </a:ext>
            </a:extLst>
          </p:cNvPr>
          <p:cNvSpPr txBox="1"/>
          <p:nvPr/>
        </p:nvSpPr>
        <p:spPr>
          <a:xfrm>
            <a:off x="384860" y="3257231"/>
            <a:ext cx="4059818" cy="723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IN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vToggleLED</a:t>
            </a:r>
            <a:r>
              <a:rPr lang="en-IN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</a:t>
            </a:r>
            <a:r>
              <a:rPr lang="en-IN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1100 </a:t>
            </a:r>
            <a:r>
              <a:rPr lang="en-IN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endParaRPr lang="en-IN" i="0" dirty="0">
              <a:solidFill>
                <a:srgbClr val="00B0F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r>
              <a:rPr lang="en-IN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vTaskDelay</a:t>
            </a:r>
            <a:r>
              <a:rPr lang="en-IN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en-IN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xDelay</a:t>
            </a:r>
            <a:r>
              <a:rPr lang="en-IN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);                </a:t>
            </a:r>
            <a:r>
              <a:rPr lang="en-IN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1150 </a:t>
            </a:r>
            <a:r>
              <a:rPr lang="en-IN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endParaRPr lang="en-IN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Arrow: Curved Down 11">
            <a:extLst>
              <a:ext uri="{FF2B5EF4-FFF2-40B4-BE49-F238E27FC236}">
                <a16:creationId xmlns:a16="http://schemas.microsoft.com/office/drawing/2014/main" id="{7E289A50-423D-0463-85E5-A59EDC9F4359}"/>
              </a:ext>
            </a:extLst>
          </p:cNvPr>
          <p:cNvSpPr/>
          <p:nvPr/>
        </p:nvSpPr>
        <p:spPr>
          <a:xfrm rot="5400000">
            <a:off x="4214224" y="2851472"/>
            <a:ext cx="809909" cy="465921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F691B8B-BB17-F6E1-97C1-85C6692081B1}"/>
              </a:ext>
            </a:extLst>
          </p:cNvPr>
          <p:cNvSpPr txBox="1"/>
          <p:nvPr/>
        </p:nvSpPr>
        <p:spPr>
          <a:xfrm>
            <a:off x="4822215" y="2852123"/>
            <a:ext cx="10938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1000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0FE4027-CE1E-384F-A406-160CA4F44551}"/>
              </a:ext>
            </a:extLst>
          </p:cNvPr>
          <p:cNvSpPr txBox="1"/>
          <p:nvPr/>
        </p:nvSpPr>
        <p:spPr>
          <a:xfrm>
            <a:off x="375213" y="4358756"/>
            <a:ext cx="4059818" cy="723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IN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vToggleLED</a:t>
            </a:r>
            <a:r>
              <a:rPr lang="en-IN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</a:t>
            </a:r>
            <a:r>
              <a:rPr lang="en-IN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2150 </a:t>
            </a:r>
            <a:r>
              <a:rPr lang="en-IN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endParaRPr lang="en-IN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r>
              <a:rPr lang="en-IN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vTaskDelay</a:t>
            </a:r>
            <a:r>
              <a:rPr lang="en-IN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en-IN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xDelay</a:t>
            </a:r>
            <a:r>
              <a:rPr lang="en-IN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);                </a:t>
            </a:r>
            <a:r>
              <a:rPr lang="en-IN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2150 </a:t>
            </a:r>
            <a:r>
              <a:rPr lang="en-IN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endParaRPr lang="en-IN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Arrow: Curved Down 15">
            <a:extLst>
              <a:ext uri="{FF2B5EF4-FFF2-40B4-BE49-F238E27FC236}">
                <a16:creationId xmlns:a16="http://schemas.microsoft.com/office/drawing/2014/main" id="{225226AC-E5C9-76CC-6110-958688670349}"/>
              </a:ext>
            </a:extLst>
          </p:cNvPr>
          <p:cNvSpPr/>
          <p:nvPr/>
        </p:nvSpPr>
        <p:spPr>
          <a:xfrm rot="5400000">
            <a:off x="4225359" y="4005150"/>
            <a:ext cx="809909" cy="465921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84B2466-285A-1E62-0395-4F1AFB61E8E4}"/>
              </a:ext>
            </a:extLst>
          </p:cNvPr>
          <p:cNvSpPr txBox="1"/>
          <p:nvPr/>
        </p:nvSpPr>
        <p:spPr>
          <a:xfrm>
            <a:off x="4863274" y="3975359"/>
            <a:ext cx="10938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1000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E7447D4-1714-C481-C76D-C6A260D15277}"/>
              </a:ext>
            </a:extLst>
          </p:cNvPr>
          <p:cNvSpPr txBox="1"/>
          <p:nvPr/>
        </p:nvSpPr>
        <p:spPr>
          <a:xfrm>
            <a:off x="6188595" y="2863445"/>
            <a:ext cx="4355941" cy="723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vToggleLED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                            </a:t>
            </a:r>
            <a:r>
              <a:rPr lang="en-IN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1000 </a:t>
            </a:r>
            <a:r>
              <a:rPr lang="en-IN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endParaRPr lang="en-IN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vTaskDelayUntil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  ) ;                  </a:t>
            </a:r>
            <a:r>
              <a:rPr lang="en-IN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1100 </a:t>
            </a:r>
            <a:r>
              <a:rPr lang="en-IN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endParaRPr lang="en-IN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5C830A6-3523-D406-30E4-D7CBE940A547}"/>
              </a:ext>
            </a:extLst>
          </p:cNvPr>
          <p:cNvSpPr txBox="1"/>
          <p:nvPr/>
        </p:nvSpPr>
        <p:spPr>
          <a:xfrm>
            <a:off x="6188595" y="4003156"/>
            <a:ext cx="4355941" cy="723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vToggleLED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                             </a:t>
            </a:r>
            <a:r>
              <a:rPr lang="en-IN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2000 </a:t>
            </a:r>
            <a:r>
              <a:rPr lang="en-IN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endParaRPr lang="en-IN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vTaskDelayUntil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  ) ;                   </a:t>
            </a:r>
            <a:r>
              <a:rPr lang="en-IN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2500 </a:t>
            </a:r>
            <a:r>
              <a:rPr lang="en-IN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endParaRPr lang="en-IN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Arrow: Curved Down 19">
            <a:extLst>
              <a:ext uri="{FF2B5EF4-FFF2-40B4-BE49-F238E27FC236}">
                <a16:creationId xmlns:a16="http://schemas.microsoft.com/office/drawing/2014/main" id="{C6F040CC-0E04-039A-5DDA-ED5318E77D93}"/>
              </a:ext>
            </a:extLst>
          </p:cNvPr>
          <p:cNvSpPr/>
          <p:nvPr/>
        </p:nvSpPr>
        <p:spPr>
          <a:xfrm rot="5400000">
            <a:off x="10279943" y="2371844"/>
            <a:ext cx="809909" cy="465921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9FA63AD-0991-BAA5-BD5B-AFB783F871C2}"/>
              </a:ext>
            </a:extLst>
          </p:cNvPr>
          <p:cNvSpPr txBox="1"/>
          <p:nvPr/>
        </p:nvSpPr>
        <p:spPr>
          <a:xfrm>
            <a:off x="10917858" y="2370065"/>
            <a:ext cx="10938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1000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endParaRPr lang="en-IN" dirty="0"/>
          </a:p>
        </p:txBody>
      </p:sp>
      <p:sp>
        <p:nvSpPr>
          <p:cNvPr id="22" name="Arrow: Curved Down 21">
            <a:extLst>
              <a:ext uri="{FF2B5EF4-FFF2-40B4-BE49-F238E27FC236}">
                <a16:creationId xmlns:a16="http://schemas.microsoft.com/office/drawing/2014/main" id="{204006AB-3CE4-2092-044D-3605A52521CC}"/>
              </a:ext>
            </a:extLst>
          </p:cNvPr>
          <p:cNvSpPr/>
          <p:nvPr/>
        </p:nvSpPr>
        <p:spPr>
          <a:xfrm rot="5400000">
            <a:off x="10274612" y="3732009"/>
            <a:ext cx="809909" cy="465921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C2D3661-DB00-5EE6-AD60-D2670572E8C2}"/>
              </a:ext>
            </a:extLst>
          </p:cNvPr>
          <p:cNvSpPr txBox="1"/>
          <p:nvPr/>
        </p:nvSpPr>
        <p:spPr>
          <a:xfrm>
            <a:off x="10912527" y="3730230"/>
            <a:ext cx="10938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900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endParaRPr lang="en-IN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B63A142-0584-36CF-BB64-3841338732F3}"/>
              </a:ext>
            </a:extLst>
          </p:cNvPr>
          <p:cNvSpPr txBox="1"/>
          <p:nvPr/>
        </p:nvSpPr>
        <p:spPr>
          <a:xfrm>
            <a:off x="6188595" y="5080374"/>
            <a:ext cx="4355941" cy="723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vToggleLED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                             </a:t>
            </a:r>
            <a:r>
              <a:rPr lang="en-IN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3000 </a:t>
            </a:r>
            <a:r>
              <a:rPr lang="en-IN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endParaRPr lang="en-IN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vTaskDelayUntil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  ) ;                   </a:t>
            </a:r>
            <a:r>
              <a:rPr lang="en-IN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3900 </a:t>
            </a:r>
            <a:r>
              <a:rPr lang="en-IN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endParaRPr lang="en-IN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Arrow: Curved Down 24">
            <a:extLst>
              <a:ext uri="{FF2B5EF4-FFF2-40B4-BE49-F238E27FC236}">
                <a16:creationId xmlns:a16="http://schemas.microsoft.com/office/drawing/2014/main" id="{CE41DC4D-A55B-8C85-1CCE-F1DC8C02C329}"/>
              </a:ext>
            </a:extLst>
          </p:cNvPr>
          <p:cNvSpPr/>
          <p:nvPr/>
        </p:nvSpPr>
        <p:spPr>
          <a:xfrm rot="5400000">
            <a:off x="10353706" y="4888124"/>
            <a:ext cx="809909" cy="465921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0ED9A82-8949-4D69-0397-117E056D333B}"/>
              </a:ext>
            </a:extLst>
          </p:cNvPr>
          <p:cNvSpPr txBox="1"/>
          <p:nvPr/>
        </p:nvSpPr>
        <p:spPr>
          <a:xfrm>
            <a:off x="10991621" y="4886345"/>
            <a:ext cx="10938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500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endParaRPr lang="en-IN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798FD68-55E7-894B-0F1B-EA6A5B5C0244}"/>
              </a:ext>
            </a:extLst>
          </p:cNvPr>
          <p:cNvSpPr txBox="1"/>
          <p:nvPr/>
        </p:nvSpPr>
        <p:spPr>
          <a:xfrm>
            <a:off x="7133663" y="1443054"/>
            <a:ext cx="2465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i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xLastWakeTime</a:t>
            </a:r>
            <a:r>
              <a:rPr lang="en-IN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 = 0</a:t>
            </a:r>
            <a:endParaRPr lang="en-IN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E7A10AA-B2C9-240A-03C5-9276F5289F50}"/>
              </a:ext>
            </a:extLst>
          </p:cNvPr>
          <p:cNvSpPr txBox="1"/>
          <p:nvPr/>
        </p:nvSpPr>
        <p:spPr>
          <a:xfrm>
            <a:off x="7072596" y="2379573"/>
            <a:ext cx="28975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i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xLastWakeTime</a:t>
            </a:r>
            <a:r>
              <a:rPr lang="en-IN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 = 1000</a:t>
            </a:r>
            <a:endParaRPr lang="en-IN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381A7F4-F869-95A2-73F5-14F0A2066874}"/>
              </a:ext>
            </a:extLst>
          </p:cNvPr>
          <p:cNvSpPr txBox="1"/>
          <p:nvPr/>
        </p:nvSpPr>
        <p:spPr>
          <a:xfrm>
            <a:off x="7008406" y="3560015"/>
            <a:ext cx="28975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i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xLastWakeTime</a:t>
            </a:r>
            <a:r>
              <a:rPr lang="en-IN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 = 2000</a:t>
            </a:r>
            <a:endParaRPr lang="en-IN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846BD77-7A53-19C0-2497-EEA2F5E87CDB}"/>
              </a:ext>
            </a:extLst>
          </p:cNvPr>
          <p:cNvSpPr txBox="1"/>
          <p:nvPr/>
        </p:nvSpPr>
        <p:spPr>
          <a:xfrm>
            <a:off x="7045124" y="4731196"/>
            <a:ext cx="28975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i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xLastWakeTime</a:t>
            </a:r>
            <a:r>
              <a:rPr lang="en-IN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 = 3000</a:t>
            </a:r>
            <a:endParaRPr lang="en-IN" dirty="0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82EB539A-8415-791B-F5B8-7ADB6D43A8B1}"/>
              </a:ext>
            </a:extLst>
          </p:cNvPr>
          <p:cNvCxnSpPr/>
          <p:nvPr/>
        </p:nvCxnSpPr>
        <p:spPr>
          <a:xfrm>
            <a:off x="5916022" y="1215342"/>
            <a:ext cx="41059" cy="4965539"/>
          </a:xfrm>
          <a:prstGeom prst="line">
            <a:avLst/>
          </a:prstGeom>
          <a:ln w="38100">
            <a:prstDash val="lg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52062770-B7AF-EFA3-BE18-1E494476F051}"/>
              </a:ext>
            </a:extLst>
          </p:cNvPr>
          <p:cNvGrpSpPr/>
          <p:nvPr/>
        </p:nvGrpSpPr>
        <p:grpSpPr>
          <a:xfrm>
            <a:off x="0" y="6466566"/>
            <a:ext cx="12192000" cy="403007"/>
            <a:chOff x="0" y="6478141"/>
            <a:chExt cx="12192000" cy="403007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B5905D1A-1613-A713-4A17-8C6974CE4727}"/>
                </a:ext>
              </a:extLst>
            </p:cNvPr>
            <p:cNvSpPr/>
            <p:nvPr/>
          </p:nvSpPr>
          <p:spPr>
            <a:xfrm>
              <a:off x="0" y="6484069"/>
              <a:ext cx="12192000" cy="397079"/>
            </a:xfrm>
            <a:prstGeom prst="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dirty="0"/>
                <a:t>                   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Jai Raja Saravanam S                                                                                                        </a:t>
              </a:r>
              <a:r>
                <a:rPr lang="en-IN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Emcog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Solutions</a:t>
              </a:r>
              <a:r>
                <a:rPr lang="en-IN" dirty="0"/>
                <a:t> </a:t>
              </a: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8D46FB7-4FCC-4F88-C834-FF3444C395B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734477" y="6478141"/>
              <a:ext cx="349866" cy="3830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0073186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22E76B-E6E7-0844-CC2B-FA1D3E75B1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7F4C8F6-1E29-15D1-C086-5E24B1DFB295}"/>
              </a:ext>
            </a:extLst>
          </p:cNvPr>
          <p:cNvSpPr txBox="1">
            <a:spLocks/>
          </p:cNvSpPr>
          <p:nvPr/>
        </p:nvSpPr>
        <p:spPr>
          <a:xfrm>
            <a:off x="547992" y="313611"/>
            <a:ext cx="11096011" cy="60133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 contd.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C13B40-655A-F362-3185-61A9046AF811}"/>
              </a:ext>
            </a:extLst>
          </p:cNvPr>
          <p:cNvSpPr txBox="1"/>
          <p:nvPr/>
        </p:nvSpPr>
        <p:spPr>
          <a:xfrm>
            <a:off x="1739095" y="972586"/>
            <a:ext cx="208054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vTaskDelay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 ) </a:t>
            </a:r>
            <a:endParaRPr lang="en-IN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3E4650-5928-7E41-0DC6-0D6FE8866688}"/>
              </a:ext>
            </a:extLst>
          </p:cNvPr>
          <p:cNvSpPr txBox="1"/>
          <p:nvPr/>
        </p:nvSpPr>
        <p:spPr>
          <a:xfrm>
            <a:off x="7132899" y="973363"/>
            <a:ext cx="28097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vTaskDelayUntil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 )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56F871-D213-EA8E-D860-3B99969DDAFB}"/>
              </a:ext>
            </a:extLst>
          </p:cNvPr>
          <p:cNvSpPr txBox="1"/>
          <p:nvPr/>
        </p:nvSpPr>
        <p:spPr>
          <a:xfrm>
            <a:off x="338560" y="1884899"/>
            <a:ext cx="511311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IN" sz="1800" b="1" dirty="0">
                <a:effectLst/>
                <a:latin typeface="Consolas" panose="020B0609020204030204" pitchFamily="49" charset="0"/>
              </a:rPr>
              <a:t>void</a:t>
            </a:r>
            <a:r>
              <a:rPr lang="en-IN" sz="1800" dirty="0">
                <a:effectLst/>
                <a:latin typeface="Consolas" panose="020B0609020204030204" pitchFamily="49" charset="0"/>
              </a:rPr>
              <a:t> </a:t>
            </a:r>
            <a:r>
              <a:rPr lang="en-IN" sz="1800" b="1" dirty="0">
                <a:effectLst/>
                <a:latin typeface="Consolas" panose="020B0609020204030204" pitchFamily="49" charset="0"/>
              </a:rPr>
              <a:t>task1_handler</a:t>
            </a:r>
            <a:r>
              <a:rPr lang="en-IN" sz="1800" dirty="0">
                <a:effectLst/>
                <a:latin typeface="Consolas" panose="020B0609020204030204" pitchFamily="49" charset="0"/>
              </a:rPr>
              <a:t> (</a:t>
            </a:r>
            <a:r>
              <a:rPr lang="en-IN" sz="1800" b="1" dirty="0">
                <a:effectLst/>
                <a:latin typeface="Consolas" panose="020B0609020204030204" pitchFamily="49" charset="0"/>
              </a:rPr>
              <a:t>void</a:t>
            </a:r>
            <a:r>
              <a:rPr lang="en-IN" sz="1800" dirty="0">
                <a:effectLst/>
                <a:latin typeface="Consolas" panose="020B0609020204030204" pitchFamily="49" charset="0"/>
              </a:rPr>
              <a:t>* parameter){</a:t>
            </a:r>
          </a:p>
          <a:p>
            <a:pPr marL="0" marR="0">
              <a:buNone/>
            </a:pPr>
            <a:r>
              <a:rPr lang="en-IN" sz="1800" b="1" dirty="0">
                <a:effectLst/>
                <a:latin typeface="Consolas" panose="020B0609020204030204" pitchFamily="49" charset="0"/>
              </a:rPr>
              <a:t>int</a:t>
            </a:r>
            <a:r>
              <a:rPr lang="en-IN" sz="1800" dirty="0">
                <a:effectLst/>
                <a:latin typeface="Consolas" panose="020B0609020204030204" pitchFamily="49" charset="0"/>
              </a:rPr>
              <a:t> </a:t>
            </a:r>
            <a:r>
              <a:rPr lang="en-IN" sz="1800" dirty="0" err="1">
                <a:effectLst/>
                <a:latin typeface="Consolas" panose="020B0609020204030204" pitchFamily="49" charset="0"/>
              </a:rPr>
              <a:t>i,j</a:t>
            </a:r>
            <a:r>
              <a:rPr lang="en-IN" sz="1800" dirty="0">
                <a:effectLst/>
                <a:latin typeface="Consolas" panose="020B0609020204030204" pitchFamily="49" charset="0"/>
              </a:rPr>
              <a:t> =0;</a:t>
            </a:r>
            <a:endParaRPr lang="en-IN" dirty="0">
              <a:latin typeface="Consolas" panose="020B0609020204030204" pitchFamily="49" charset="0"/>
            </a:endParaRPr>
          </a:p>
          <a:p>
            <a:pPr marL="0" marR="0">
              <a:buNone/>
            </a:pPr>
            <a:endParaRPr lang="en-IN" sz="1800" dirty="0"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r>
              <a:rPr lang="en-IN" sz="1800" b="1" dirty="0">
                <a:effectLst/>
                <a:latin typeface="Consolas" panose="020B0609020204030204" pitchFamily="49" charset="0"/>
              </a:rPr>
              <a:t>for</a:t>
            </a:r>
            <a:r>
              <a:rPr lang="en-IN" sz="1800" dirty="0">
                <a:effectLst/>
                <a:latin typeface="Consolas" panose="020B0609020204030204" pitchFamily="49" charset="0"/>
              </a:rPr>
              <a:t>(;;){</a:t>
            </a:r>
          </a:p>
          <a:p>
            <a:r>
              <a:rPr lang="en-IN" dirty="0" err="1">
                <a:solidFill>
                  <a:srgbClr val="00B0F0"/>
                </a:solidFill>
                <a:latin typeface="Consolas" panose="020B0609020204030204" pitchFamily="49" charset="0"/>
              </a:rPr>
              <a:t>HAL_UART_Transmit</a:t>
            </a:r>
            <a:r>
              <a:rPr lang="en-IN" dirty="0">
                <a:solidFill>
                  <a:srgbClr val="00B0F0"/>
                </a:solidFill>
                <a:latin typeface="Consolas" panose="020B0609020204030204" pitchFamily="49" charset="0"/>
              </a:rPr>
              <a:t>(&amp;huart1,parameter , </a:t>
            </a:r>
          </a:p>
          <a:p>
            <a:r>
              <a:rPr lang="en-IN" dirty="0">
                <a:solidFill>
                  <a:srgbClr val="00B0F0"/>
                </a:solidFill>
                <a:latin typeface="Consolas" panose="020B0609020204030204" pitchFamily="49" charset="0"/>
              </a:rPr>
              <a:t>3, 1000);</a:t>
            </a:r>
          </a:p>
          <a:p>
            <a:pPr marL="0" marR="0">
              <a:buNone/>
            </a:pPr>
            <a:r>
              <a:rPr lang="en-IN" sz="1800" b="1" dirty="0">
                <a:effectLst/>
                <a:latin typeface="Consolas" panose="020B0609020204030204" pitchFamily="49" charset="0"/>
              </a:rPr>
              <a:t>for</a:t>
            </a:r>
            <a:r>
              <a:rPr lang="en-IN" sz="1800" dirty="0">
                <a:effectLst/>
                <a:latin typeface="Consolas" panose="020B0609020204030204" pitchFamily="49" charset="0"/>
              </a:rPr>
              <a:t>(</a:t>
            </a:r>
            <a:r>
              <a:rPr lang="en-IN" sz="1800" dirty="0" err="1">
                <a:effectLst/>
                <a:latin typeface="Consolas" panose="020B0609020204030204" pitchFamily="49" charset="0"/>
              </a:rPr>
              <a:t>i</a:t>
            </a:r>
            <a:r>
              <a:rPr lang="en-IN" sz="1800" dirty="0">
                <a:effectLst/>
                <a:latin typeface="Consolas" panose="020B0609020204030204" pitchFamily="49" charset="0"/>
              </a:rPr>
              <a:t>=0;i&lt;5;i++)</a:t>
            </a:r>
          </a:p>
          <a:p>
            <a:pPr marL="0" marR="0">
              <a:buNone/>
            </a:pPr>
            <a:r>
              <a:rPr lang="en-IN" sz="1800" b="1" dirty="0">
                <a:effectLst/>
                <a:latin typeface="Consolas" panose="020B0609020204030204" pitchFamily="49" charset="0"/>
              </a:rPr>
              <a:t>for</a:t>
            </a:r>
            <a:r>
              <a:rPr lang="en-IN" sz="1800" dirty="0">
                <a:effectLst/>
                <a:latin typeface="Consolas" panose="020B0609020204030204" pitchFamily="49" charset="0"/>
              </a:rPr>
              <a:t>(j=0;j&lt;10000;j++);</a:t>
            </a:r>
          </a:p>
          <a:p>
            <a:pPr marL="0" marR="0">
              <a:buNone/>
            </a:pPr>
            <a:r>
              <a:rPr lang="en-IN" sz="1800" dirty="0" err="1">
                <a:solidFill>
                  <a:srgbClr val="00B0F0"/>
                </a:solidFill>
                <a:effectLst/>
                <a:latin typeface="Consolas" panose="020B0609020204030204" pitchFamily="49" charset="0"/>
              </a:rPr>
              <a:t>vTaskDelay</a:t>
            </a:r>
            <a:r>
              <a:rPr lang="en-IN" sz="1800" dirty="0">
                <a:solidFill>
                  <a:srgbClr val="00B0F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800" dirty="0" err="1">
                <a:solidFill>
                  <a:srgbClr val="00B0F0"/>
                </a:solidFill>
                <a:effectLst/>
                <a:latin typeface="Consolas" panose="020B0609020204030204" pitchFamily="49" charset="0"/>
              </a:rPr>
              <a:t>pdMS_TO_TICKS</a:t>
            </a:r>
            <a:r>
              <a:rPr lang="en-IN" sz="1800" dirty="0">
                <a:solidFill>
                  <a:srgbClr val="00B0F0"/>
                </a:solidFill>
                <a:effectLst/>
                <a:latin typeface="Consolas" panose="020B0609020204030204" pitchFamily="49" charset="0"/>
              </a:rPr>
              <a:t>(1000));</a:t>
            </a:r>
          </a:p>
          <a:p>
            <a:pPr marL="0" marR="0">
              <a:buNone/>
            </a:pPr>
            <a:r>
              <a:rPr lang="en-IN" sz="1800" dirty="0">
                <a:effectLst/>
                <a:latin typeface="Consolas" panose="020B0609020204030204" pitchFamily="49" charset="0"/>
              </a:rPr>
              <a:t>}</a:t>
            </a:r>
          </a:p>
          <a:p>
            <a:pPr marL="0" marR="0">
              <a:buNone/>
            </a:pPr>
            <a:r>
              <a:rPr lang="en-IN" sz="1800" dirty="0"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491428-038A-B687-F845-5422185C1EC1}"/>
              </a:ext>
            </a:extLst>
          </p:cNvPr>
          <p:cNvSpPr txBox="1"/>
          <p:nvPr/>
        </p:nvSpPr>
        <p:spPr>
          <a:xfrm>
            <a:off x="5759370" y="1661427"/>
            <a:ext cx="609407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IN" sz="1800" dirty="0">
                <a:effectLst/>
                <a:latin typeface="Consolas" panose="020B0609020204030204" pitchFamily="49" charset="0"/>
              </a:rPr>
              <a:t>void task1_handler (void* parameter){</a:t>
            </a:r>
          </a:p>
          <a:p>
            <a:pPr marL="0" marR="0">
              <a:buNone/>
            </a:pPr>
            <a:r>
              <a:rPr lang="en-IN" sz="1800" dirty="0">
                <a:effectLst/>
                <a:latin typeface="Consolas" panose="020B0609020204030204" pitchFamily="49" charset="0"/>
              </a:rPr>
              <a:t>int </a:t>
            </a:r>
            <a:r>
              <a:rPr lang="en-IN" sz="1800" dirty="0" err="1">
                <a:effectLst/>
                <a:latin typeface="Consolas" panose="020B0609020204030204" pitchFamily="49" charset="0"/>
              </a:rPr>
              <a:t>i,j</a:t>
            </a:r>
            <a:r>
              <a:rPr lang="en-IN" sz="1800" dirty="0">
                <a:effectLst/>
                <a:latin typeface="Consolas" panose="020B0609020204030204" pitchFamily="49" charset="0"/>
              </a:rPr>
              <a:t> =0;</a:t>
            </a:r>
          </a:p>
          <a:p>
            <a:pPr marL="0" marR="0">
              <a:buNone/>
            </a:pPr>
            <a:r>
              <a:rPr lang="en-IN" sz="1800" dirty="0" err="1">
                <a:effectLst/>
                <a:latin typeface="Consolas" panose="020B0609020204030204" pitchFamily="49" charset="0"/>
              </a:rPr>
              <a:t>const</a:t>
            </a:r>
            <a:r>
              <a:rPr lang="en-IN" sz="1800" dirty="0">
                <a:effectLst/>
                <a:latin typeface="Consolas" panose="020B0609020204030204" pitchFamily="49" charset="0"/>
              </a:rPr>
              <a:t> </a:t>
            </a:r>
            <a:r>
              <a:rPr lang="en-IN" sz="1800" dirty="0" err="1">
                <a:effectLst/>
                <a:latin typeface="Consolas" panose="020B0609020204030204" pitchFamily="49" charset="0"/>
              </a:rPr>
              <a:t>TickType_t</a:t>
            </a:r>
            <a:r>
              <a:rPr lang="en-IN" sz="1800" dirty="0">
                <a:effectLst/>
                <a:latin typeface="Consolas" panose="020B0609020204030204" pitchFamily="49" charset="0"/>
              </a:rPr>
              <a:t> </a:t>
            </a:r>
            <a:r>
              <a:rPr lang="en-IN" sz="1800" dirty="0" err="1">
                <a:effectLst/>
                <a:latin typeface="Consolas" panose="020B0609020204030204" pitchFamily="49" charset="0"/>
              </a:rPr>
              <a:t>xFrequency</a:t>
            </a:r>
            <a:r>
              <a:rPr lang="en-IN" sz="1800" dirty="0">
                <a:effectLst/>
                <a:latin typeface="Consolas" panose="020B0609020204030204" pitchFamily="49" charset="0"/>
              </a:rPr>
              <a:t> = 1000; // 1000 ticks = 100ms = 1 </a:t>
            </a:r>
            <a:r>
              <a:rPr lang="en-IN" sz="1800" u="sng" dirty="0">
                <a:effectLst/>
                <a:latin typeface="Consolas" panose="020B0609020204030204" pitchFamily="49" charset="0"/>
              </a:rPr>
              <a:t>sec</a:t>
            </a:r>
            <a:endParaRPr lang="en-IN" sz="1800" dirty="0"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r>
              <a:rPr lang="en-IN" sz="1800" dirty="0" err="1">
                <a:effectLst/>
                <a:latin typeface="Consolas" panose="020B0609020204030204" pitchFamily="49" charset="0"/>
              </a:rPr>
              <a:t>TickType_t</a:t>
            </a:r>
            <a:r>
              <a:rPr lang="en-IN" sz="1800" dirty="0">
                <a:effectLst/>
                <a:latin typeface="Consolas" panose="020B0609020204030204" pitchFamily="49" charset="0"/>
              </a:rPr>
              <a:t> </a:t>
            </a:r>
            <a:r>
              <a:rPr lang="en-IN" sz="1800" dirty="0" err="1">
                <a:effectLst/>
                <a:latin typeface="Consolas" panose="020B0609020204030204" pitchFamily="49" charset="0"/>
              </a:rPr>
              <a:t>xLastWakeTime</a:t>
            </a:r>
            <a:r>
              <a:rPr lang="en-IN" sz="1800" dirty="0">
                <a:effectLst/>
                <a:latin typeface="Consolas" panose="020B0609020204030204" pitchFamily="49" charset="0"/>
              </a:rPr>
              <a:t> ;</a:t>
            </a:r>
          </a:p>
          <a:p>
            <a:pPr marL="0" marR="0">
              <a:buNone/>
            </a:pPr>
            <a:r>
              <a:rPr lang="en-IN" sz="1800" dirty="0" err="1">
                <a:effectLst/>
                <a:latin typeface="Consolas" panose="020B0609020204030204" pitchFamily="49" charset="0"/>
              </a:rPr>
              <a:t>BaseType_t</a:t>
            </a:r>
            <a:r>
              <a:rPr lang="en-IN" sz="1800" dirty="0">
                <a:effectLst/>
                <a:latin typeface="Consolas" panose="020B0609020204030204" pitchFamily="49" charset="0"/>
              </a:rPr>
              <a:t> </a:t>
            </a:r>
            <a:r>
              <a:rPr lang="en-IN" sz="1800" dirty="0" err="1">
                <a:effectLst/>
                <a:latin typeface="Consolas" panose="020B0609020204030204" pitchFamily="49" charset="0"/>
              </a:rPr>
              <a:t>xWasDelayed</a:t>
            </a:r>
            <a:r>
              <a:rPr lang="en-IN" sz="1800" dirty="0">
                <a:effectLst/>
                <a:latin typeface="Consolas" panose="020B0609020204030204" pitchFamily="49" charset="0"/>
              </a:rPr>
              <a:t> ;</a:t>
            </a:r>
          </a:p>
          <a:p>
            <a:pPr marL="0" marR="0">
              <a:buNone/>
            </a:pPr>
            <a:r>
              <a:rPr lang="en-IN" sz="1800" dirty="0" err="1">
                <a:effectLst/>
                <a:latin typeface="Consolas" panose="020B0609020204030204" pitchFamily="49" charset="0"/>
              </a:rPr>
              <a:t>xLastWakeTime</a:t>
            </a:r>
            <a:r>
              <a:rPr lang="en-IN" sz="1800" dirty="0">
                <a:effectLst/>
                <a:latin typeface="Consolas" panose="020B0609020204030204" pitchFamily="49" charset="0"/>
              </a:rPr>
              <a:t> = </a:t>
            </a:r>
            <a:r>
              <a:rPr lang="en-IN" sz="1800" dirty="0" err="1">
                <a:effectLst/>
                <a:latin typeface="Consolas" panose="020B0609020204030204" pitchFamily="49" charset="0"/>
              </a:rPr>
              <a:t>xTaskGetTickCount</a:t>
            </a:r>
            <a:r>
              <a:rPr lang="en-IN" sz="1800" dirty="0">
                <a:effectLst/>
                <a:latin typeface="Consolas" panose="020B0609020204030204" pitchFamily="49" charset="0"/>
              </a:rPr>
              <a:t> ();</a:t>
            </a:r>
          </a:p>
          <a:p>
            <a:pPr marL="0" marR="0">
              <a:buNone/>
            </a:pPr>
            <a:endParaRPr lang="en-IN" sz="1800" dirty="0"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r>
              <a:rPr lang="en-IN" sz="1800" dirty="0">
                <a:effectLst/>
                <a:latin typeface="Consolas" panose="020B0609020204030204" pitchFamily="49" charset="0"/>
              </a:rPr>
              <a:t>for(;;){</a:t>
            </a:r>
          </a:p>
          <a:p>
            <a:r>
              <a:rPr lang="en-IN" dirty="0" err="1">
                <a:solidFill>
                  <a:srgbClr val="00B0F0"/>
                </a:solidFill>
                <a:latin typeface="Consolas" panose="020B0609020204030204" pitchFamily="49" charset="0"/>
              </a:rPr>
              <a:t>xWasDelayed</a:t>
            </a:r>
            <a:r>
              <a:rPr lang="en-IN" dirty="0">
                <a:solidFill>
                  <a:srgbClr val="00B0F0"/>
                </a:solidFill>
                <a:latin typeface="Consolas" panose="020B0609020204030204" pitchFamily="49" charset="0"/>
              </a:rPr>
              <a:t> = </a:t>
            </a:r>
            <a:r>
              <a:rPr lang="en-IN" dirty="0" err="1">
                <a:solidFill>
                  <a:srgbClr val="00B0F0"/>
                </a:solidFill>
                <a:latin typeface="Consolas" panose="020B0609020204030204" pitchFamily="49" charset="0"/>
              </a:rPr>
              <a:t>xTaskDelayUntil</a:t>
            </a:r>
            <a:r>
              <a:rPr lang="en-IN" dirty="0">
                <a:solidFill>
                  <a:srgbClr val="00B0F0"/>
                </a:solidFill>
                <a:latin typeface="Consolas" panose="020B0609020204030204" pitchFamily="49" charset="0"/>
              </a:rPr>
              <a:t>(&amp;</a:t>
            </a:r>
            <a:r>
              <a:rPr lang="en-IN" dirty="0" err="1">
                <a:solidFill>
                  <a:srgbClr val="00B0F0"/>
                </a:solidFill>
                <a:latin typeface="Consolas" panose="020B0609020204030204" pitchFamily="49" charset="0"/>
              </a:rPr>
              <a:t>xLastWakeTime,xFrequency</a:t>
            </a:r>
            <a:r>
              <a:rPr lang="en-IN" dirty="0">
                <a:solidFill>
                  <a:srgbClr val="00B0F0"/>
                </a:solidFill>
                <a:latin typeface="Consolas" panose="020B0609020204030204" pitchFamily="49" charset="0"/>
              </a:rPr>
              <a:t>);</a:t>
            </a:r>
            <a:endParaRPr lang="en-IN" sz="1800" dirty="0">
              <a:effectLst/>
              <a:latin typeface="Consolas" panose="020B0609020204030204" pitchFamily="49" charset="0"/>
            </a:endParaRPr>
          </a:p>
          <a:p>
            <a:r>
              <a:rPr lang="en-IN" dirty="0" err="1">
                <a:solidFill>
                  <a:srgbClr val="00B0F0"/>
                </a:solidFill>
                <a:latin typeface="Consolas" panose="020B0609020204030204" pitchFamily="49" charset="0"/>
              </a:rPr>
              <a:t>HAL_UART_Transmit</a:t>
            </a:r>
            <a:r>
              <a:rPr lang="en-IN" dirty="0">
                <a:solidFill>
                  <a:srgbClr val="00B0F0"/>
                </a:solidFill>
                <a:latin typeface="Consolas" panose="020B0609020204030204" pitchFamily="49" charset="0"/>
              </a:rPr>
              <a:t>(&amp;huart1,parameter , 3, 1000);</a:t>
            </a:r>
          </a:p>
          <a:p>
            <a:pPr marL="0" marR="0">
              <a:buNone/>
            </a:pPr>
            <a:r>
              <a:rPr lang="en-IN" sz="1800" dirty="0">
                <a:effectLst/>
                <a:latin typeface="Consolas" panose="020B0609020204030204" pitchFamily="49" charset="0"/>
              </a:rPr>
              <a:t>for(</a:t>
            </a:r>
            <a:r>
              <a:rPr lang="en-IN" sz="1800" dirty="0" err="1">
                <a:effectLst/>
                <a:latin typeface="Consolas" panose="020B0609020204030204" pitchFamily="49" charset="0"/>
              </a:rPr>
              <a:t>i</a:t>
            </a:r>
            <a:r>
              <a:rPr lang="en-IN" sz="1800" dirty="0">
                <a:effectLst/>
                <a:latin typeface="Consolas" panose="020B0609020204030204" pitchFamily="49" charset="0"/>
              </a:rPr>
              <a:t>=0;i&lt;5;i++)</a:t>
            </a:r>
          </a:p>
          <a:p>
            <a:pPr marL="0" marR="0">
              <a:buNone/>
            </a:pPr>
            <a:r>
              <a:rPr lang="en-IN" sz="1800" dirty="0">
                <a:effectLst/>
                <a:latin typeface="Consolas" panose="020B0609020204030204" pitchFamily="49" charset="0"/>
              </a:rPr>
              <a:t>for(j=0;j&lt;10000;j++);</a:t>
            </a:r>
          </a:p>
          <a:p>
            <a:r>
              <a:rPr lang="en-IN" dirty="0">
                <a:latin typeface="Consolas" panose="020B0609020204030204" pitchFamily="49" charset="0"/>
              </a:rPr>
              <a:t>}</a:t>
            </a:r>
          </a:p>
          <a:p>
            <a:pPr marL="0" marR="0">
              <a:buNone/>
            </a:pPr>
            <a:br>
              <a:rPr lang="en-IN" sz="1800" dirty="0">
                <a:effectLst/>
                <a:latin typeface="Consolas" panose="020B0609020204030204" pitchFamily="49" charset="0"/>
              </a:rPr>
            </a:br>
            <a:endParaRPr lang="en-IN" sz="1800" dirty="0"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br>
              <a:rPr lang="en-IN" sz="1800" dirty="0">
                <a:effectLst/>
                <a:latin typeface="Consolas" panose="020B0609020204030204" pitchFamily="49" charset="0"/>
              </a:rPr>
            </a:br>
            <a:endParaRPr lang="en-IN" sz="1800" dirty="0"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r>
              <a:rPr lang="en-IN" sz="1800" dirty="0">
                <a:effectLst/>
                <a:latin typeface="Consolas" panose="020B0609020204030204" pitchFamily="49" charset="0"/>
              </a:rPr>
              <a:t>}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768BF28-01CD-43A2-212A-8FE8852CFE47}"/>
              </a:ext>
            </a:extLst>
          </p:cNvPr>
          <p:cNvCxnSpPr/>
          <p:nvPr/>
        </p:nvCxnSpPr>
        <p:spPr>
          <a:xfrm>
            <a:off x="5584993" y="1204195"/>
            <a:ext cx="41059" cy="4965539"/>
          </a:xfrm>
          <a:prstGeom prst="line">
            <a:avLst/>
          </a:prstGeom>
          <a:ln w="38100">
            <a:prstDash val="lg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F8D5CF8D-C9E0-0D58-9C5E-EBA2E9149E29}"/>
              </a:ext>
            </a:extLst>
          </p:cNvPr>
          <p:cNvGrpSpPr/>
          <p:nvPr/>
        </p:nvGrpSpPr>
        <p:grpSpPr>
          <a:xfrm>
            <a:off x="0" y="6466566"/>
            <a:ext cx="12192000" cy="403007"/>
            <a:chOff x="0" y="6478141"/>
            <a:chExt cx="12192000" cy="403007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FE350EE-E519-145B-D0EA-750BB3239550}"/>
                </a:ext>
              </a:extLst>
            </p:cNvPr>
            <p:cNvSpPr/>
            <p:nvPr/>
          </p:nvSpPr>
          <p:spPr>
            <a:xfrm>
              <a:off x="0" y="6484069"/>
              <a:ext cx="12192000" cy="397079"/>
            </a:xfrm>
            <a:prstGeom prst="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dirty="0"/>
                <a:t>                   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Jai Raja Saravanam S                                                                                                        </a:t>
              </a:r>
              <a:r>
                <a:rPr lang="en-IN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Emcog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Solutions</a:t>
              </a:r>
              <a:r>
                <a:rPr lang="en-IN" dirty="0"/>
                <a:t> </a:t>
              </a: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1A51C34C-77A9-33EF-3E22-6EDD6634A8A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734477" y="6478141"/>
              <a:ext cx="349866" cy="3830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190429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9A3D46-0B22-EA7D-AD3F-0FA4B5622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36E961E-F330-37F3-9F0E-1986415873ED}"/>
              </a:ext>
            </a:extLst>
          </p:cNvPr>
          <p:cNvSpPr txBox="1">
            <a:spLocks/>
          </p:cNvSpPr>
          <p:nvPr/>
        </p:nvSpPr>
        <p:spPr>
          <a:xfrm>
            <a:off x="5254055" y="191134"/>
            <a:ext cx="2419960" cy="93503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Activity 8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39EF528-2604-5BCA-63ED-6B973D0CADEC}"/>
              </a:ext>
            </a:extLst>
          </p:cNvPr>
          <p:cNvSpPr txBox="1">
            <a:spLocks/>
          </p:cNvSpPr>
          <p:nvPr/>
        </p:nvSpPr>
        <p:spPr>
          <a:xfrm>
            <a:off x="375271" y="1126171"/>
            <a:ext cx="10871849" cy="233478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single UART task using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vTaskDelay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and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xtaskdelayuntil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endParaRPr lang="en-US" sz="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Objective: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9625" indent="468313">
              <a:lnSpc>
                <a:spcPct val="10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understand the difference between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vtaskdelay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and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xtaskdelayuntil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>
              <a:spcAft>
                <a:spcPts val="600"/>
              </a:spcAft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20DBE72-FA0C-E026-C5BC-2D2EF46CA94C}"/>
              </a:ext>
            </a:extLst>
          </p:cNvPr>
          <p:cNvGrpSpPr/>
          <p:nvPr/>
        </p:nvGrpSpPr>
        <p:grpSpPr>
          <a:xfrm>
            <a:off x="0" y="6466566"/>
            <a:ext cx="12192000" cy="403007"/>
            <a:chOff x="0" y="6478141"/>
            <a:chExt cx="12192000" cy="403007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520D155-70ED-C7DD-91EE-FBCD9B32E2AB}"/>
                </a:ext>
              </a:extLst>
            </p:cNvPr>
            <p:cNvSpPr/>
            <p:nvPr/>
          </p:nvSpPr>
          <p:spPr>
            <a:xfrm>
              <a:off x="0" y="6484069"/>
              <a:ext cx="12192000" cy="397079"/>
            </a:xfrm>
            <a:prstGeom prst="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dirty="0"/>
                <a:t>                   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Jai Raja Saravanam S                                                                                                        </a:t>
              </a:r>
              <a:r>
                <a:rPr lang="en-IN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Emcog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Solutions</a:t>
              </a:r>
              <a:r>
                <a:rPr lang="en-IN" dirty="0"/>
                <a:t> </a:t>
              </a: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D0991518-FC0B-BB1A-7C30-52AA262AC9D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734477" y="6478141"/>
              <a:ext cx="349866" cy="3830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0579753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5643-161E-9074-F6B3-235DFE8E8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25181FA-2304-0121-FBA2-E916F7427920}"/>
              </a:ext>
            </a:extLst>
          </p:cNvPr>
          <p:cNvSpPr txBox="1">
            <a:spLocks/>
          </p:cNvSpPr>
          <p:nvPr/>
        </p:nvSpPr>
        <p:spPr>
          <a:xfrm>
            <a:off x="547992" y="313611"/>
            <a:ext cx="11096011" cy="60133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Task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C3430A-AEF9-4C30-6D87-7EB4CAE4916C}"/>
              </a:ext>
            </a:extLst>
          </p:cNvPr>
          <p:cNvSpPr txBox="1"/>
          <p:nvPr/>
        </p:nvSpPr>
        <p:spPr>
          <a:xfrm>
            <a:off x="426720" y="914944"/>
            <a:ext cx="11217283" cy="960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Periodic Task  -  Runs for every certain period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Aperiodic task  -  Runs based on certain events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6712153-C77A-3EF1-607C-3DCB0AA73904}"/>
              </a:ext>
            </a:extLst>
          </p:cNvPr>
          <p:cNvGrpSpPr/>
          <p:nvPr/>
        </p:nvGrpSpPr>
        <p:grpSpPr>
          <a:xfrm>
            <a:off x="0" y="6466566"/>
            <a:ext cx="12192000" cy="403007"/>
            <a:chOff x="0" y="6478141"/>
            <a:chExt cx="12192000" cy="403007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B58FF54-18F0-5AD4-153C-F6F7E0C53AE5}"/>
                </a:ext>
              </a:extLst>
            </p:cNvPr>
            <p:cNvSpPr/>
            <p:nvPr/>
          </p:nvSpPr>
          <p:spPr>
            <a:xfrm>
              <a:off x="0" y="6484069"/>
              <a:ext cx="12192000" cy="397079"/>
            </a:xfrm>
            <a:prstGeom prst="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dirty="0"/>
                <a:t>                   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Jai Raja Saravanam S                                                                                                        </a:t>
              </a:r>
              <a:r>
                <a:rPr lang="en-IN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Emcog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Solutions</a:t>
              </a:r>
              <a:r>
                <a:rPr lang="en-IN" dirty="0"/>
                <a:t> </a:t>
              </a: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DD66DF5-45E5-7139-60FB-44798E9AF09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734477" y="6478141"/>
              <a:ext cx="349866" cy="3830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0334397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D9699A-49B0-2E21-D3E1-32990237DF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BD5075F-2C1E-9369-E776-CC8D79283402}"/>
              </a:ext>
            </a:extLst>
          </p:cNvPr>
          <p:cNvSpPr txBox="1">
            <a:spLocks/>
          </p:cNvSpPr>
          <p:nvPr/>
        </p:nvSpPr>
        <p:spPr>
          <a:xfrm>
            <a:off x="4782907" y="187326"/>
            <a:ext cx="2119338" cy="60908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Scheduler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F2BC4D3-EFA7-163F-E388-1A491ABDEB40}"/>
              </a:ext>
            </a:extLst>
          </p:cNvPr>
          <p:cNvSpPr txBox="1">
            <a:spLocks/>
          </p:cNvSpPr>
          <p:nvPr/>
        </p:nvSpPr>
        <p:spPr>
          <a:xfrm>
            <a:off x="547992" y="949642"/>
            <a:ext cx="9757567" cy="186467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scheduler is the core of FreeRTOS.</a:t>
            </a:r>
          </a:p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decides which task should run next, based on priority and state.</a:t>
            </a:r>
          </a:p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uses a tick timer interrupt (e.g., every 1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to check task status and preempt if needed.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9DE50E6-9435-0F1D-5A62-14581FE6E1E9}"/>
              </a:ext>
            </a:extLst>
          </p:cNvPr>
          <p:cNvSpPr/>
          <p:nvPr/>
        </p:nvSpPr>
        <p:spPr>
          <a:xfrm>
            <a:off x="1396183" y="5338910"/>
            <a:ext cx="1563329" cy="963561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Task1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D34D614-7F41-8AE8-65A1-C67BD588B17D}"/>
              </a:ext>
            </a:extLst>
          </p:cNvPr>
          <p:cNvSpPr/>
          <p:nvPr/>
        </p:nvSpPr>
        <p:spPr>
          <a:xfrm>
            <a:off x="4097109" y="5338911"/>
            <a:ext cx="1563329" cy="963561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Task2</a:t>
            </a:r>
            <a:endParaRPr lang="en-IN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E8724D5-3375-D061-F91A-80DFAB3CD361}"/>
              </a:ext>
            </a:extLst>
          </p:cNvPr>
          <p:cNvSpPr/>
          <p:nvPr/>
        </p:nvSpPr>
        <p:spPr>
          <a:xfrm>
            <a:off x="6460894" y="5338909"/>
            <a:ext cx="1563329" cy="963561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Task3</a:t>
            </a:r>
            <a:endParaRPr lang="en-IN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6AAD00F-EB29-6B4A-8D64-4E0100187B9E}"/>
              </a:ext>
            </a:extLst>
          </p:cNvPr>
          <p:cNvSpPr/>
          <p:nvPr/>
        </p:nvSpPr>
        <p:spPr>
          <a:xfrm>
            <a:off x="9161820" y="5338909"/>
            <a:ext cx="1563329" cy="963561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Task N</a:t>
            </a:r>
            <a:endParaRPr lang="en-IN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15E1592-771B-873B-DEA6-5250F467D718}"/>
              </a:ext>
            </a:extLst>
          </p:cNvPr>
          <p:cNvSpPr/>
          <p:nvPr/>
        </p:nvSpPr>
        <p:spPr>
          <a:xfrm>
            <a:off x="4510543" y="3124198"/>
            <a:ext cx="2810055" cy="106434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dirty="0">
                <a:solidFill>
                  <a:schemeClr val="tx1"/>
                </a:solidFill>
              </a:rPr>
              <a:t>Scheduler</a:t>
            </a:r>
            <a:endParaRPr lang="en-IN" dirty="0">
              <a:solidFill>
                <a:schemeClr val="tx1"/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A5F098D-FB01-5064-0866-78F1EA411013}"/>
              </a:ext>
            </a:extLst>
          </p:cNvPr>
          <p:cNvCxnSpPr>
            <a:cxnSpLocks/>
            <a:stCxn id="9" idx="2"/>
            <a:endCxn id="2" idx="0"/>
          </p:cNvCxnSpPr>
          <p:nvPr/>
        </p:nvCxnSpPr>
        <p:spPr>
          <a:xfrm flipH="1">
            <a:off x="2177848" y="4188540"/>
            <a:ext cx="3737723" cy="1150370"/>
          </a:xfrm>
          <a:prstGeom prst="straightConnector1">
            <a:avLst/>
          </a:prstGeom>
          <a:ln w="38100"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02DA762-B635-1E2E-E16C-1E6ECBA3FA46}"/>
              </a:ext>
            </a:extLst>
          </p:cNvPr>
          <p:cNvCxnSpPr>
            <a:cxnSpLocks/>
            <a:stCxn id="9" idx="2"/>
            <a:endCxn id="3" idx="0"/>
          </p:cNvCxnSpPr>
          <p:nvPr/>
        </p:nvCxnSpPr>
        <p:spPr>
          <a:xfrm flipH="1">
            <a:off x="4878774" y="4188540"/>
            <a:ext cx="1036797" cy="1150371"/>
          </a:xfrm>
          <a:prstGeom prst="straightConnector1">
            <a:avLst/>
          </a:prstGeom>
          <a:ln w="38100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D207653-6170-4948-0647-652ACA37D6D4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5903520" y="4188540"/>
            <a:ext cx="1339039" cy="1150369"/>
          </a:xfrm>
          <a:prstGeom prst="straightConnector1">
            <a:avLst/>
          </a:prstGeom>
          <a:ln w="38100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A3BA54E-A6E3-8D0C-78CC-414DA7F8CD12}"/>
              </a:ext>
            </a:extLst>
          </p:cNvPr>
          <p:cNvCxnSpPr>
            <a:cxnSpLocks/>
            <a:stCxn id="9" idx="2"/>
            <a:endCxn id="8" idx="0"/>
          </p:cNvCxnSpPr>
          <p:nvPr/>
        </p:nvCxnSpPr>
        <p:spPr>
          <a:xfrm>
            <a:off x="5915571" y="4188540"/>
            <a:ext cx="4027914" cy="1150369"/>
          </a:xfrm>
          <a:prstGeom prst="straightConnector1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9A86C70A-028A-D66E-2E13-DC27A285D786}"/>
              </a:ext>
            </a:extLst>
          </p:cNvPr>
          <p:cNvGrpSpPr/>
          <p:nvPr/>
        </p:nvGrpSpPr>
        <p:grpSpPr>
          <a:xfrm>
            <a:off x="0" y="6466566"/>
            <a:ext cx="12192000" cy="403007"/>
            <a:chOff x="0" y="6478141"/>
            <a:chExt cx="12192000" cy="403007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031FD13-D05D-A85C-FA2D-7D9FD1E7C468}"/>
                </a:ext>
              </a:extLst>
            </p:cNvPr>
            <p:cNvSpPr/>
            <p:nvPr/>
          </p:nvSpPr>
          <p:spPr>
            <a:xfrm>
              <a:off x="0" y="6484069"/>
              <a:ext cx="12192000" cy="397079"/>
            </a:xfrm>
            <a:prstGeom prst="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dirty="0"/>
                <a:t>                   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Jai Raja Saravanam S                                                                                                        </a:t>
              </a:r>
              <a:r>
                <a:rPr lang="en-IN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Emcog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Solutions</a:t>
              </a:r>
              <a:r>
                <a:rPr lang="en-IN" dirty="0"/>
                <a:t> </a:t>
              </a:r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C56D9FA9-1144-B7EE-ADB9-7FEF0E512A2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734477" y="6478141"/>
              <a:ext cx="349866" cy="3830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6074571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BF2160-F252-5272-8AB7-8F1345CF3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1D4E976-38BE-AF1D-6D71-9385D48149DE}"/>
              </a:ext>
            </a:extLst>
          </p:cNvPr>
          <p:cNvSpPr txBox="1">
            <a:spLocks/>
          </p:cNvSpPr>
          <p:nvPr/>
        </p:nvSpPr>
        <p:spPr>
          <a:xfrm>
            <a:off x="547994" y="17037"/>
            <a:ext cx="11096011" cy="61772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 of a scheduler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A13894-F447-CDC1-ABA4-99EF71D60A5E}"/>
              </a:ext>
            </a:extLst>
          </p:cNvPr>
          <p:cNvSpPr txBox="1"/>
          <p:nvPr/>
        </p:nvSpPr>
        <p:spPr>
          <a:xfrm>
            <a:off x="355685" y="462040"/>
            <a:ext cx="60960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Scheduling Tasks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switching / Context Switching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Interrupts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Resource optimization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Deadline Awareness</a:t>
            </a:r>
          </a:p>
          <a:p>
            <a:pPr marL="514350" indent="-514350">
              <a:buFont typeface="+mj-lt"/>
              <a:buAutoNum type="arabicPeriod"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01166B2-9482-722B-EA5B-52424418C36A}"/>
              </a:ext>
            </a:extLst>
          </p:cNvPr>
          <p:cNvCxnSpPr>
            <a:cxnSpLocks/>
          </p:cNvCxnSpPr>
          <p:nvPr/>
        </p:nvCxnSpPr>
        <p:spPr>
          <a:xfrm flipV="1">
            <a:off x="823296" y="2948372"/>
            <a:ext cx="0" cy="3785419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36A95DF-F095-D83F-4D84-E1F1827ABE1D}"/>
              </a:ext>
            </a:extLst>
          </p:cNvPr>
          <p:cNvCxnSpPr>
            <a:cxnSpLocks/>
          </p:cNvCxnSpPr>
          <p:nvPr/>
        </p:nvCxnSpPr>
        <p:spPr>
          <a:xfrm flipV="1">
            <a:off x="822508" y="6692595"/>
            <a:ext cx="11207717" cy="23558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DFECD5A-D6C7-F26F-D0D8-4BDB3F8352C9}"/>
              </a:ext>
            </a:extLst>
          </p:cNvPr>
          <p:cNvSpPr/>
          <p:nvPr/>
        </p:nvSpPr>
        <p:spPr>
          <a:xfrm>
            <a:off x="6206490" y="5303772"/>
            <a:ext cx="5552986" cy="630978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/>
              <a:t>Task 3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39C119E-CE81-0EEF-0476-4560A84A43E2}"/>
              </a:ext>
            </a:extLst>
          </p:cNvPr>
          <p:cNvCxnSpPr/>
          <p:nvPr/>
        </p:nvCxnSpPr>
        <p:spPr>
          <a:xfrm>
            <a:off x="805595" y="5240130"/>
            <a:ext cx="109589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71C9942-7C29-D678-B71A-52ACB366F621}"/>
              </a:ext>
            </a:extLst>
          </p:cNvPr>
          <p:cNvCxnSpPr/>
          <p:nvPr/>
        </p:nvCxnSpPr>
        <p:spPr>
          <a:xfrm>
            <a:off x="822508" y="3745618"/>
            <a:ext cx="109589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6F4F826-422F-EA62-4631-293385BC258B}"/>
              </a:ext>
            </a:extLst>
          </p:cNvPr>
          <p:cNvCxnSpPr/>
          <p:nvPr/>
        </p:nvCxnSpPr>
        <p:spPr>
          <a:xfrm>
            <a:off x="838731" y="4481868"/>
            <a:ext cx="109589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0E1FAAC-CE93-D168-6725-75090BF9C1F4}"/>
              </a:ext>
            </a:extLst>
          </p:cNvPr>
          <p:cNvSpPr/>
          <p:nvPr/>
        </p:nvSpPr>
        <p:spPr>
          <a:xfrm>
            <a:off x="890079" y="3796767"/>
            <a:ext cx="10976801" cy="630978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/>
              <a:t>Task 1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476EB47-E650-3AD3-8C0A-C2B953FAD131}"/>
              </a:ext>
            </a:extLst>
          </p:cNvPr>
          <p:cNvCxnSpPr/>
          <p:nvPr/>
        </p:nvCxnSpPr>
        <p:spPr>
          <a:xfrm>
            <a:off x="836075" y="5981810"/>
            <a:ext cx="109589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CE60797-6F18-22DA-33A3-673C6D325CAA}"/>
              </a:ext>
            </a:extLst>
          </p:cNvPr>
          <p:cNvSpPr/>
          <p:nvPr/>
        </p:nvSpPr>
        <p:spPr>
          <a:xfrm>
            <a:off x="858688" y="3078951"/>
            <a:ext cx="1028492" cy="63097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/>
              <a:t>Scheduler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09C0EC0F-D1AB-79FB-D536-E855F8DBD125}"/>
              </a:ext>
            </a:extLst>
          </p:cNvPr>
          <p:cNvSpPr/>
          <p:nvPr/>
        </p:nvSpPr>
        <p:spPr>
          <a:xfrm>
            <a:off x="1912412" y="6022709"/>
            <a:ext cx="2598055" cy="630978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/>
              <a:t>Task 1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DEC2007B-B5D6-22AD-BB96-7E43E8354DFD}"/>
              </a:ext>
            </a:extLst>
          </p:cNvPr>
          <p:cNvSpPr/>
          <p:nvPr/>
        </p:nvSpPr>
        <p:spPr>
          <a:xfrm>
            <a:off x="873760" y="6027814"/>
            <a:ext cx="1028492" cy="63097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/>
              <a:t>Scheduler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DB4C3509-98B2-94D1-304D-EEB2A02E3DB7}"/>
              </a:ext>
            </a:extLst>
          </p:cNvPr>
          <p:cNvSpPr/>
          <p:nvPr/>
        </p:nvSpPr>
        <p:spPr>
          <a:xfrm>
            <a:off x="5573268" y="6016569"/>
            <a:ext cx="2598055" cy="644642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/>
              <a:t>Task 2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2921A342-A48B-88D0-592E-F2339CC3F078}"/>
              </a:ext>
            </a:extLst>
          </p:cNvPr>
          <p:cNvSpPr/>
          <p:nvPr/>
        </p:nvSpPr>
        <p:spPr>
          <a:xfrm>
            <a:off x="4530787" y="6030232"/>
            <a:ext cx="1028492" cy="63097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/>
              <a:t>Scheduler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145583C1-864A-1AEA-C4AC-55E0E147305E}"/>
              </a:ext>
            </a:extLst>
          </p:cNvPr>
          <p:cNvSpPr/>
          <p:nvPr/>
        </p:nvSpPr>
        <p:spPr>
          <a:xfrm>
            <a:off x="4515547" y="3088912"/>
            <a:ext cx="1028492" cy="63097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/>
              <a:t>Scheduler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0B086FEB-CD14-DC43-2A43-D434FAE5D53A}"/>
              </a:ext>
            </a:extLst>
          </p:cNvPr>
          <p:cNvSpPr/>
          <p:nvPr/>
        </p:nvSpPr>
        <p:spPr>
          <a:xfrm>
            <a:off x="8172267" y="3081101"/>
            <a:ext cx="1028492" cy="63097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/>
              <a:t>Scheduler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C039BA8C-9ADD-8B91-7092-C997AAB6865F}"/>
              </a:ext>
            </a:extLst>
          </p:cNvPr>
          <p:cNvSpPr/>
          <p:nvPr/>
        </p:nvSpPr>
        <p:spPr>
          <a:xfrm>
            <a:off x="890079" y="4543027"/>
            <a:ext cx="10904957" cy="644642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/>
              <a:t>Task 2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F4DC7248-4D65-FC9F-8B16-0B409A8DB384}"/>
              </a:ext>
            </a:extLst>
          </p:cNvPr>
          <p:cNvSpPr/>
          <p:nvPr/>
        </p:nvSpPr>
        <p:spPr>
          <a:xfrm>
            <a:off x="8184714" y="6019474"/>
            <a:ext cx="1028492" cy="63097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/>
              <a:t>Scheduler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D84A1578-5277-55C3-171B-A712A0F56E2E}"/>
              </a:ext>
            </a:extLst>
          </p:cNvPr>
          <p:cNvSpPr/>
          <p:nvPr/>
        </p:nvSpPr>
        <p:spPr>
          <a:xfrm>
            <a:off x="9215839" y="6015016"/>
            <a:ext cx="2547252" cy="630978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/>
              <a:t>Task 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938B797-1305-3C43-04A2-CDB9FDA11C4A}"/>
              </a:ext>
            </a:extLst>
          </p:cNvPr>
          <p:cNvSpPr txBox="1"/>
          <p:nvPr/>
        </p:nvSpPr>
        <p:spPr>
          <a:xfrm>
            <a:off x="33105" y="6175058"/>
            <a:ext cx="645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endParaRPr lang="en-IN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B0720CF-AC8E-AC56-E08A-268C9C57DC1A}"/>
              </a:ext>
            </a:extLst>
          </p:cNvPr>
          <p:cNvSpPr txBox="1"/>
          <p:nvPr/>
        </p:nvSpPr>
        <p:spPr>
          <a:xfrm>
            <a:off x="11970050" y="6411874"/>
            <a:ext cx="2172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en-IN" sz="20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24E194E-DE99-684E-1561-2CA166286221}"/>
              </a:ext>
            </a:extLst>
          </p:cNvPr>
          <p:cNvSpPr txBox="1"/>
          <p:nvPr/>
        </p:nvSpPr>
        <p:spPr>
          <a:xfrm>
            <a:off x="33019" y="5454915"/>
            <a:ext cx="8572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3</a:t>
            </a:r>
            <a:endParaRPr lang="en-IN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5EF117B-5121-F149-12BC-E6C371309FB0}"/>
              </a:ext>
            </a:extLst>
          </p:cNvPr>
          <p:cNvSpPr txBox="1"/>
          <p:nvPr/>
        </p:nvSpPr>
        <p:spPr>
          <a:xfrm>
            <a:off x="32933" y="4734772"/>
            <a:ext cx="8572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2</a:t>
            </a:r>
            <a:endParaRPr lang="en-IN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5097F01-3A32-1000-F0AC-032E822B53DC}"/>
              </a:ext>
            </a:extLst>
          </p:cNvPr>
          <p:cNvSpPr txBox="1"/>
          <p:nvPr/>
        </p:nvSpPr>
        <p:spPr>
          <a:xfrm>
            <a:off x="32847" y="4014629"/>
            <a:ext cx="8572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1</a:t>
            </a:r>
            <a:endParaRPr lang="en-IN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8B5A595-5A6F-6E6D-46F3-3E240F4724A7}"/>
              </a:ext>
            </a:extLst>
          </p:cNvPr>
          <p:cNvSpPr txBox="1"/>
          <p:nvPr/>
        </p:nvSpPr>
        <p:spPr>
          <a:xfrm>
            <a:off x="0" y="3282656"/>
            <a:ext cx="8572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Scheduler</a:t>
            </a: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307575690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F7A7A-B588-BE91-83C8-C272E2F70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48DB0F5-B558-5EE5-C53C-5E5D6EE1CA40}"/>
              </a:ext>
            </a:extLst>
          </p:cNvPr>
          <p:cNvSpPr txBox="1">
            <a:spLocks/>
          </p:cNvSpPr>
          <p:nvPr/>
        </p:nvSpPr>
        <p:spPr>
          <a:xfrm>
            <a:off x="547992" y="313610"/>
            <a:ext cx="11096011" cy="300409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scheduling mechanism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455601-5273-DEFF-299C-C9E9028B6B17}"/>
              </a:ext>
            </a:extLst>
          </p:cNvPr>
          <p:cNvSpPr txBox="1"/>
          <p:nvPr/>
        </p:nvSpPr>
        <p:spPr>
          <a:xfrm>
            <a:off x="426720" y="1076991"/>
            <a:ext cx="1100328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 Pre -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emptive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scheduling - forceful replacement of a running task with a new task . </a:t>
            </a:r>
          </a:p>
          <a:p>
            <a:pPr marL="893763" indent="92075" defTabSz="720725">
              <a:lnSpc>
                <a:spcPct val="150000"/>
              </a:lnSpc>
              <a:buFont typeface="Wingdings" panose="05000000000000000000" pitchFamily="2" charset="2"/>
              <a:buChar char="§"/>
              <a:tabLst>
                <a:tab pos="720725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Round robin (cyclic) – No priority – Fixed Time slice</a:t>
            </a:r>
          </a:p>
          <a:p>
            <a:pPr marL="893763" indent="92075" defTabSz="720725">
              <a:lnSpc>
                <a:spcPct val="150000"/>
              </a:lnSpc>
              <a:buFont typeface="Wingdings" panose="05000000000000000000" pitchFamily="2" charset="2"/>
              <a:buChar char="§"/>
              <a:tabLst>
                <a:tab pos="720725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based  </a:t>
            </a:r>
          </a:p>
          <a:p>
            <a:pPr defTabSz="720725">
              <a:tabLst>
                <a:tab pos="720725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 Cooperative Scheduling  - A running task willingly gives the CPU to scheduler 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E48F22A3-1B1D-6DA4-1407-05799F37D484}"/>
              </a:ext>
            </a:extLst>
          </p:cNvPr>
          <p:cNvSpPr/>
          <p:nvPr/>
        </p:nvSpPr>
        <p:spPr>
          <a:xfrm>
            <a:off x="4782065" y="3429000"/>
            <a:ext cx="2434281" cy="1637270"/>
          </a:xfrm>
          <a:prstGeom prst="ellipse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Scheduler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0D8EF65-D8C0-ED0B-4B81-0E6D25C0C579}"/>
              </a:ext>
            </a:extLst>
          </p:cNvPr>
          <p:cNvSpPr/>
          <p:nvPr/>
        </p:nvSpPr>
        <p:spPr>
          <a:xfrm>
            <a:off x="1532238" y="5375189"/>
            <a:ext cx="2965621" cy="939114"/>
          </a:xfrm>
          <a:prstGeom prst="round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Pre-emptive Scheduling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29643E0-602A-D6CC-A8E5-28613AB7A0E2}"/>
              </a:ext>
            </a:extLst>
          </p:cNvPr>
          <p:cNvSpPr/>
          <p:nvPr/>
        </p:nvSpPr>
        <p:spPr>
          <a:xfrm>
            <a:off x="7694143" y="5375189"/>
            <a:ext cx="2965621" cy="939114"/>
          </a:xfrm>
          <a:prstGeom prst="round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Co-operative Scheduling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CA85763-D5A5-9DF2-2F5F-B6CF988E0638}"/>
              </a:ext>
            </a:extLst>
          </p:cNvPr>
          <p:cNvCxnSpPr>
            <a:cxnSpLocks/>
            <a:endCxn id="4" idx="0"/>
          </p:cNvCxnSpPr>
          <p:nvPr/>
        </p:nvCxnSpPr>
        <p:spPr>
          <a:xfrm flipH="1">
            <a:off x="3015049" y="4656953"/>
            <a:ext cx="1958545" cy="71823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0770A9D-B0AC-7088-5925-135819DBC321}"/>
              </a:ext>
            </a:extLst>
          </p:cNvPr>
          <p:cNvCxnSpPr>
            <a:cxnSpLocks/>
            <a:endCxn id="5" idx="0"/>
          </p:cNvCxnSpPr>
          <p:nvPr/>
        </p:nvCxnSpPr>
        <p:spPr>
          <a:xfrm>
            <a:off x="7117492" y="4522573"/>
            <a:ext cx="2059462" cy="85261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04769740-6FE6-ACE4-8AA8-85AEAB85411E}"/>
              </a:ext>
            </a:extLst>
          </p:cNvPr>
          <p:cNvSpPr txBox="1"/>
          <p:nvPr/>
        </p:nvSpPr>
        <p:spPr>
          <a:xfrm>
            <a:off x="1239793" y="4472287"/>
            <a:ext cx="33074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configUSE_PREEMPTION</a:t>
            </a:r>
            <a:r>
              <a:rPr lang="en-IN" sz="18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= 1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5E72B73-FFE3-9152-7792-A7249DF35D0B}"/>
              </a:ext>
            </a:extLst>
          </p:cNvPr>
          <p:cNvSpPr txBox="1"/>
          <p:nvPr/>
        </p:nvSpPr>
        <p:spPr>
          <a:xfrm>
            <a:off x="7898027" y="4522573"/>
            <a:ext cx="33074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configUSE_PREEMPTION</a:t>
            </a:r>
            <a:r>
              <a:rPr lang="en-IN" sz="18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= 0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F126715-A74F-1D54-4DAF-BA85F5074161}"/>
              </a:ext>
            </a:extLst>
          </p:cNvPr>
          <p:cNvGrpSpPr/>
          <p:nvPr/>
        </p:nvGrpSpPr>
        <p:grpSpPr>
          <a:xfrm>
            <a:off x="0" y="6466566"/>
            <a:ext cx="12192000" cy="403007"/>
            <a:chOff x="0" y="6478141"/>
            <a:chExt cx="12192000" cy="403007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21B5869-0E72-1C0D-0CE9-38DAEFB1CE86}"/>
                </a:ext>
              </a:extLst>
            </p:cNvPr>
            <p:cNvSpPr/>
            <p:nvPr/>
          </p:nvSpPr>
          <p:spPr>
            <a:xfrm>
              <a:off x="0" y="6484069"/>
              <a:ext cx="12192000" cy="397079"/>
            </a:xfrm>
            <a:prstGeom prst="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dirty="0"/>
                <a:t>                   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Jai Raja Saravanam S                                                                                                        </a:t>
              </a:r>
              <a:r>
                <a:rPr lang="en-IN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Emcog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Solutions</a:t>
              </a:r>
              <a:r>
                <a:rPr lang="en-IN" dirty="0"/>
                <a:t> </a:t>
              </a: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2717A153-C316-F029-284A-93C6791D96F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734477" y="6478141"/>
              <a:ext cx="349866" cy="3830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3774122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E7B165-D2DA-DDFB-60E6-CFCD634A0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05CACCCC-72CE-1830-9A1B-D9C2E841F0B6}"/>
              </a:ext>
            </a:extLst>
          </p:cNvPr>
          <p:cNvSpPr txBox="1">
            <a:spLocks/>
          </p:cNvSpPr>
          <p:nvPr/>
        </p:nvSpPr>
        <p:spPr>
          <a:xfrm>
            <a:off x="547992" y="313610"/>
            <a:ext cx="11096011" cy="76338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scheduling mechanism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752A8F-AFC5-3982-106F-C9021FA857D9}"/>
              </a:ext>
            </a:extLst>
          </p:cNvPr>
          <p:cNvSpPr txBox="1"/>
          <p:nvPr/>
        </p:nvSpPr>
        <p:spPr>
          <a:xfrm>
            <a:off x="364936" y="732787"/>
            <a:ext cx="11003280" cy="498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5725" defTabSz="720725">
              <a:lnSpc>
                <a:spcPct val="150000"/>
              </a:lnSpc>
              <a:tabLst>
                <a:tab pos="720725" algn="l"/>
              </a:tabLst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Round robin (cyclic) – No priority – Fixed Time slice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1A89C97-129A-D483-E7AB-B4EBAAA3DF5B}"/>
              </a:ext>
            </a:extLst>
          </p:cNvPr>
          <p:cNvSpPr/>
          <p:nvPr/>
        </p:nvSpPr>
        <p:spPr>
          <a:xfrm>
            <a:off x="1451921" y="1576484"/>
            <a:ext cx="1427204" cy="651271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Task1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B2482E7-055F-940F-E7FA-169ECA5118E6}"/>
              </a:ext>
            </a:extLst>
          </p:cNvPr>
          <p:cNvSpPr/>
          <p:nvPr/>
        </p:nvSpPr>
        <p:spPr>
          <a:xfrm>
            <a:off x="6851822" y="1600333"/>
            <a:ext cx="1427204" cy="651271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Task4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0A873BA-DE18-EC77-7397-B9481BB15D75}"/>
              </a:ext>
            </a:extLst>
          </p:cNvPr>
          <p:cNvSpPr/>
          <p:nvPr/>
        </p:nvSpPr>
        <p:spPr>
          <a:xfrm>
            <a:off x="3237472" y="1587975"/>
            <a:ext cx="1427204" cy="651271"/>
          </a:xfrm>
          <a:prstGeom prst="round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Task2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95E413B-A90F-A072-A19B-097C82CAFF60}"/>
              </a:ext>
            </a:extLst>
          </p:cNvPr>
          <p:cNvSpPr/>
          <p:nvPr/>
        </p:nvSpPr>
        <p:spPr>
          <a:xfrm>
            <a:off x="5023024" y="1604810"/>
            <a:ext cx="1427204" cy="651271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Task3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7931C8D-263F-A57D-CB21-E77892372D00}"/>
              </a:ext>
            </a:extLst>
          </p:cNvPr>
          <p:cNvCxnSpPr/>
          <p:nvPr/>
        </p:nvCxnSpPr>
        <p:spPr>
          <a:xfrm>
            <a:off x="1062681" y="1421025"/>
            <a:ext cx="7599405" cy="0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C029F03-8743-D886-6BC0-594998C15230}"/>
              </a:ext>
            </a:extLst>
          </p:cNvPr>
          <p:cNvCxnSpPr/>
          <p:nvPr/>
        </p:nvCxnSpPr>
        <p:spPr>
          <a:xfrm>
            <a:off x="1054442" y="2426043"/>
            <a:ext cx="7599405" cy="0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35D0477-9942-6992-9715-A3B6A5CD9CEE}"/>
              </a:ext>
            </a:extLst>
          </p:cNvPr>
          <p:cNvSpPr/>
          <p:nvPr/>
        </p:nvSpPr>
        <p:spPr>
          <a:xfrm>
            <a:off x="634077" y="4067161"/>
            <a:ext cx="705773" cy="651271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Scheduler</a:t>
            </a:r>
            <a:r>
              <a:rPr lang="en-IN" b="1" dirty="0"/>
              <a:t> 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2089026-3581-1AC3-13C1-6CA2BC5875F1}"/>
              </a:ext>
            </a:extLst>
          </p:cNvPr>
          <p:cNvSpPr/>
          <p:nvPr/>
        </p:nvSpPr>
        <p:spPr>
          <a:xfrm>
            <a:off x="1339850" y="4067161"/>
            <a:ext cx="1427204" cy="651271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Task1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903B9398-E0D4-7062-5BA7-D64D99F8B0A8}"/>
              </a:ext>
            </a:extLst>
          </p:cNvPr>
          <p:cNvSpPr/>
          <p:nvPr/>
        </p:nvSpPr>
        <p:spPr>
          <a:xfrm>
            <a:off x="2767054" y="4067160"/>
            <a:ext cx="705773" cy="651271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Scheduler</a:t>
            </a:r>
            <a:r>
              <a:rPr lang="en-IN" b="1" dirty="0"/>
              <a:t> 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9134602-1700-9908-44CA-7F674CBA7F90}"/>
              </a:ext>
            </a:extLst>
          </p:cNvPr>
          <p:cNvSpPr/>
          <p:nvPr/>
        </p:nvSpPr>
        <p:spPr>
          <a:xfrm>
            <a:off x="4900031" y="4067159"/>
            <a:ext cx="705773" cy="651271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Scheduler</a:t>
            </a:r>
            <a:r>
              <a:rPr lang="en-IN" b="1" dirty="0"/>
              <a:t> 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D5BF34D-BD9E-A41B-DC8C-863022E0F8C0}"/>
              </a:ext>
            </a:extLst>
          </p:cNvPr>
          <p:cNvSpPr/>
          <p:nvPr/>
        </p:nvSpPr>
        <p:spPr>
          <a:xfrm>
            <a:off x="7033008" y="4067158"/>
            <a:ext cx="705773" cy="651271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Scheduler</a:t>
            </a:r>
            <a:r>
              <a:rPr lang="en-IN" b="1" dirty="0"/>
              <a:t> 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D497173F-2CFD-9631-1108-708E65CD7D0B}"/>
              </a:ext>
            </a:extLst>
          </p:cNvPr>
          <p:cNvSpPr/>
          <p:nvPr/>
        </p:nvSpPr>
        <p:spPr>
          <a:xfrm>
            <a:off x="3472827" y="4067158"/>
            <a:ext cx="1427204" cy="651271"/>
          </a:xfrm>
          <a:prstGeom prst="round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Task2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E69BED44-B7CA-3C0C-C50B-A00621279FE1}"/>
              </a:ext>
            </a:extLst>
          </p:cNvPr>
          <p:cNvSpPr/>
          <p:nvPr/>
        </p:nvSpPr>
        <p:spPr>
          <a:xfrm>
            <a:off x="5590986" y="4067158"/>
            <a:ext cx="1427204" cy="651271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Task3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1D9E4BAB-8F97-9ECC-9DC5-A4BD5E5DD930}"/>
              </a:ext>
            </a:extLst>
          </p:cNvPr>
          <p:cNvSpPr/>
          <p:nvPr/>
        </p:nvSpPr>
        <p:spPr>
          <a:xfrm>
            <a:off x="7753599" y="4067158"/>
            <a:ext cx="1427204" cy="651271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Task4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51BDC1E-55F7-CF0A-6181-F831B648A440}"/>
              </a:ext>
            </a:extLst>
          </p:cNvPr>
          <p:cNvSpPr txBox="1"/>
          <p:nvPr/>
        </p:nvSpPr>
        <p:spPr>
          <a:xfrm>
            <a:off x="4029676" y="2439666"/>
            <a:ext cx="127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Ready List</a:t>
            </a:r>
            <a:endParaRPr lang="en-IN" b="1" dirty="0">
              <a:solidFill>
                <a:srgbClr val="00B050"/>
              </a:solidFill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13E76B0F-4C75-1688-80A1-96DC0D64B336}"/>
              </a:ext>
            </a:extLst>
          </p:cNvPr>
          <p:cNvCxnSpPr>
            <a:cxnSpLocks/>
          </p:cNvCxnSpPr>
          <p:nvPr/>
        </p:nvCxnSpPr>
        <p:spPr>
          <a:xfrm flipV="1">
            <a:off x="613757" y="5361973"/>
            <a:ext cx="10754459" cy="20630"/>
          </a:xfrm>
          <a:prstGeom prst="line">
            <a:avLst/>
          </a:prstGeom>
          <a:ln w="19050"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0FE27F1-63C1-D909-7C7B-5067D87C8FF3}"/>
              </a:ext>
            </a:extLst>
          </p:cNvPr>
          <p:cNvCxnSpPr>
            <a:cxnSpLocks/>
          </p:cNvCxnSpPr>
          <p:nvPr/>
        </p:nvCxnSpPr>
        <p:spPr>
          <a:xfrm flipV="1">
            <a:off x="720090" y="4927600"/>
            <a:ext cx="0" cy="45500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9E3026A-CE01-EC1A-186D-1F153A029FC9}"/>
              </a:ext>
            </a:extLst>
          </p:cNvPr>
          <p:cNvCxnSpPr>
            <a:cxnSpLocks/>
          </p:cNvCxnSpPr>
          <p:nvPr/>
        </p:nvCxnSpPr>
        <p:spPr>
          <a:xfrm flipV="1">
            <a:off x="2761288" y="4927599"/>
            <a:ext cx="0" cy="45500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15149C3A-454B-83A9-04AF-EC5A8F09F0D7}"/>
              </a:ext>
            </a:extLst>
          </p:cNvPr>
          <p:cNvCxnSpPr>
            <a:cxnSpLocks/>
          </p:cNvCxnSpPr>
          <p:nvPr/>
        </p:nvCxnSpPr>
        <p:spPr>
          <a:xfrm flipV="1">
            <a:off x="4900031" y="4927598"/>
            <a:ext cx="0" cy="45500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B4B81DA-1A2F-927F-4A17-FA6B7F013B6D}"/>
              </a:ext>
            </a:extLst>
          </p:cNvPr>
          <p:cNvCxnSpPr>
            <a:cxnSpLocks/>
          </p:cNvCxnSpPr>
          <p:nvPr/>
        </p:nvCxnSpPr>
        <p:spPr>
          <a:xfrm flipV="1">
            <a:off x="7091906" y="4886817"/>
            <a:ext cx="0" cy="45500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36" name="Group 35">
            <a:extLst>
              <a:ext uri="{FF2B5EF4-FFF2-40B4-BE49-F238E27FC236}">
                <a16:creationId xmlns:a16="http://schemas.microsoft.com/office/drawing/2014/main" id="{79FC3E73-C8E0-CEE1-5D3D-116AD67F52CA}"/>
              </a:ext>
            </a:extLst>
          </p:cNvPr>
          <p:cNvGrpSpPr/>
          <p:nvPr/>
        </p:nvGrpSpPr>
        <p:grpSpPr>
          <a:xfrm>
            <a:off x="1352042" y="5423387"/>
            <a:ext cx="1404810" cy="237461"/>
            <a:chOff x="8300787" y="3128542"/>
            <a:chExt cx="1158173" cy="183503"/>
          </a:xfrm>
        </p:grpSpPr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2FA683C9-C83C-BB8D-446B-D9E042A088FC}"/>
                </a:ext>
              </a:extLst>
            </p:cNvPr>
            <p:cNvCxnSpPr/>
            <p:nvPr/>
          </p:nvCxnSpPr>
          <p:spPr>
            <a:xfrm>
              <a:off x="8300787" y="3223102"/>
              <a:ext cx="1154965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249F1F2-D3E7-F435-DC3C-6EAD0618948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58960" y="3134157"/>
              <a:ext cx="0" cy="1778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0213FDF3-6008-587A-6A86-C70500BFE9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6246" y="3128542"/>
              <a:ext cx="0" cy="1778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E82FE6F4-0049-E037-6F34-C66BBE4EED70}"/>
              </a:ext>
            </a:extLst>
          </p:cNvPr>
          <p:cNvGrpSpPr/>
          <p:nvPr/>
        </p:nvGrpSpPr>
        <p:grpSpPr>
          <a:xfrm>
            <a:off x="3497834" y="5435579"/>
            <a:ext cx="1404810" cy="237461"/>
            <a:chOff x="8300787" y="3128542"/>
            <a:chExt cx="1158173" cy="183503"/>
          </a:xfrm>
        </p:grpSpPr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577D8CA5-7A61-BE9E-DB9B-7E5ABB1D9D9D}"/>
                </a:ext>
              </a:extLst>
            </p:cNvPr>
            <p:cNvCxnSpPr/>
            <p:nvPr/>
          </p:nvCxnSpPr>
          <p:spPr>
            <a:xfrm>
              <a:off x="8300787" y="3223102"/>
              <a:ext cx="1154965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0739B04E-15C2-88A6-6799-4D0101DEC94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58960" y="3134157"/>
              <a:ext cx="0" cy="1778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634DEF0B-2910-C494-E866-A005074D71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6246" y="3128542"/>
              <a:ext cx="0" cy="1778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DB129402-893D-8F0B-04EB-191DCC8BDC2A}"/>
              </a:ext>
            </a:extLst>
          </p:cNvPr>
          <p:cNvGrpSpPr/>
          <p:nvPr/>
        </p:nvGrpSpPr>
        <p:grpSpPr>
          <a:xfrm>
            <a:off x="5692394" y="5447771"/>
            <a:ext cx="1404810" cy="237461"/>
            <a:chOff x="8300787" y="3128542"/>
            <a:chExt cx="1158173" cy="183503"/>
          </a:xfrm>
        </p:grpSpPr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2A22E7A7-D7FB-E76B-A5E3-1C0E7E492759}"/>
                </a:ext>
              </a:extLst>
            </p:cNvPr>
            <p:cNvCxnSpPr/>
            <p:nvPr/>
          </p:nvCxnSpPr>
          <p:spPr>
            <a:xfrm>
              <a:off x="8300787" y="3223102"/>
              <a:ext cx="1154965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12343D26-69B4-742B-049C-065A43905C9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58960" y="3134157"/>
              <a:ext cx="0" cy="1778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7814535B-FEFD-C0E6-9F14-756F742C19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6246" y="3128542"/>
              <a:ext cx="0" cy="1778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0B499646-29FE-5238-E48B-1701B7AAA61E}"/>
              </a:ext>
            </a:extLst>
          </p:cNvPr>
          <p:cNvGrpSpPr/>
          <p:nvPr/>
        </p:nvGrpSpPr>
        <p:grpSpPr>
          <a:xfrm>
            <a:off x="7771130" y="5459963"/>
            <a:ext cx="1404810" cy="237461"/>
            <a:chOff x="8300787" y="3128542"/>
            <a:chExt cx="1158173" cy="183503"/>
          </a:xfrm>
        </p:grpSpPr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FAB5B321-590A-3889-ACE4-0DDBC4D25B7A}"/>
                </a:ext>
              </a:extLst>
            </p:cNvPr>
            <p:cNvCxnSpPr/>
            <p:nvPr/>
          </p:nvCxnSpPr>
          <p:spPr>
            <a:xfrm>
              <a:off x="8300787" y="3223102"/>
              <a:ext cx="1154965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49E01BCB-27FF-F981-BF21-8E3D002AE2C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58960" y="3134157"/>
              <a:ext cx="0" cy="1778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C9AC0A78-E6B1-B09F-A4C7-F0FE5F4ECC7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6246" y="3128542"/>
              <a:ext cx="0" cy="1778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7F52EF10-53C2-39B7-E020-FA7D41DC1B73}"/>
              </a:ext>
            </a:extLst>
          </p:cNvPr>
          <p:cNvSpPr txBox="1"/>
          <p:nvPr/>
        </p:nvSpPr>
        <p:spPr>
          <a:xfrm>
            <a:off x="1358954" y="5677966"/>
            <a:ext cx="147157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 Time</a:t>
            </a:r>
          </a:p>
          <a:p>
            <a:pPr algn="ctr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slice</a:t>
            </a:r>
            <a:endParaRPr lang="en-IN" sz="1600" b="1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0F3CD74-9D9C-39CF-D77D-0FB296D0B340}"/>
              </a:ext>
            </a:extLst>
          </p:cNvPr>
          <p:cNvSpPr txBox="1"/>
          <p:nvPr/>
        </p:nvSpPr>
        <p:spPr>
          <a:xfrm>
            <a:off x="3462504" y="5717577"/>
            <a:ext cx="147157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 Time</a:t>
            </a:r>
          </a:p>
          <a:p>
            <a:pPr algn="ctr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slice</a:t>
            </a:r>
            <a:endParaRPr lang="en-IN" sz="1600" b="1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E1D8EBD-6BBC-A85A-457E-B827C7431E2F}"/>
              </a:ext>
            </a:extLst>
          </p:cNvPr>
          <p:cNvSpPr txBox="1"/>
          <p:nvPr/>
        </p:nvSpPr>
        <p:spPr>
          <a:xfrm>
            <a:off x="5692394" y="5717577"/>
            <a:ext cx="147157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 Time</a:t>
            </a:r>
          </a:p>
          <a:p>
            <a:pPr algn="ctr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slice</a:t>
            </a:r>
            <a:endParaRPr lang="en-IN" sz="1600" b="1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910C758-102B-1044-05C6-999DACBDD4AE}"/>
              </a:ext>
            </a:extLst>
          </p:cNvPr>
          <p:cNvSpPr txBox="1"/>
          <p:nvPr/>
        </p:nvSpPr>
        <p:spPr>
          <a:xfrm>
            <a:off x="7782913" y="5717577"/>
            <a:ext cx="147157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 Time</a:t>
            </a:r>
          </a:p>
          <a:p>
            <a:pPr algn="ctr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slice</a:t>
            </a:r>
            <a:endParaRPr lang="en-IN" sz="1600" b="1" dirty="0"/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07536973-4CC3-D259-D116-2ECB41BB79C8}"/>
              </a:ext>
            </a:extLst>
          </p:cNvPr>
          <p:cNvCxnSpPr>
            <a:cxnSpLocks/>
          </p:cNvCxnSpPr>
          <p:nvPr/>
        </p:nvCxnSpPr>
        <p:spPr>
          <a:xfrm flipV="1">
            <a:off x="611670" y="3648456"/>
            <a:ext cx="0" cy="174575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A9EDBB9-7C9D-9A09-FC46-0F6D6E7DAA4D}"/>
              </a:ext>
            </a:extLst>
          </p:cNvPr>
          <p:cNvSpPr/>
          <p:nvPr/>
        </p:nvSpPr>
        <p:spPr>
          <a:xfrm>
            <a:off x="9174228" y="4070968"/>
            <a:ext cx="705773" cy="651271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Scheduler</a:t>
            </a:r>
            <a:r>
              <a:rPr lang="en-IN" b="1" dirty="0"/>
              <a:t> 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1053A86-4573-7FFF-A12A-0DCA13F911DC}"/>
              </a:ext>
            </a:extLst>
          </p:cNvPr>
          <p:cNvSpPr/>
          <p:nvPr/>
        </p:nvSpPr>
        <p:spPr>
          <a:xfrm>
            <a:off x="9886777" y="4056408"/>
            <a:ext cx="1427204" cy="651271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Task1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30BF6D3-F848-8411-FD8C-DB40D3B5E10D}"/>
              </a:ext>
            </a:extLst>
          </p:cNvPr>
          <p:cNvGrpSpPr/>
          <p:nvPr/>
        </p:nvGrpSpPr>
        <p:grpSpPr>
          <a:xfrm>
            <a:off x="9889490" y="5555213"/>
            <a:ext cx="1404810" cy="237461"/>
            <a:chOff x="8300787" y="3128542"/>
            <a:chExt cx="1158173" cy="183503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4D857E1-8426-8054-FE0D-62AC6D34F848}"/>
                </a:ext>
              </a:extLst>
            </p:cNvPr>
            <p:cNvCxnSpPr/>
            <p:nvPr/>
          </p:nvCxnSpPr>
          <p:spPr>
            <a:xfrm>
              <a:off x="8300787" y="3223102"/>
              <a:ext cx="1154965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22F8056-8A17-E3AB-1F5E-DC777285CA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58960" y="3134157"/>
              <a:ext cx="0" cy="1778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3A4591A8-11EE-8FD0-2C2A-D45DE9DB2D2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6246" y="3128542"/>
              <a:ext cx="0" cy="1778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09F612C6-BE00-C52D-1E99-947E2FE8DBBB}"/>
              </a:ext>
            </a:extLst>
          </p:cNvPr>
          <p:cNvSpPr txBox="1"/>
          <p:nvPr/>
        </p:nvSpPr>
        <p:spPr>
          <a:xfrm>
            <a:off x="9901273" y="5812827"/>
            <a:ext cx="147157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 Time</a:t>
            </a:r>
          </a:p>
          <a:p>
            <a:pPr algn="ctr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slice</a:t>
            </a:r>
            <a:endParaRPr lang="en-IN" sz="1600" b="1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723E9D9-DF44-CCBF-86DC-BF58BCC14F33}"/>
              </a:ext>
            </a:extLst>
          </p:cNvPr>
          <p:cNvGrpSpPr/>
          <p:nvPr/>
        </p:nvGrpSpPr>
        <p:grpSpPr>
          <a:xfrm>
            <a:off x="0" y="6466566"/>
            <a:ext cx="12192000" cy="403007"/>
            <a:chOff x="0" y="6478141"/>
            <a:chExt cx="12192000" cy="403007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D885DF3-9284-805F-9F95-8B304D94A50F}"/>
                </a:ext>
              </a:extLst>
            </p:cNvPr>
            <p:cNvSpPr/>
            <p:nvPr/>
          </p:nvSpPr>
          <p:spPr>
            <a:xfrm>
              <a:off x="0" y="6484069"/>
              <a:ext cx="12192000" cy="397079"/>
            </a:xfrm>
            <a:prstGeom prst="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dirty="0"/>
                <a:t>                   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Jai Raja Saravanam S                                                                                                        </a:t>
              </a:r>
              <a:r>
                <a:rPr lang="en-IN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Emcog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Solutions</a:t>
              </a:r>
              <a:r>
                <a:rPr lang="en-IN" dirty="0"/>
                <a:t> </a:t>
              </a:r>
            </a:p>
          </p:txBody>
        </p:sp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65AD3747-9018-33A1-0B68-F3F8DD5A142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734477" y="6478141"/>
              <a:ext cx="349866" cy="3830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2647373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15801A-336F-4858-9D2E-E3AF6F309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E94CBC87-E429-7CD8-CD88-5A47A5782A74}"/>
              </a:ext>
            </a:extLst>
          </p:cNvPr>
          <p:cNvSpPr txBox="1">
            <a:spLocks/>
          </p:cNvSpPr>
          <p:nvPr/>
        </p:nvSpPr>
        <p:spPr>
          <a:xfrm>
            <a:off x="547992" y="313610"/>
            <a:ext cx="11096011" cy="76338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scheduling mechanism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85CD34-849E-A147-2371-A558BC507F20}"/>
              </a:ext>
            </a:extLst>
          </p:cNvPr>
          <p:cNvSpPr txBox="1"/>
          <p:nvPr/>
        </p:nvSpPr>
        <p:spPr>
          <a:xfrm>
            <a:off x="364936" y="732787"/>
            <a:ext cx="11003280" cy="498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5725" defTabSz="720725">
              <a:lnSpc>
                <a:spcPct val="150000"/>
              </a:lnSpc>
              <a:tabLst>
                <a:tab pos="720725" algn="l"/>
              </a:tabLst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Based 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AA8F3E6-0B9B-3719-009A-36B5B44A85AE}"/>
              </a:ext>
            </a:extLst>
          </p:cNvPr>
          <p:cNvSpPr/>
          <p:nvPr/>
        </p:nvSpPr>
        <p:spPr>
          <a:xfrm>
            <a:off x="1451921" y="1576484"/>
            <a:ext cx="1427204" cy="651271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Task1</a:t>
            </a:r>
          </a:p>
          <a:p>
            <a:pPr algn="ctr"/>
            <a:r>
              <a:rPr lang="en-IN" dirty="0"/>
              <a:t>Priority 2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A29E4A2-B54E-ECB1-0080-F476F2650120}"/>
              </a:ext>
            </a:extLst>
          </p:cNvPr>
          <p:cNvSpPr/>
          <p:nvPr/>
        </p:nvSpPr>
        <p:spPr>
          <a:xfrm>
            <a:off x="6851822" y="1600333"/>
            <a:ext cx="1427204" cy="651271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Task4</a:t>
            </a:r>
          </a:p>
          <a:p>
            <a:pPr algn="ctr"/>
            <a:r>
              <a:rPr lang="en-IN" dirty="0"/>
              <a:t>Priority 2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075AAA5-7577-5762-D0E2-CA0D9D2DC324}"/>
              </a:ext>
            </a:extLst>
          </p:cNvPr>
          <p:cNvSpPr/>
          <p:nvPr/>
        </p:nvSpPr>
        <p:spPr>
          <a:xfrm>
            <a:off x="3237472" y="1587975"/>
            <a:ext cx="1427204" cy="651271"/>
          </a:xfrm>
          <a:prstGeom prst="round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Task2</a:t>
            </a:r>
          </a:p>
          <a:p>
            <a:pPr algn="ctr"/>
            <a:r>
              <a:rPr lang="en-IN" dirty="0"/>
              <a:t>Priority 4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CBE2676-6671-135C-CDF1-A7993D709ED4}"/>
              </a:ext>
            </a:extLst>
          </p:cNvPr>
          <p:cNvSpPr/>
          <p:nvPr/>
        </p:nvSpPr>
        <p:spPr>
          <a:xfrm>
            <a:off x="5023024" y="1604810"/>
            <a:ext cx="1427204" cy="651271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Task3</a:t>
            </a:r>
          </a:p>
          <a:p>
            <a:pPr algn="ctr"/>
            <a:r>
              <a:rPr lang="en-IN" dirty="0"/>
              <a:t>Priority 1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CA29730-ADED-B35B-02EF-2C22CE8915F4}"/>
              </a:ext>
            </a:extLst>
          </p:cNvPr>
          <p:cNvCxnSpPr/>
          <p:nvPr/>
        </p:nvCxnSpPr>
        <p:spPr>
          <a:xfrm>
            <a:off x="1062681" y="1421025"/>
            <a:ext cx="7599405" cy="0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3560FC6-225F-B6D3-ACBF-938E3656AC8E}"/>
              </a:ext>
            </a:extLst>
          </p:cNvPr>
          <p:cNvCxnSpPr/>
          <p:nvPr/>
        </p:nvCxnSpPr>
        <p:spPr>
          <a:xfrm>
            <a:off x="1054442" y="2426043"/>
            <a:ext cx="7599405" cy="0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05A42DE-53FA-7439-8A0D-1A3B2B952973}"/>
              </a:ext>
            </a:extLst>
          </p:cNvPr>
          <p:cNvSpPr/>
          <p:nvPr/>
        </p:nvSpPr>
        <p:spPr>
          <a:xfrm>
            <a:off x="682574" y="3972424"/>
            <a:ext cx="705773" cy="651271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Scheduler</a:t>
            </a:r>
            <a:r>
              <a:rPr lang="en-IN" b="1" dirty="0"/>
              <a:t> 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C18D374-C23B-1944-8F53-ACCF883F2EB1}"/>
              </a:ext>
            </a:extLst>
          </p:cNvPr>
          <p:cNvSpPr/>
          <p:nvPr/>
        </p:nvSpPr>
        <p:spPr>
          <a:xfrm>
            <a:off x="5661621" y="3978010"/>
            <a:ext cx="1427204" cy="651271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Task1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5D36D3C-0FBC-2A25-F120-5F4589ED23D0}"/>
              </a:ext>
            </a:extLst>
          </p:cNvPr>
          <p:cNvSpPr/>
          <p:nvPr/>
        </p:nvSpPr>
        <p:spPr>
          <a:xfrm>
            <a:off x="2815551" y="3972423"/>
            <a:ext cx="705773" cy="651271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Scheduler</a:t>
            </a:r>
            <a:r>
              <a:rPr lang="en-IN" b="1" dirty="0"/>
              <a:t> 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34E6E11-D179-6CBB-C4F0-D9CE74614B00}"/>
              </a:ext>
            </a:extLst>
          </p:cNvPr>
          <p:cNvSpPr/>
          <p:nvPr/>
        </p:nvSpPr>
        <p:spPr>
          <a:xfrm>
            <a:off x="4025883" y="3978113"/>
            <a:ext cx="504735" cy="651271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b="1" dirty="0"/>
              <a:t>Scheduler</a:t>
            </a:r>
            <a:r>
              <a:rPr lang="en-IN" b="1" dirty="0"/>
              <a:t> 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7C97C3B-D090-AA1F-BFF9-637A683C1AFF}"/>
              </a:ext>
            </a:extLst>
          </p:cNvPr>
          <p:cNvSpPr/>
          <p:nvPr/>
        </p:nvSpPr>
        <p:spPr>
          <a:xfrm>
            <a:off x="4938368" y="3980814"/>
            <a:ext cx="705773" cy="651271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Scheduler</a:t>
            </a:r>
            <a:r>
              <a:rPr lang="en-IN" b="1" dirty="0"/>
              <a:t> 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7D513428-DF8B-FCA0-DDFC-190054B767A8}"/>
              </a:ext>
            </a:extLst>
          </p:cNvPr>
          <p:cNvSpPr/>
          <p:nvPr/>
        </p:nvSpPr>
        <p:spPr>
          <a:xfrm>
            <a:off x="1395756" y="3970838"/>
            <a:ext cx="1427204" cy="651271"/>
          </a:xfrm>
          <a:prstGeom prst="round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Task2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EAA3AB58-A61B-D408-310B-D643DB2BDDFD}"/>
              </a:ext>
            </a:extLst>
          </p:cNvPr>
          <p:cNvSpPr/>
          <p:nvPr/>
        </p:nvSpPr>
        <p:spPr>
          <a:xfrm>
            <a:off x="7802096" y="3982581"/>
            <a:ext cx="1427204" cy="651271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Task4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C234D82-7AE5-D83B-CA2C-C2BBE891741A}"/>
              </a:ext>
            </a:extLst>
          </p:cNvPr>
          <p:cNvSpPr txBox="1"/>
          <p:nvPr/>
        </p:nvSpPr>
        <p:spPr>
          <a:xfrm>
            <a:off x="4384301" y="2509583"/>
            <a:ext cx="127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Ready List</a:t>
            </a:r>
            <a:endParaRPr lang="en-IN" b="1" dirty="0">
              <a:solidFill>
                <a:srgbClr val="00B050"/>
              </a:solidFill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2C56BAF-06FC-BB4B-4449-257422B3CBA7}"/>
              </a:ext>
            </a:extLst>
          </p:cNvPr>
          <p:cNvCxnSpPr>
            <a:cxnSpLocks/>
          </p:cNvCxnSpPr>
          <p:nvPr/>
        </p:nvCxnSpPr>
        <p:spPr>
          <a:xfrm flipV="1">
            <a:off x="662254" y="5247083"/>
            <a:ext cx="10854243" cy="40783"/>
          </a:xfrm>
          <a:prstGeom prst="line">
            <a:avLst/>
          </a:prstGeom>
          <a:ln w="19050"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7A25B66-880B-DA85-7344-55C4F0378C41}"/>
              </a:ext>
            </a:extLst>
          </p:cNvPr>
          <p:cNvCxnSpPr>
            <a:cxnSpLocks/>
          </p:cNvCxnSpPr>
          <p:nvPr/>
        </p:nvCxnSpPr>
        <p:spPr>
          <a:xfrm flipV="1">
            <a:off x="768587" y="4832863"/>
            <a:ext cx="0" cy="45500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FF758B0-605A-4F7B-B435-270380D4C2F8}"/>
              </a:ext>
            </a:extLst>
          </p:cNvPr>
          <p:cNvCxnSpPr>
            <a:cxnSpLocks/>
          </p:cNvCxnSpPr>
          <p:nvPr/>
        </p:nvCxnSpPr>
        <p:spPr>
          <a:xfrm flipV="1">
            <a:off x="2809785" y="4832862"/>
            <a:ext cx="0" cy="45500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DB695C2-45C5-63AE-BDFC-E1DEB28926CF}"/>
              </a:ext>
            </a:extLst>
          </p:cNvPr>
          <p:cNvCxnSpPr>
            <a:cxnSpLocks/>
          </p:cNvCxnSpPr>
          <p:nvPr/>
        </p:nvCxnSpPr>
        <p:spPr>
          <a:xfrm flipV="1">
            <a:off x="4948528" y="4832861"/>
            <a:ext cx="0" cy="45500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4DC571A9-05F4-7533-3B59-456672724A10}"/>
              </a:ext>
            </a:extLst>
          </p:cNvPr>
          <p:cNvCxnSpPr>
            <a:cxnSpLocks/>
          </p:cNvCxnSpPr>
          <p:nvPr/>
        </p:nvCxnSpPr>
        <p:spPr>
          <a:xfrm flipV="1">
            <a:off x="7140403" y="4792080"/>
            <a:ext cx="0" cy="45500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40BB3301-BB1C-E2B9-7B71-46A634DE795F}"/>
              </a:ext>
            </a:extLst>
          </p:cNvPr>
          <p:cNvCxnSpPr>
            <a:cxnSpLocks/>
          </p:cNvCxnSpPr>
          <p:nvPr/>
        </p:nvCxnSpPr>
        <p:spPr>
          <a:xfrm flipV="1">
            <a:off x="660167" y="3553719"/>
            <a:ext cx="0" cy="174575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28CDA3A-9E7A-FB8B-3B2A-7999BE6C0F8F}"/>
              </a:ext>
            </a:extLst>
          </p:cNvPr>
          <p:cNvSpPr/>
          <p:nvPr/>
        </p:nvSpPr>
        <p:spPr>
          <a:xfrm>
            <a:off x="7103911" y="3972421"/>
            <a:ext cx="705773" cy="651271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Scheduler</a:t>
            </a:r>
            <a:r>
              <a:rPr lang="en-IN" b="1" dirty="0"/>
              <a:t> 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7FFE46D-7230-4089-4CC5-62A4BDA736DD}"/>
              </a:ext>
            </a:extLst>
          </p:cNvPr>
          <p:cNvSpPr/>
          <p:nvPr/>
        </p:nvSpPr>
        <p:spPr>
          <a:xfrm>
            <a:off x="3528644" y="3978113"/>
            <a:ext cx="504736" cy="651271"/>
          </a:xfrm>
          <a:prstGeom prst="round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/>
              <a:t>Task2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F9483DE-5384-7841-1C2F-8D6DB3610154}"/>
              </a:ext>
            </a:extLst>
          </p:cNvPr>
          <p:cNvSpPr/>
          <p:nvPr/>
        </p:nvSpPr>
        <p:spPr>
          <a:xfrm>
            <a:off x="4545436" y="3978113"/>
            <a:ext cx="373277" cy="651271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Task4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E2D0E46-C730-BADF-DC51-1FE96C8925FB}"/>
              </a:ext>
            </a:extLst>
          </p:cNvPr>
          <p:cNvCxnSpPr>
            <a:cxnSpLocks/>
          </p:cNvCxnSpPr>
          <p:nvPr/>
        </p:nvCxnSpPr>
        <p:spPr>
          <a:xfrm flipV="1">
            <a:off x="9256207" y="4792079"/>
            <a:ext cx="0" cy="45500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858DE098-434E-1E61-BC12-0EF738068368}"/>
              </a:ext>
            </a:extLst>
          </p:cNvPr>
          <p:cNvSpPr/>
          <p:nvPr/>
        </p:nvSpPr>
        <p:spPr>
          <a:xfrm>
            <a:off x="9246264" y="3972421"/>
            <a:ext cx="705773" cy="651271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Scheduler</a:t>
            </a:r>
            <a:r>
              <a:rPr lang="en-IN" b="1" dirty="0"/>
              <a:t> 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FD3399B1-4E15-A159-7970-3B54477EE6F3}"/>
              </a:ext>
            </a:extLst>
          </p:cNvPr>
          <p:cNvSpPr/>
          <p:nvPr/>
        </p:nvSpPr>
        <p:spPr>
          <a:xfrm>
            <a:off x="9970028" y="3970838"/>
            <a:ext cx="1427204" cy="651271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Task1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76CE323-3A38-1D4E-3FF0-9EC223FCF8AD}"/>
              </a:ext>
            </a:extLst>
          </p:cNvPr>
          <p:cNvSpPr txBox="1"/>
          <p:nvPr/>
        </p:nvSpPr>
        <p:spPr>
          <a:xfrm>
            <a:off x="3382567" y="3496349"/>
            <a:ext cx="147157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Blocking</a:t>
            </a:r>
            <a:endParaRPr lang="en-IN" sz="1600" b="1" dirty="0"/>
          </a:p>
        </p:txBody>
      </p:sp>
      <p:sp>
        <p:nvSpPr>
          <p:cNvPr id="57" name="Arrow: Curved Down 56">
            <a:extLst>
              <a:ext uri="{FF2B5EF4-FFF2-40B4-BE49-F238E27FC236}">
                <a16:creationId xmlns:a16="http://schemas.microsoft.com/office/drawing/2014/main" id="{2E1F30E7-191C-3C97-0E36-67C93E275FDA}"/>
              </a:ext>
            </a:extLst>
          </p:cNvPr>
          <p:cNvSpPr/>
          <p:nvPr/>
        </p:nvSpPr>
        <p:spPr>
          <a:xfrm>
            <a:off x="3951074" y="3804423"/>
            <a:ext cx="299090" cy="135935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8AA3865-7A35-CA53-8446-A149FA1E05E6}"/>
              </a:ext>
            </a:extLst>
          </p:cNvPr>
          <p:cNvGrpSpPr/>
          <p:nvPr/>
        </p:nvGrpSpPr>
        <p:grpSpPr>
          <a:xfrm>
            <a:off x="0" y="6466566"/>
            <a:ext cx="12192000" cy="403007"/>
            <a:chOff x="0" y="6478141"/>
            <a:chExt cx="12192000" cy="403007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EC957C4-8EEE-2EF7-A0B8-B30BF0660AD6}"/>
                </a:ext>
              </a:extLst>
            </p:cNvPr>
            <p:cNvSpPr/>
            <p:nvPr/>
          </p:nvSpPr>
          <p:spPr>
            <a:xfrm>
              <a:off x="0" y="6484069"/>
              <a:ext cx="12192000" cy="397079"/>
            </a:xfrm>
            <a:prstGeom prst="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dirty="0"/>
                <a:t>                   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Jai Raja Saravanam S                                                                                                        </a:t>
              </a:r>
              <a:r>
                <a:rPr lang="en-IN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Emcog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Solutions</a:t>
              </a:r>
              <a:r>
                <a:rPr lang="en-IN" dirty="0"/>
                <a:t> </a:t>
              </a:r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F7DA2E98-BF52-820E-C1C0-1AA5F682052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734477" y="6478141"/>
              <a:ext cx="349866" cy="3830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6547744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C55496-D78E-2633-7E97-03D2C5A75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3A81D02-7ADC-662A-3C40-6A45F9033B81}"/>
              </a:ext>
            </a:extLst>
          </p:cNvPr>
          <p:cNvSpPr txBox="1">
            <a:spLocks/>
          </p:cNvSpPr>
          <p:nvPr/>
        </p:nvSpPr>
        <p:spPr>
          <a:xfrm>
            <a:off x="547992" y="313610"/>
            <a:ext cx="11096011" cy="76338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scheduling mechanism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E6D655-72AF-1BA0-3974-761A55C8524A}"/>
              </a:ext>
            </a:extLst>
          </p:cNvPr>
          <p:cNvSpPr txBox="1"/>
          <p:nvPr/>
        </p:nvSpPr>
        <p:spPr>
          <a:xfrm>
            <a:off x="364936" y="732787"/>
            <a:ext cx="11003280" cy="498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5725" defTabSz="720725">
              <a:lnSpc>
                <a:spcPct val="150000"/>
              </a:lnSpc>
              <a:tabLst>
                <a:tab pos="720725" algn="l"/>
              </a:tabLst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 operative scheduling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EB08B24-3933-4FB7-8FE5-C11E6C9CBE1E}"/>
              </a:ext>
            </a:extLst>
          </p:cNvPr>
          <p:cNvSpPr/>
          <p:nvPr/>
        </p:nvSpPr>
        <p:spPr>
          <a:xfrm>
            <a:off x="1451921" y="1576484"/>
            <a:ext cx="1427204" cy="651271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Task1</a:t>
            </a:r>
          </a:p>
          <a:p>
            <a:pPr algn="ctr"/>
            <a:r>
              <a:rPr lang="en-IN" dirty="0"/>
              <a:t>Priority 2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550D5A5-CCE0-57E9-E495-F1E3D627599D}"/>
              </a:ext>
            </a:extLst>
          </p:cNvPr>
          <p:cNvSpPr/>
          <p:nvPr/>
        </p:nvSpPr>
        <p:spPr>
          <a:xfrm>
            <a:off x="6851822" y="1600333"/>
            <a:ext cx="1427204" cy="651271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Task4</a:t>
            </a:r>
          </a:p>
          <a:p>
            <a:pPr algn="ctr"/>
            <a:r>
              <a:rPr lang="en-IN" dirty="0"/>
              <a:t>Priority 2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CF314F3-8391-1F8D-2C09-BEB78F3AEB27}"/>
              </a:ext>
            </a:extLst>
          </p:cNvPr>
          <p:cNvSpPr/>
          <p:nvPr/>
        </p:nvSpPr>
        <p:spPr>
          <a:xfrm>
            <a:off x="3237472" y="1587975"/>
            <a:ext cx="1427204" cy="651271"/>
          </a:xfrm>
          <a:prstGeom prst="round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Task2</a:t>
            </a:r>
          </a:p>
          <a:p>
            <a:pPr algn="ctr"/>
            <a:r>
              <a:rPr lang="en-IN" dirty="0"/>
              <a:t>Priority 4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BB7EA81-B202-501A-5454-56CCD27A6D4B}"/>
              </a:ext>
            </a:extLst>
          </p:cNvPr>
          <p:cNvSpPr/>
          <p:nvPr/>
        </p:nvSpPr>
        <p:spPr>
          <a:xfrm>
            <a:off x="5023024" y="1604810"/>
            <a:ext cx="1427204" cy="651271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Task3</a:t>
            </a:r>
          </a:p>
          <a:p>
            <a:pPr algn="ctr"/>
            <a:r>
              <a:rPr lang="en-IN" dirty="0"/>
              <a:t>Priority 3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ECB7739-1684-661B-3BAE-022BDA464579}"/>
              </a:ext>
            </a:extLst>
          </p:cNvPr>
          <p:cNvCxnSpPr/>
          <p:nvPr/>
        </p:nvCxnSpPr>
        <p:spPr>
          <a:xfrm>
            <a:off x="1062681" y="1421025"/>
            <a:ext cx="7599405" cy="0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49E3D52-730C-8840-A8DF-812E6EFAEC54}"/>
              </a:ext>
            </a:extLst>
          </p:cNvPr>
          <p:cNvCxnSpPr/>
          <p:nvPr/>
        </p:nvCxnSpPr>
        <p:spPr>
          <a:xfrm>
            <a:off x="1054442" y="2426043"/>
            <a:ext cx="7599405" cy="0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022640D-AA98-7931-0667-2C302A095D37}"/>
              </a:ext>
            </a:extLst>
          </p:cNvPr>
          <p:cNvSpPr/>
          <p:nvPr/>
        </p:nvSpPr>
        <p:spPr>
          <a:xfrm>
            <a:off x="682574" y="3972424"/>
            <a:ext cx="705773" cy="651271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Scheduler</a:t>
            </a:r>
            <a:r>
              <a:rPr lang="en-IN" b="1" dirty="0"/>
              <a:t> 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97D42DA5-AC5D-6C5E-EC40-B8FF6F8A9026}"/>
              </a:ext>
            </a:extLst>
          </p:cNvPr>
          <p:cNvSpPr/>
          <p:nvPr/>
        </p:nvSpPr>
        <p:spPr>
          <a:xfrm>
            <a:off x="1395756" y="3970838"/>
            <a:ext cx="4536414" cy="651271"/>
          </a:xfrm>
          <a:prstGeom prst="round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Task2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3571278-8C5B-5ACA-E15B-0C27312C75E7}"/>
              </a:ext>
            </a:extLst>
          </p:cNvPr>
          <p:cNvSpPr txBox="1"/>
          <p:nvPr/>
        </p:nvSpPr>
        <p:spPr>
          <a:xfrm>
            <a:off x="4384301" y="2509583"/>
            <a:ext cx="127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Ready List</a:t>
            </a:r>
            <a:endParaRPr lang="en-IN" b="1" dirty="0">
              <a:solidFill>
                <a:srgbClr val="00B050"/>
              </a:solidFill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BEA146B9-95D1-2CE5-55B8-B368675AF128}"/>
              </a:ext>
            </a:extLst>
          </p:cNvPr>
          <p:cNvCxnSpPr>
            <a:cxnSpLocks/>
          </p:cNvCxnSpPr>
          <p:nvPr/>
        </p:nvCxnSpPr>
        <p:spPr>
          <a:xfrm flipV="1">
            <a:off x="662254" y="5247083"/>
            <a:ext cx="10854243" cy="40783"/>
          </a:xfrm>
          <a:prstGeom prst="line">
            <a:avLst/>
          </a:prstGeom>
          <a:ln w="19050"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9E9D416-94DD-7AA0-C041-9DD99531285B}"/>
              </a:ext>
            </a:extLst>
          </p:cNvPr>
          <p:cNvCxnSpPr>
            <a:cxnSpLocks/>
          </p:cNvCxnSpPr>
          <p:nvPr/>
        </p:nvCxnSpPr>
        <p:spPr>
          <a:xfrm flipV="1">
            <a:off x="682574" y="4832861"/>
            <a:ext cx="0" cy="45500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FD62EED0-C994-B890-DC18-631D5F63F5E8}"/>
              </a:ext>
            </a:extLst>
          </p:cNvPr>
          <p:cNvCxnSpPr>
            <a:cxnSpLocks/>
          </p:cNvCxnSpPr>
          <p:nvPr/>
        </p:nvCxnSpPr>
        <p:spPr>
          <a:xfrm flipV="1">
            <a:off x="2809785" y="4832862"/>
            <a:ext cx="0" cy="45500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91E05539-0FA5-537D-C278-BAB61E545045}"/>
              </a:ext>
            </a:extLst>
          </p:cNvPr>
          <p:cNvCxnSpPr>
            <a:cxnSpLocks/>
          </p:cNvCxnSpPr>
          <p:nvPr/>
        </p:nvCxnSpPr>
        <p:spPr>
          <a:xfrm flipV="1">
            <a:off x="4948528" y="4832861"/>
            <a:ext cx="0" cy="45500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7A89E689-D1B3-FC53-6AAF-7B92476BC6D0}"/>
              </a:ext>
            </a:extLst>
          </p:cNvPr>
          <p:cNvCxnSpPr>
            <a:cxnSpLocks/>
          </p:cNvCxnSpPr>
          <p:nvPr/>
        </p:nvCxnSpPr>
        <p:spPr>
          <a:xfrm flipV="1">
            <a:off x="7140403" y="4792080"/>
            <a:ext cx="0" cy="45500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A6802CD0-F31C-E642-0DED-934484EDA110}"/>
              </a:ext>
            </a:extLst>
          </p:cNvPr>
          <p:cNvCxnSpPr>
            <a:cxnSpLocks/>
          </p:cNvCxnSpPr>
          <p:nvPr/>
        </p:nvCxnSpPr>
        <p:spPr>
          <a:xfrm flipV="1">
            <a:off x="660167" y="3553719"/>
            <a:ext cx="0" cy="174575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1994EA7-0940-EEF4-6F3C-376CAD3FE375}"/>
              </a:ext>
            </a:extLst>
          </p:cNvPr>
          <p:cNvCxnSpPr>
            <a:cxnSpLocks/>
          </p:cNvCxnSpPr>
          <p:nvPr/>
        </p:nvCxnSpPr>
        <p:spPr>
          <a:xfrm flipV="1">
            <a:off x="9256207" y="4792079"/>
            <a:ext cx="0" cy="45500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350021A-57D5-0695-0EFB-83A4291E5879}"/>
              </a:ext>
            </a:extLst>
          </p:cNvPr>
          <p:cNvSpPr/>
          <p:nvPr/>
        </p:nvSpPr>
        <p:spPr>
          <a:xfrm>
            <a:off x="5939579" y="3970838"/>
            <a:ext cx="705773" cy="651271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Scheduler</a:t>
            </a:r>
            <a:r>
              <a:rPr lang="en-IN" b="1" dirty="0"/>
              <a:t> 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C90EA816-9F1C-7124-57B1-7AF9369496CD}"/>
              </a:ext>
            </a:extLst>
          </p:cNvPr>
          <p:cNvSpPr/>
          <p:nvPr/>
        </p:nvSpPr>
        <p:spPr>
          <a:xfrm>
            <a:off x="8903320" y="3957689"/>
            <a:ext cx="705773" cy="651271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Scheduler</a:t>
            </a:r>
            <a:r>
              <a:rPr lang="en-IN" b="1" dirty="0"/>
              <a:t> </a:t>
            </a:r>
          </a:p>
        </p:txBody>
      </p:sp>
      <p:sp>
        <p:nvSpPr>
          <p:cNvPr id="21" name="Arrow: Curved Down 20">
            <a:extLst>
              <a:ext uri="{FF2B5EF4-FFF2-40B4-BE49-F238E27FC236}">
                <a16:creationId xmlns:a16="http://schemas.microsoft.com/office/drawing/2014/main" id="{85DFD94A-CF52-2D36-0D61-371EC8408119}"/>
              </a:ext>
            </a:extLst>
          </p:cNvPr>
          <p:cNvSpPr/>
          <p:nvPr/>
        </p:nvSpPr>
        <p:spPr>
          <a:xfrm>
            <a:off x="5725872" y="3579832"/>
            <a:ext cx="427414" cy="250908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F2F6F6B-B375-A336-D4AE-45EC24ADAE18}"/>
              </a:ext>
            </a:extLst>
          </p:cNvPr>
          <p:cNvSpPr txBox="1"/>
          <p:nvPr/>
        </p:nvSpPr>
        <p:spPr>
          <a:xfrm>
            <a:off x="5130787" y="3228130"/>
            <a:ext cx="147157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Yielding</a:t>
            </a:r>
            <a:endParaRPr lang="en-IN" sz="1600" b="1" dirty="0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F413015-1368-DE3B-7F1B-94BE08E5ECDA}"/>
              </a:ext>
            </a:extLst>
          </p:cNvPr>
          <p:cNvSpPr/>
          <p:nvPr/>
        </p:nvSpPr>
        <p:spPr>
          <a:xfrm>
            <a:off x="6645351" y="3957690"/>
            <a:ext cx="2232429" cy="651271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Task3</a:t>
            </a:r>
          </a:p>
        </p:txBody>
      </p:sp>
      <p:sp>
        <p:nvSpPr>
          <p:cNvPr id="29" name="Arrow: Curved Down 28">
            <a:extLst>
              <a:ext uri="{FF2B5EF4-FFF2-40B4-BE49-F238E27FC236}">
                <a16:creationId xmlns:a16="http://schemas.microsoft.com/office/drawing/2014/main" id="{2365B648-9249-A5F3-9B6D-B08C27050E27}"/>
              </a:ext>
            </a:extLst>
          </p:cNvPr>
          <p:cNvSpPr/>
          <p:nvPr/>
        </p:nvSpPr>
        <p:spPr>
          <a:xfrm>
            <a:off x="8644621" y="3593071"/>
            <a:ext cx="427414" cy="250908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22E3AAB-3FBC-E6E2-B56E-9F8B6B174E13}"/>
              </a:ext>
            </a:extLst>
          </p:cNvPr>
          <p:cNvSpPr txBox="1"/>
          <p:nvPr/>
        </p:nvSpPr>
        <p:spPr>
          <a:xfrm>
            <a:off x="8049536" y="3241369"/>
            <a:ext cx="147157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Yielding</a:t>
            </a:r>
            <a:endParaRPr lang="en-IN" sz="1600" b="1" dirty="0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FEE73AC2-4FA1-DCE1-06E7-8776DFA84D7D}"/>
              </a:ext>
            </a:extLst>
          </p:cNvPr>
          <p:cNvSpPr/>
          <p:nvPr/>
        </p:nvSpPr>
        <p:spPr>
          <a:xfrm>
            <a:off x="9631499" y="3957688"/>
            <a:ext cx="1427204" cy="651271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Task1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52772BD-BD73-E1CF-C8DB-71CD278E5BFB}"/>
              </a:ext>
            </a:extLst>
          </p:cNvPr>
          <p:cNvGrpSpPr/>
          <p:nvPr/>
        </p:nvGrpSpPr>
        <p:grpSpPr>
          <a:xfrm>
            <a:off x="0" y="6466566"/>
            <a:ext cx="12192000" cy="403007"/>
            <a:chOff x="0" y="6478141"/>
            <a:chExt cx="12192000" cy="403007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F33E8D6-C5B2-1924-1F98-4222BB5F3B95}"/>
                </a:ext>
              </a:extLst>
            </p:cNvPr>
            <p:cNvSpPr/>
            <p:nvPr/>
          </p:nvSpPr>
          <p:spPr>
            <a:xfrm>
              <a:off x="0" y="6484069"/>
              <a:ext cx="12192000" cy="397079"/>
            </a:xfrm>
            <a:prstGeom prst="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dirty="0"/>
                <a:t>                   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Jai Raja Saravanam S                                                                                                        </a:t>
              </a:r>
              <a:r>
                <a:rPr lang="en-IN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Emcog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Solutions</a:t>
              </a:r>
              <a:r>
                <a:rPr lang="en-IN" dirty="0"/>
                <a:t> </a:t>
              </a: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843DBB39-5399-C5B3-7D67-4E5A10F98BE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734477" y="6478141"/>
              <a:ext cx="349866" cy="3830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8064357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DC46E-4B1C-4CCC-3480-A71B56CD8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9C91BE1-FAAF-F3A6-0844-C150CBF25AE2}"/>
              </a:ext>
            </a:extLst>
          </p:cNvPr>
          <p:cNvSpPr txBox="1">
            <a:spLocks/>
          </p:cNvSpPr>
          <p:nvPr/>
        </p:nvSpPr>
        <p:spPr>
          <a:xfrm>
            <a:off x="547992" y="232586"/>
            <a:ext cx="11096011" cy="60133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Activity 9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8C25FA-9DEE-72FA-930F-0E18EDF323C5}"/>
              </a:ext>
            </a:extLst>
          </p:cNvPr>
          <p:cNvSpPr txBox="1"/>
          <p:nvPr/>
        </p:nvSpPr>
        <p:spPr>
          <a:xfrm>
            <a:off x="426720" y="914944"/>
            <a:ext cx="11217283" cy="4807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two tasks (UART) with same priority and use </a:t>
            </a:r>
          </a:p>
          <a:p>
            <a:pPr marL="1165225" indent="354013">
              <a:lnSpc>
                <a:spcPct val="150000"/>
              </a:lnSpc>
              <a:spcAft>
                <a:spcPts val="600"/>
              </a:spcAft>
              <a:buFont typeface="+mj-lt"/>
              <a:buAutoNum type="romanL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Round Robin Scheduling Mechanism .</a:t>
            </a:r>
          </a:p>
          <a:p>
            <a:pPr marL="1165225" indent="354013">
              <a:lnSpc>
                <a:spcPct val="150000"/>
              </a:lnSpc>
              <a:spcAft>
                <a:spcPts val="600"/>
              </a:spcAft>
              <a:buFont typeface="+mj-lt"/>
              <a:buAutoNum type="romanL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Based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Preemptive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scheduling</a:t>
            </a:r>
          </a:p>
          <a:p>
            <a:pPr marL="1165225" indent="354013">
              <a:lnSpc>
                <a:spcPct val="150000"/>
              </a:lnSpc>
              <a:spcAft>
                <a:spcPts val="600"/>
              </a:spcAft>
              <a:buFont typeface="+mj-lt"/>
              <a:buAutoNum type="romanL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 operative scheduling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Objective:</a:t>
            </a:r>
          </a:p>
          <a:p>
            <a:pPr marL="1257300" lvl="2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understand Round Robin scheduling mechanism</a:t>
            </a:r>
          </a:p>
          <a:p>
            <a:pPr marL="1257300" lvl="2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understand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Based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Preemptive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scheduling mechanism</a:t>
            </a:r>
          </a:p>
          <a:p>
            <a:pPr marL="1257300" lvl="2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understand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 operative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scheduling mechanism</a:t>
            </a:r>
          </a:p>
          <a:p>
            <a:pPr marL="1257300" lvl="2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628CE5B-5A6C-BF82-4DC1-475763A294C5}"/>
              </a:ext>
            </a:extLst>
          </p:cNvPr>
          <p:cNvGrpSpPr/>
          <p:nvPr/>
        </p:nvGrpSpPr>
        <p:grpSpPr>
          <a:xfrm>
            <a:off x="0" y="6466566"/>
            <a:ext cx="12192000" cy="403007"/>
            <a:chOff x="0" y="6478141"/>
            <a:chExt cx="12192000" cy="403007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D15FD4A-C4EF-15F3-0F8B-8CA3255885A7}"/>
                </a:ext>
              </a:extLst>
            </p:cNvPr>
            <p:cNvSpPr/>
            <p:nvPr/>
          </p:nvSpPr>
          <p:spPr>
            <a:xfrm>
              <a:off x="0" y="6484069"/>
              <a:ext cx="12192000" cy="397079"/>
            </a:xfrm>
            <a:prstGeom prst="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dirty="0"/>
                <a:t>                   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Jai Raja Saravanam S                                                                                                        </a:t>
              </a:r>
              <a:r>
                <a:rPr lang="en-IN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Emcog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Solutions</a:t>
              </a:r>
              <a:r>
                <a:rPr lang="en-IN" dirty="0"/>
                <a:t> </a:t>
              </a: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23A3683-6FBB-8555-CCF8-AA04B54D688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734477" y="6478141"/>
              <a:ext cx="349866" cy="3830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806747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E09DF1-25A2-CEF2-3C77-65B0369D1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7B8997F8-F197-58DF-9B94-D03F25E5BE84}"/>
              </a:ext>
            </a:extLst>
          </p:cNvPr>
          <p:cNvSpPr txBox="1">
            <a:spLocks/>
          </p:cNvSpPr>
          <p:nvPr/>
        </p:nvSpPr>
        <p:spPr>
          <a:xfrm>
            <a:off x="547992" y="232586"/>
            <a:ext cx="11096011" cy="60133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Synchronization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26E645-808C-5940-792D-037E641CF6F5}"/>
              </a:ext>
            </a:extLst>
          </p:cNvPr>
          <p:cNvSpPr txBox="1"/>
          <p:nvPr/>
        </p:nvSpPr>
        <p:spPr>
          <a:xfrm>
            <a:off x="426720" y="914944"/>
            <a:ext cx="11217283" cy="3976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 32 bit array of notification value. 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 event sent directly to a task. When notification is sent, the receiving task gets unblocked.</a:t>
            </a:r>
          </a:p>
          <a:p>
            <a:pPr algn="ctr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RTOS API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 :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sz="20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N" sz="2000" b="1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configUSE_TASK_NOTIFICATIONS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FreeRTOSConfig.h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must be set 1 to enable direct to task notification feature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2000" b="1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configTASK_NOTIFICATION_ARRAY_ENTRIES</a:t>
            </a:r>
            <a:r>
              <a:rPr lang="en-US" sz="20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sets the number of indexes in each task's array of task notifications.</a:t>
            </a:r>
          </a:p>
          <a:p>
            <a:pPr>
              <a:lnSpc>
                <a:spcPct val="150000"/>
              </a:lnSpc>
            </a:pPr>
            <a:r>
              <a:rPr lang="en-IN" sz="20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xTaskNotifyWait</a:t>
            </a:r>
            <a:r>
              <a:rPr lang="en-IN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>
              <a:lnSpc>
                <a:spcPct val="150000"/>
              </a:lnSpc>
            </a:pPr>
            <a:r>
              <a:rPr lang="en-IN" sz="20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xTaskNotify</a:t>
            </a:r>
            <a:r>
              <a:rPr lang="en-IN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537BFF8-7AC4-A6AF-1351-7FAE03B1D55D}"/>
              </a:ext>
            </a:extLst>
          </p:cNvPr>
          <p:cNvGrpSpPr/>
          <p:nvPr/>
        </p:nvGrpSpPr>
        <p:grpSpPr>
          <a:xfrm>
            <a:off x="0" y="6466566"/>
            <a:ext cx="12192000" cy="403007"/>
            <a:chOff x="0" y="6478141"/>
            <a:chExt cx="12192000" cy="403007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45E79C8-B7D6-E6CC-87F2-155746186E8A}"/>
                </a:ext>
              </a:extLst>
            </p:cNvPr>
            <p:cNvSpPr/>
            <p:nvPr/>
          </p:nvSpPr>
          <p:spPr>
            <a:xfrm>
              <a:off x="0" y="6484069"/>
              <a:ext cx="12192000" cy="397079"/>
            </a:xfrm>
            <a:prstGeom prst="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dirty="0"/>
                <a:t>                   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Jai Raja Saravanam S                                                                                                        </a:t>
              </a:r>
              <a:r>
                <a:rPr lang="en-IN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Emcog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Solutions</a:t>
              </a:r>
              <a:r>
                <a:rPr lang="en-IN" dirty="0"/>
                <a:t> </a:t>
              </a: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609F2A3E-BE72-42F1-DEB0-E3E6D236AA3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734477" y="6478141"/>
              <a:ext cx="349866" cy="3830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2073572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5DA03D-C731-6AD5-5DA7-1DAC2E392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1CA3CDD-5A7D-A164-CB4F-39E91346F4AB}"/>
              </a:ext>
            </a:extLst>
          </p:cNvPr>
          <p:cNvSpPr txBox="1">
            <a:spLocks/>
          </p:cNvSpPr>
          <p:nvPr/>
        </p:nvSpPr>
        <p:spPr>
          <a:xfrm>
            <a:off x="547992" y="107871"/>
            <a:ext cx="11096011" cy="60133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 to Task Notification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A5CF0C-58CF-7FD7-05E5-34B0A9A396A5}"/>
              </a:ext>
            </a:extLst>
          </p:cNvPr>
          <p:cNvSpPr txBox="1"/>
          <p:nvPr/>
        </p:nvSpPr>
        <p:spPr>
          <a:xfrm>
            <a:off x="426720" y="594904"/>
            <a:ext cx="11217283" cy="5777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has a 32 bit array of notification value and has a state . 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 event sent directly to a task. When notification is sent, the receiving task gets unblocked and optionally its notification value is updated.</a:t>
            </a:r>
          </a:p>
          <a:p>
            <a:pPr>
              <a:spcAft>
                <a:spcPts val="600"/>
              </a:spcAft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to use ?</a:t>
            </a:r>
          </a:p>
          <a:p>
            <a:pPr>
              <a:spcAft>
                <a:spcPts val="600"/>
              </a:spcAft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1. Small amount of data (32bit) can be transmitted</a:t>
            </a:r>
          </a:p>
          <a:p>
            <a:pPr>
              <a:spcAft>
                <a:spcPts val="600"/>
              </a:spcAft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2. Only one task needs the data </a:t>
            </a:r>
          </a:p>
          <a:p>
            <a:pPr algn="ctr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RTOS API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 :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sz="20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N" sz="2000" b="1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configUSE_TASK_NOTIFICATIONS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FreeRTOSConfig.h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must be set 1 to enable direct to task notification feature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2000" b="1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configTASK_NOTIFICATION_ARRAY_ENTRIES</a:t>
            </a:r>
            <a:r>
              <a:rPr lang="en-US" sz="20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sets the number of indexes in each task's array of task notifications.</a:t>
            </a:r>
          </a:p>
          <a:p>
            <a:pPr>
              <a:lnSpc>
                <a:spcPct val="150000"/>
              </a:lnSpc>
            </a:pPr>
            <a:r>
              <a:rPr lang="en-IN" sz="20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xTaskNotifyWait</a:t>
            </a:r>
            <a:r>
              <a:rPr lang="en-IN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>
              <a:lnSpc>
                <a:spcPct val="150000"/>
              </a:lnSpc>
            </a:pPr>
            <a:r>
              <a:rPr lang="en-IN" sz="20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xTaskNotify</a:t>
            </a:r>
            <a:r>
              <a:rPr lang="en-IN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A2DB9F7-5958-C7DC-B041-B92F2F76D0F4}"/>
              </a:ext>
            </a:extLst>
          </p:cNvPr>
          <p:cNvGrpSpPr/>
          <p:nvPr/>
        </p:nvGrpSpPr>
        <p:grpSpPr>
          <a:xfrm>
            <a:off x="0" y="6466566"/>
            <a:ext cx="12192000" cy="403007"/>
            <a:chOff x="0" y="6478141"/>
            <a:chExt cx="12192000" cy="403007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4854F679-DF59-F236-7401-A875B0C71CCC}"/>
                </a:ext>
              </a:extLst>
            </p:cNvPr>
            <p:cNvSpPr/>
            <p:nvPr/>
          </p:nvSpPr>
          <p:spPr>
            <a:xfrm>
              <a:off x="0" y="6484069"/>
              <a:ext cx="12192000" cy="397079"/>
            </a:xfrm>
            <a:prstGeom prst="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dirty="0"/>
                <a:t>                   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Jai Raja Saravanam S                                                                                                        </a:t>
              </a:r>
              <a:r>
                <a:rPr lang="en-IN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Emcog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Solutions</a:t>
              </a:r>
              <a:r>
                <a:rPr lang="en-IN" dirty="0"/>
                <a:t> </a:t>
              </a: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2796DEA-9543-F4F4-E834-68143A3CF02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734477" y="6478141"/>
              <a:ext cx="349866" cy="3830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5347967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F6A15F-C9EA-5954-043A-0AB42842A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76B8584-184D-831E-23CA-8F1767E00C43}"/>
              </a:ext>
            </a:extLst>
          </p:cNvPr>
          <p:cNvSpPr txBox="1">
            <a:spLocks/>
          </p:cNvSpPr>
          <p:nvPr/>
        </p:nvSpPr>
        <p:spPr>
          <a:xfrm>
            <a:off x="547992" y="150323"/>
            <a:ext cx="11096011" cy="60133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Notification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27423C-7D76-A219-29A2-A272F10CAAEA}"/>
              </a:ext>
            </a:extLst>
          </p:cNvPr>
          <p:cNvSpPr txBox="1"/>
          <p:nvPr/>
        </p:nvSpPr>
        <p:spPr>
          <a:xfrm>
            <a:off x="3043464" y="359547"/>
            <a:ext cx="6098720" cy="7425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RTOS API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2A5C31D-02C8-F389-3835-68229F3579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4825433"/>
              </p:ext>
            </p:extLst>
          </p:nvPr>
        </p:nvGraphicFramePr>
        <p:xfrm>
          <a:off x="891250" y="1066637"/>
          <a:ext cx="10637006" cy="553151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18503">
                  <a:extLst>
                    <a:ext uri="{9D8B030D-6E8A-4147-A177-3AD203B41FA5}">
                      <a16:colId xmlns:a16="http://schemas.microsoft.com/office/drawing/2014/main" val="501439961"/>
                    </a:ext>
                  </a:extLst>
                </a:gridCol>
                <a:gridCol w="5318503">
                  <a:extLst>
                    <a:ext uri="{9D8B030D-6E8A-4147-A177-3AD203B41FA5}">
                      <a16:colId xmlns:a16="http://schemas.microsoft.com/office/drawing/2014/main" val="681875728"/>
                    </a:ext>
                  </a:extLst>
                </a:gridCol>
              </a:tblGrid>
              <a:tr h="122522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dirty="0"/>
                        <a:t>xTaskNotifyGive() / </a:t>
                      </a:r>
                      <a:r>
                        <a:rPr lang="en-IN" dirty="0" err="1"/>
                        <a:t>xTaskNotifyGiveIndexed</a:t>
                      </a:r>
                      <a:r>
                        <a:rPr lang="en-IN" dirty="0"/>
                        <a:t>()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dirty="0" err="1"/>
                        <a:t>vTaskNotifyGiveFromISR</a:t>
                      </a:r>
                      <a:r>
                        <a:rPr lang="en-IN" dirty="0"/>
                        <a:t>() / </a:t>
                      </a:r>
                      <a:r>
                        <a:rPr lang="en-IN" dirty="0" err="1"/>
                        <a:t>vTaskNotifyGiveIndexedFromISR</a:t>
                      </a:r>
                      <a:r>
                        <a:rPr lang="en-IN" dirty="0"/>
                        <a:t>()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ulTaskNotifyTake</a:t>
                      </a:r>
                      <a:r>
                        <a:rPr lang="en-IN" dirty="0"/>
                        <a:t>() / </a:t>
                      </a:r>
                      <a:r>
                        <a:rPr lang="en-IN" dirty="0" err="1"/>
                        <a:t>ulTaskNotifyTakeIndexed</a:t>
                      </a:r>
                      <a:r>
                        <a:rPr lang="en-IN" dirty="0"/>
                        <a:t>()</a:t>
                      </a:r>
                    </a:p>
                    <a:p>
                      <a:r>
                        <a:rPr lang="en-IN" dirty="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IN" b="1" dirty="0">
                          <a:solidFill>
                            <a:schemeClr val="accent6"/>
                          </a:solidFill>
                          <a:sym typeface="Wingdings" panose="05000000000000000000" pitchFamily="2" charset="2"/>
                        </a:rPr>
                        <a:t> Increments the receiving tasks notification value</a:t>
                      </a:r>
                      <a:endParaRPr lang="en-IN" b="1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2288912"/>
                  </a:ext>
                </a:extLst>
              </a:tr>
              <a:tr h="1155175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dirty="0" err="1"/>
                        <a:t>xTaskNotify</a:t>
                      </a:r>
                      <a:r>
                        <a:rPr lang="en-IN" dirty="0"/>
                        <a:t>() / </a:t>
                      </a:r>
                      <a:r>
                        <a:rPr lang="en-IN" dirty="0" err="1"/>
                        <a:t>xTaskNotifyIndexed</a:t>
                      </a:r>
                      <a:r>
                        <a:rPr lang="en-IN" dirty="0"/>
                        <a:t>()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dirty="0" err="1"/>
                        <a:t>xTaskNotifyFromISR</a:t>
                      </a:r>
                      <a:r>
                        <a:rPr lang="en-IN" dirty="0"/>
                        <a:t>() / </a:t>
                      </a:r>
                      <a:r>
                        <a:rPr lang="en-IN" dirty="0" err="1"/>
                        <a:t>xTaskNotifyFromISRIndexed</a:t>
                      </a:r>
                      <a:r>
                        <a:rPr lang="en-IN" dirty="0"/>
                        <a:t>()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xTaskNotifyWait</a:t>
                      </a:r>
                      <a:r>
                        <a:rPr lang="en-IN" dirty="0"/>
                        <a:t>() / </a:t>
                      </a:r>
                      <a:r>
                        <a:rPr lang="en-IN" dirty="0" err="1"/>
                        <a:t>xTaskNotifyWaitIndexed</a:t>
                      </a:r>
                      <a:r>
                        <a:rPr lang="en-IN" dirty="0"/>
                        <a:t>()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2338338"/>
                  </a:ext>
                </a:extLst>
              </a:tr>
              <a:tr h="1812847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dirty="0" err="1"/>
                        <a:t>xTaskNotifyAndQuery</a:t>
                      </a:r>
                      <a:r>
                        <a:rPr lang="en-IN" dirty="0"/>
                        <a:t>() / </a:t>
                      </a:r>
                      <a:r>
                        <a:rPr lang="en-IN" dirty="0" err="1"/>
                        <a:t>xTaskNotifyAndQueryIndexed</a:t>
                      </a:r>
                      <a:r>
                        <a:rPr lang="en-IN" dirty="0"/>
                        <a:t>()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dirty="0" err="1"/>
                        <a:t>xTaskNotifyAndQueryFromISR</a:t>
                      </a:r>
                      <a:r>
                        <a:rPr lang="en-IN" dirty="0"/>
                        <a:t> / </a:t>
                      </a:r>
                      <a:r>
                        <a:rPr lang="en-IN" dirty="0" err="1"/>
                        <a:t>xTaskNotifyAndQueryFromISRIndexed</a:t>
                      </a:r>
                      <a:r>
                        <a:rPr lang="en-IN" dirty="0"/>
                        <a:t>()/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6376263"/>
                  </a:ext>
                </a:extLst>
              </a:tr>
              <a:tr h="576815">
                <a:tc>
                  <a:txBody>
                    <a:bodyPr/>
                    <a:lstStyle/>
                    <a:p>
                      <a:r>
                        <a:rPr lang="en-IN" dirty="0" err="1"/>
                        <a:t>xTaskNotifyStateClear</a:t>
                      </a:r>
                      <a:r>
                        <a:rPr lang="en-IN" dirty="0"/>
                        <a:t>() / </a:t>
                      </a:r>
                      <a:r>
                        <a:rPr lang="en-IN" dirty="0" err="1"/>
                        <a:t>xTaskNotifyStateClearIndexed</a:t>
                      </a:r>
                      <a:r>
                        <a:rPr lang="en-IN" dirty="0"/>
                        <a:t>()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IN" b="1" dirty="0">
                          <a:solidFill>
                            <a:schemeClr val="accent6"/>
                          </a:solidFill>
                          <a:sym typeface="Wingdings" panose="05000000000000000000" pitchFamily="2" charset="2"/>
                        </a:rPr>
                        <a:t>Read </a:t>
                      </a:r>
                      <a:r>
                        <a:rPr lang="en-IN" b="1" dirty="0" err="1">
                          <a:solidFill>
                            <a:schemeClr val="accent6"/>
                          </a:solidFill>
                          <a:sym typeface="Wingdings" panose="05000000000000000000" pitchFamily="2" charset="2"/>
                        </a:rPr>
                        <a:t>notication</a:t>
                      </a:r>
                      <a:r>
                        <a:rPr lang="en-IN" b="1" dirty="0">
                          <a:solidFill>
                            <a:schemeClr val="accent6"/>
                          </a:solidFill>
                          <a:sym typeface="Wingdings" panose="05000000000000000000" pitchFamily="2" charset="2"/>
                        </a:rPr>
                        <a:t> value or explicitly call this to clear pending state </a:t>
                      </a:r>
                      <a:endParaRPr lang="en-IN" b="1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4036760"/>
                  </a:ext>
                </a:extLst>
              </a:tr>
              <a:tr h="576815">
                <a:tc>
                  <a:txBody>
                    <a:bodyPr/>
                    <a:lstStyle/>
                    <a:p>
                      <a:r>
                        <a:rPr lang="en-IN" dirty="0" err="1"/>
                        <a:t>ulTasknotifyValueClear</a:t>
                      </a:r>
                      <a:r>
                        <a:rPr lang="en-IN" dirty="0"/>
                        <a:t>() / </a:t>
                      </a:r>
                      <a:r>
                        <a:rPr lang="en-IN" dirty="0" err="1"/>
                        <a:t>ulTasknotifyValueClearIndexed</a:t>
                      </a:r>
                      <a:r>
                        <a:rPr lang="en-IN" dirty="0"/>
                        <a:t>()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IN" b="1" dirty="0">
                          <a:solidFill>
                            <a:schemeClr val="accent6"/>
                          </a:solidFill>
                          <a:sym typeface="Wingdings" panose="05000000000000000000" pitchFamily="2" charset="2"/>
                        </a:rPr>
                        <a:t>Clears a bit in notification value of a task</a:t>
                      </a:r>
                      <a:endParaRPr lang="en-IN" b="1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96619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435246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4B9CD-F848-BB73-EA4B-12CD533C1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5C31F43-A662-E953-4687-1FA1676F6723}"/>
              </a:ext>
            </a:extLst>
          </p:cNvPr>
          <p:cNvSpPr txBox="1">
            <a:spLocks/>
          </p:cNvSpPr>
          <p:nvPr/>
        </p:nvSpPr>
        <p:spPr>
          <a:xfrm>
            <a:off x="547992" y="-10480"/>
            <a:ext cx="11096011" cy="60133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Notification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C68F8F-1B42-8E14-0073-B40E3C20886D}"/>
              </a:ext>
            </a:extLst>
          </p:cNvPr>
          <p:cNvSpPr txBox="1"/>
          <p:nvPr/>
        </p:nvSpPr>
        <p:spPr>
          <a:xfrm>
            <a:off x="834595" y="1207830"/>
            <a:ext cx="10731276" cy="40011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>
              <a:buNone/>
            </a:pPr>
            <a:r>
              <a:rPr lang="en-IN" sz="2000" b="0" i="0" dirty="0" err="1">
                <a:solidFill>
                  <a:srgbClr val="393A3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BaseType_t</a:t>
            </a:r>
            <a:r>
              <a:rPr lang="en-IN" sz="2000" b="0" i="0" dirty="0">
                <a:solidFill>
                  <a:srgbClr val="393A3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i="0" dirty="0">
                <a:solidFill>
                  <a:srgbClr val="393A3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xTaskNotify</a:t>
            </a:r>
            <a:r>
              <a:rPr lang="en-IN" sz="2000" b="1" i="0" dirty="0">
                <a:solidFill>
                  <a:srgbClr val="D73A4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0" i="0" dirty="0">
                <a:solidFill>
                  <a:srgbClr val="393A3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en-IN" sz="2000" b="0" i="0" dirty="0" err="1">
                <a:solidFill>
                  <a:srgbClr val="393A3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TaskHandle_t</a:t>
            </a:r>
            <a:r>
              <a:rPr lang="en-IN" sz="2000" b="0" i="0" dirty="0">
                <a:solidFill>
                  <a:srgbClr val="393A3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i="0" dirty="0" err="1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xTaskToNotify</a:t>
            </a:r>
            <a:r>
              <a:rPr lang="en-IN" sz="2000" b="0" i="0" dirty="0">
                <a:solidFill>
                  <a:srgbClr val="393A3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uint32_t </a:t>
            </a:r>
            <a:r>
              <a:rPr lang="en-IN" sz="2000" b="1" i="0" dirty="0" err="1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ulValue</a:t>
            </a:r>
            <a:r>
              <a:rPr lang="en-IN" sz="2000" b="0" i="0" dirty="0">
                <a:solidFill>
                  <a:srgbClr val="393A3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IN" sz="2000" dirty="0">
                <a:solidFill>
                  <a:srgbClr val="393A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0" i="0" dirty="0" err="1">
                <a:solidFill>
                  <a:srgbClr val="393A3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eNotifyAction</a:t>
            </a:r>
            <a:r>
              <a:rPr lang="en-IN" sz="2000" b="0" i="0" dirty="0">
                <a:solidFill>
                  <a:srgbClr val="393A3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i="0" dirty="0" err="1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eAction</a:t>
            </a:r>
            <a:r>
              <a:rPr lang="en-IN" sz="2000" b="1" i="0" dirty="0">
                <a:solidFill>
                  <a:srgbClr val="393A3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0" i="0" dirty="0">
                <a:solidFill>
                  <a:srgbClr val="393A3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F49FDC-728C-95A7-94BA-4E1E84D7E5DC}"/>
              </a:ext>
            </a:extLst>
          </p:cNvPr>
          <p:cNvSpPr txBox="1"/>
          <p:nvPr/>
        </p:nvSpPr>
        <p:spPr>
          <a:xfrm>
            <a:off x="547992" y="1710183"/>
            <a:ext cx="10904868" cy="47551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en-IN" sz="2000" b="1" i="0" dirty="0" err="1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xTaskToNotify</a:t>
            </a:r>
            <a:r>
              <a:rPr lang="en-IN" sz="2000" b="1" i="0" dirty="0">
                <a:solidFill>
                  <a:srgbClr val="393A3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i="0" dirty="0">
                <a:solidFill>
                  <a:srgbClr val="393A3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n-IN" sz="2000" dirty="0">
                <a:solidFill>
                  <a:srgbClr val="393A34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H</a:t>
            </a:r>
            <a:r>
              <a:rPr lang="en-IN" sz="2000" i="0" dirty="0">
                <a:solidFill>
                  <a:srgbClr val="393A3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andle of a task</a:t>
            </a:r>
          </a:p>
          <a:p>
            <a:pPr algn="just">
              <a:spcAft>
                <a:spcPts val="600"/>
              </a:spcAft>
            </a:pPr>
            <a:r>
              <a:rPr lang="en-IN" sz="2000" b="1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ulValue</a:t>
            </a:r>
            <a:r>
              <a:rPr lang="en-IN" sz="2000" b="1" dirty="0">
                <a:solidFill>
                  <a:srgbClr val="393A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  <a:r>
              <a:rPr lang="en-IN" sz="2000" b="1" dirty="0">
                <a:solidFill>
                  <a:srgbClr val="393A34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n-IN" sz="2000" dirty="0">
                <a:solidFill>
                  <a:srgbClr val="393A34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Value of notification   </a:t>
            </a:r>
          </a:p>
          <a:p>
            <a:pPr algn="just">
              <a:spcAft>
                <a:spcPts val="600"/>
              </a:spcAft>
            </a:pPr>
            <a:r>
              <a:rPr lang="en-IN" sz="2000" b="1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eAction</a:t>
            </a:r>
            <a:r>
              <a:rPr lang="en-IN" sz="2000" b="1" dirty="0">
                <a:solidFill>
                  <a:srgbClr val="393A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  <a:r>
              <a:rPr lang="en-IN" sz="2000" b="1" dirty="0">
                <a:solidFill>
                  <a:srgbClr val="393A34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eNoAction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eSetBits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eIncrement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eSetValueWithOverwrite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eSetValueWithoutOverwrite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  <a:p>
            <a:pPr algn="just">
              <a:lnSpc>
                <a:spcPct val="150000"/>
              </a:lnSpc>
              <a:spcAft>
                <a:spcPts val="600"/>
              </a:spcAft>
            </a:pP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eNoAction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 No action is made to Receiving task’s value .</a:t>
            </a:r>
          </a:p>
          <a:p>
            <a:pPr algn="just">
              <a:lnSpc>
                <a:spcPct val="150000"/>
              </a:lnSpc>
              <a:spcAft>
                <a:spcPts val="600"/>
              </a:spcAft>
            </a:pP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eSetBits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The notification value of Receiving task is bitwise Ored with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ulValue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  <a:spcAft>
                <a:spcPts val="600"/>
              </a:spcAft>
            </a:pP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eIncrement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notification value of the target task will be incremented by one . Equivalent to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xTaskNotifyGive()</a:t>
            </a:r>
          </a:p>
          <a:p>
            <a:pPr algn="just">
              <a:lnSpc>
                <a:spcPct val="150000"/>
              </a:lnSpc>
              <a:spcAft>
                <a:spcPts val="600"/>
              </a:spcAft>
            </a:pP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eSetValueWithOverwrite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notification value of the target task is unconditionally set to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ulValue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.</a:t>
            </a:r>
          </a:p>
          <a:p>
            <a:pPr algn="just">
              <a:spcAft>
                <a:spcPts val="600"/>
              </a:spcAft>
            </a:pP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eSetValueWithoutOverwrite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target task does not already have a notification pending then its notification</a:t>
            </a:r>
          </a:p>
          <a:p>
            <a:pPr algn="just">
              <a:spcAft>
                <a:spcPts val="60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 will be set to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ulValue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spcAft>
                <a:spcPts val="60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If the target task already has a notification pending then its notification value is not updated as to do so would overwrite the previous value before it was used. In this case the call to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xTaskNotify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fails and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pdFALSE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returned.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954B622-DF60-9111-86F4-D4D8F5CBD923}"/>
              </a:ext>
            </a:extLst>
          </p:cNvPr>
          <p:cNvSpPr txBox="1"/>
          <p:nvPr/>
        </p:nvSpPr>
        <p:spPr>
          <a:xfrm>
            <a:off x="408008" y="422750"/>
            <a:ext cx="10731276" cy="579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xTaskNotify</a:t>
            </a: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F525261-C927-F3A9-8C89-0BE4826F66A2}"/>
              </a:ext>
            </a:extLst>
          </p:cNvPr>
          <p:cNvGrpSpPr/>
          <p:nvPr/>
        </p:nvGrpSpPr>
        <p:grpSpPr>
          <a:xfrm>
            <a:off x="0" y="6466566"/>
            <a:ext cx="12192000" cy="403007"/>
            <a:chOff x="0" y="6478141"/>
            <a:chExt cx="12192000" cy="403007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7379C180-9936-6D46-98F9-4314D2562AC2}"/>
                </a:ext>
              </a:extLst>
            </p:cNvPr>
            <p:cNvSpPr/>
            <p:nvPr/>
          </p:nvSpPr>
          <p:spPr>
            <a:xfrm>
              <a:off x="0" y="6484069"/>
              <a:ext cx="12192000" cy="397079"/>
            </a:xfrm>
            <a:prstGeom prst="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dirty="0"/>
                <a:t>                   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Jai Raja Saravanam S                                                                                                        </a:t>
              </a:r>
              <a:r>
                <a:rPr lang="en-IN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Emcog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Solutions</a:t>
              </a:r>
              <a:r>
                <a:rPr lang="en-IN" dirty="0"/>
                <a:t> </a:t>
              </a: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96D8A34-81E9-6CCA-8423-97349C5D82E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734477" y="6478141"/>
              <a:ext cx="349866" cy="3830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276213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9D5733-0F2B-F707-2CF9-13EBA36E1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6EE2048-A27C-1DC6-6B17-686426C1B3D5}"/>
              </a:ext>
            </a:extLst>
          </p:cNvPr>
          <p:cNvSpPr txBox="1">
            <a:spLocks/>
          </p:cNvSpPr>
          <p:nvPr/>
        </p:nvSpPr>
        <p:spPr>
          <a:xfrm>
            <a:off x="547992" y="-10480"/>
            <a:ext cx="11096011" cy="60133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Notification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9470E9E-D2A9-ABAE-EC66-AFBB2CAF9BEB}"/>
              </a:ext>
            </a:extLst>
          </p:cNvPr>
          <p:cNvSpPr txBox="1"/>
          <p:nvPr/>
        </p:nvSpPr>
        <p:spPr>
          <a:xfrm>
            <a:off x="443754" y="1141199"/>
            <a:ext cx="11304485" cy="1421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Return:</a:t>
            </a:r>
          </a:p>
          <a:p>
            <a:pPr>
              <a:lnSpc>
                <a:spcPct val="150000"/>
              </a:lnSpc>
            </a:pP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pdPASS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returned in all cases other than when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eAction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set to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eSetValueWithoutOverwrite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the target task's notification value cannot be updated because the target task already had a notification pending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DC75FD8-5D5B-4A2B-A3C7-279D12A5CBF7}"/>
              </a:ext>
            </a:extLst>
          </p:cNvPr>
          <p:cNvGrpSpPr/>
          <p:nvPr/>
        </p:nvGrpSpPr>
        <p:grpSpPr>
          <a:xfrm>
            <a:off x="0" y="6466566"/>
            <a:ext cx="12192000" cy="403007"/>
            <a:chOff x="0" y="6478141"/>
            <a:chExt cx="12192000" cy="403007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210672FA-DB72-E95B-64AE-51E6997E562A}"/>
                </a:ext>
              </a:extLst>
            </p:cNvPr>
            <p:cNvSpPr/>
            <p:nvPr/>
          </p:nvSpPr>
          <p:spPr>
            <a:xfrm>
              <a:off x="0" y="6484069"/>
              <a:ext cx="12192000" cy="397079"/>
            </a:xfrm>
            <a:prstGeom prst="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dirty="0"/>
                <a:t>                   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Jai Raja Saravanam S                                                                                                        </a:t>
              </a:r>
              <a:r>
                <a:rPr lang="en-IN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Emcog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Solutions</a:t>
              </a:r>
              <a:r>
                <a:rPr lang="en-IN" dirty="0"/>
                <a:t> </a:t>
              </a: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B6EEEB10-B1EE-C338-8E4E-E5050F69AC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734477" y="6478141"/>
              <a:ext cx="349866" cy="3830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662443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0F881A-22E1-3FC2-78AF-E50077507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283753E-682A-8328-CE99-17160FEADE8B}"/>
              </a:ext>
            </a:extLst>
          </p:cNvPr>
          <p:cNvSpPr txBox="1">
            <a:spLocks/>
          </p:cNvSpPr>
          <p:nvPr/>
        </p:nvSpPr>
        <p:spPr>
          <a:xfrm>
            <a:off x="547992" y="-10480"/>
            <a:ext cx="11096011" cy="60133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Notification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48343154-36C7-176C-1B05-61DA79CE2E54}"/>
              </a:ext>
            </a:extLst>
          </p:cNvPr>
          <p:cNvSpPr txBox="1">
            <a:spLocks/>
          </p:cNvSpPr>
          <p:nvPr/>
        </p:nvSpPr>
        <p:spPr>
          <a:xfrm>
            <a:off x="547992" y="-10480"/>
            <a:ext cx="11096011" cy="60133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Notification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3229D83-995F-C770-C7D5-1CB12A7E0D8E}"/>
              </a:ext>
            </a:extLst>
          </p:cNvPr>
          <p:cNvSpPr txBox="1"/>
          <p:nvPr/>
        </p:nvSpPr>
        <p:spPr>
          <a:xfrm>
            <a:off x="279529" y="462316"/>
            <a:ext cx="3306378" cy="579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xTaskNotifyWait</a:t>
            </a: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03DDDF-98B0-2B4D-0828-CFD5E755974E}"/>
              </a:ext>
            </a:extLst>
          </p:cNvPr>
          <p:cNvSpPr txBox="1"/>
          <p:nvPr/>
        </p:nvSpPr>
        <p:spPr>
          <a:xfrm>
            <a:off x="547992" y="1299229"/>
            <a:ext cx="10729829" cy="70788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>
              <a:buNone/>
            </a:pPr>
            <a:r>
              <a:rPr lang="en-IN" sz="2000" dirty="0" err="1">
                <a:solidFill>
                  <a:srgbClr val="393A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BaseType_t</a:t>
            </a:r>
            <a:r>
              <a:rPr lang="en-IN" sz="2000" dirty="0">
                <a:solidFill>
                  <a:srgbClr val="393A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xTaskNotifyWait</a:t>
            </a:r>
            <a:r>
              <a:rPr lang="en-IN" sz="2000" dirty="0">
                <a:solidFill>
                  <a:srgbClr val="393A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uint32_t </a:t>
            </a:r>
            <a:r>
              <a:rPr lang="en-IN" sz="2000" b="1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ulBitsToClearOnEntry</a:t>
            </a:r>
            <a:r>
              <a:rPr lang="en-IN" sz="2000" dirty="0">
                <a:solidFill>
                  <a:srgbClr val="393A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uint32_t </a:t>
            </a:r>
            <a:r>
              <a:rPr lang="en-IN" sz="2000" b="1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ulBitsToClearOnExit</a:t>
            </a:r>
            <a:r>
              <a:rPr lang="en-IN" sz="2000" b="1" dirty="0">
                <a:solidFill>
                  <a:srgbClr val="393A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algn="l">
              <a:buNone/>
            </a:pPr>
            <a:r>
              <a:rPr lang="en-IN" sz="2000" dirty="0">
                <a:solidFill>
                  <a:srgbClr val="393A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uint32_t </a:t>
            </a:r>
            <a:r>
              <a:rPr lang="en-IN" sz="20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IN" sz="2000" b="1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pulNotificationValue</a:t>
            </a:r>
            <a:r>
              <a:rPr lang="en-IN" sz="2000" dirty="0">
                <a:solidFill>
                  <a:srgbClr val="393A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000" dirty="0" err="1">
                <a:solidFill>
                  <a:srgbClr val="393A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TickType_t</a:t>
            </a:r>
            <a:r>
              <a:rPr lang="en-IN" sz="2000" dirty="0">
                <a:solidFill>
                  <a:srgbClr val="393A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xTicksToWait</a:t>
            </a:r>
            <a:r>
              <a:rPr lang="en-IN" sz="2000" b="1" dirty="0">
                <a:solidFill>
                  <a:srgbClr val="393A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>
                <a:solidFill>
                  <a:srgbClr val="393A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A35A84-07ED-28C6-68D9-3399382C3DC1}"/>
              </a:ext>
            </a:extLst>
          </p:cNvPr>
          <p:cNvSpPr txBox="1"/>
          <p:nvPr/>
        </p:nvSpPr>
        <p:spPr>
          <a:xfrm>
            <a:off x="478542" y="2469689"/>
            <a:ext cx="11420088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en-IN" sz="2000" b="1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ulBitsToClearOnEntry</a:t>
            </a:r>
            <a:r>
              <a:rPr lang="en-IN" sz="2000" b="1" dirty="0">
                <a:solidFill>
                  <a:srgbClr val="393A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2000" b="1" dirty="0">
                <a:solidFill>
                  <a:srgbClr val="393A34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n-IN" sz="2000" dirty="0">
                <a:solidFill>
                  <a:srgbClr val="393A34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Clears the bit in notification right after calling this function</a:t>
            </a:r>
            <a:endParaRPr lang="en-IN" sz="2000" dirty="0">
              <a:solidFill>
                <a:srgbClr val="393A3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1200"/>
              </a:spcAft>
            </a:pPr>
            <a:r>
              <a:rPr lang="en-IN" sz="2000" b="1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ulBitsToClearOnExit</a:t>
            </a:r>
            <a:r>
              <a:rPr lang="en-IN" sz="2000" b="1" dirty="0">
                <a:solidFill>
                  <a:srgbClr val="393A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IN" sz="2000" b="1" dirty="0">
                <a:solidFill>
                  <a:srgbClr val="393A34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n-IN" sz="2000" dirty="0">
                <a:solidFill>
                  <a:srgbClr val="393A34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Clears the bit in notification right before exiting the function</a:t>
            </a:r>
            <a:endParaRPr lang="en-IN" sz="2000" dirty="0">
              <a:solidFill>
                <a:srgbClr val="393A3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1200"/>
              </a:spcAft>
            </a:pPr>
            <a:r>
              <a:rPr lang="en-IN" sz="2000" b="1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pulNotificationValue</a:t>
            </a:r>
            <a:r>
              <a:rPr lang="en-IN" sz="2000" b="1" dirty="0">
                <a:solidFill>
                  <a:srgbClr val="393A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2000" b="1" dirty="0">
                <a:solidFill>
                  <a:srgbClr val="393A34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n-IN" sz="2000" dirty="0">
                <a:solidFill>
                  <a:srgbClr val="393A34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Stores the notification value that is sent by the sender task before clearing on 				     exit</a:t>
            </a:r>
            <a:endParaRPr lang="en-IN" sz="2000" dirty="0">
              <a:solidFill>
                <a:srgbClr val="393A3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1200"/>
              </a:spcAft>
            </a:pPr>
            <a:r>
              <a:rPr lang="en-IN" sz="2000" b="1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xTicksToWait</a:t>
            </a:r>
            <a:r>
              <a:rPr lang="en-IN" sz="2000" b="1" dirty="0">
                <a:solidFill>
                  <a:srgbClr val="393A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</a:t>
            </a:r>
            <a:r>
              <a:rPr lang="en-IN" sz="2000" b="1" dirty="0">
                <a:solidFill>
                  <a:srgbClr val="393A34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n-IN" sz="2000" dirty="0">
                <a:solidFill>
                  <a:srgbClr val="393A34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The maximum time for the task to wait in blocked state before receiving a                        </a:t>
            </a:r>
          </a:p>
          <a:p>
            <a:pPr algn="just">
              <a:spcAft>
                <a:spcPts val="1200"/>
              </a:spcAft>
            </a:pPr>
            <a:r>
              <a:rPr lang="en-IN" sz="2000" dirty="0">
                <a:solidFill>
                  <a:srgbClr val="393A34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                                               notification .If no notification is received the function will return </a:t>
            </a:r>
            <a:r>
              <a:rPr lang="en-IN" sz="2000" dirty="0" err="1">
                <a:solidFill>
                  <a:srgbClr val="393A34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pdFALSE</a:t>
            </a:r>
            <a:r>
              <a:rPr lang="en-IN" sz="2000" dirty="0">
                <a:solidFill>
                  <a:srgbClr val="393A34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and                       </a:t>
            </a:r>
          </a:p>
          <a:p>
            <a:pPr algn="just">
              <a:spcAft>
                <a:spcPts val="1200"/>
              </a:spcAft>
            </a:pPr>
            <a:r>
              <a:rPr lang="en-IN" sz="2000" dirty="0">
                <a:solidFill>
                  <a:srgbClr val="393A34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                                               exit the function   </a:t>
            </a:r>
          </a:p>
          <a:p>
            <a:pPr algn="just">
              <a:spcAft>
                <a:spcPts val="1200"/>
              </a:spcAft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portMAX_DELAY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The task waits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infinitly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000" dirty="0">
              <a:solidFill>
                <a:srgbClr val="393A3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FBC3476-ABD6-5D31-5053-EB82FBB0F5B2}"/>
              </a:ext>
            </a:extLst>
          </p:cNvPr>
          <p:cNvGrpSpPr/>
          <p:nvPr/>
        </p:nvGrpSpPr>
        <p:grpSpPr>
          <a:xfrm>
            <a:off x="0" y="6466566"/>
            <a:ext cx="12192000" cy="403007"/>
            <a:chOff x="0" y="6478141"/>
            <a:chExt cx="12192000" cy="403007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6EE8158-D993-9F15-C716-B866BF410B94}"/>
                </a:ext>
              </a:extLst>
            </p:cNvPr>
            <p:cNvSpPr/>
            <p:nvPr/>
          </p:nvSpPr>
          <p:spPr>
            <a:xfrm>
              <a:off x="0" y="6484069"/>
              <a:ext cx="12192000" cy="397079"/>
            </a:xfrm>
            <a:prstGeom prst="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dirty="0"/>
                <a:t>                   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Jai Raja Saravanam S                                                                                                        </a:t>
              </a:r>
              <a:r>
                <a:rPr lang="en-IN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Emcog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Solutions</a:t>
              </a:r>
              <a:r>
                <a:rPr lang="en-IN" dirty="0"/>
                <a:t> </a:t>
              </a: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12932977-04E8-AEC2-1A22-6902879D956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734477" y="6478141"/>
              <a:ext cx="349866" cy="3830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2645137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CAA5C-002D-9E6C-413F-C7326E4E1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D2BAD91-562C-8A56-92E6-59BD01104F48}"/>
              </a:ext>
            </a:extLst>
          </p:cNvPr>
          <p:cNvSpPr txBox="1">
            <a:spLocks/>
          </p:cNvSpPr>
          <p:nvPr/>
        </p:nvSpPr>
        <p:spPr>
          <a:xfrm>
            <a:off x="547992" y="-10480"/>
            <a:ext cx="11096011" cy="60133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Notification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4BA24B1-AB6B-0731-4F3D-163312BB892A}"/>
              </a:ext>
            </a:extLst>
          </p:cNvPr>
          <p:cNvSpPr txBox="1"/>
          <p:nvPr/>
        </p:nvSpPr>
        <p:spPr>
          <a:xfrm>
            <a:off x="547992" y="778915"/>
            <a:ext cx="11570343" cy="1883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 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pdTRUE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if a notification was received, or a notification was already pending when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xTaskNotifyWait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was called.</a:t>
            </a:r>
          </a:p>
          <a:p>
            <a:pPr>
              <a:lnSpc>
                <a:spcPct val="150000"/>
              </a:lnSpc>
            </a:pP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pdFALSE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if the call to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xTaskNotifyWait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timed out before a notification was received.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5CF386A1-A83E-CB7D-E605-CF17204C9145}"/>
              </a:ext>
            </a:extLst>
          </p:cNvPr>
          <p:cNvSpPr txBox="1">
            <a:spLocks/>
          </p:cNvSpPr>
          <p:nvPr/>
        </p:nvSpPr>
        <p:spPr>
          <a:xfrm>
            <a:off x="547992" y="-10480"/>
            <a:ext cx="11096011" cy="60133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Notification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5555F2B-FE89-1529-8933-A2751AC64D1F}"/>
              </a:ext>
            </a:extLst>
          </p:cNvPr>
          <p:cNvGrpSpPr/>
          <p:nvPr/>
        </p:nvGrpSpPr>
        <p:grpSpPr>
          <a:xfrm>
            <a:off x="0" y="6466566"/>
            <a:ext cx="12192000" cy="403007"/>
            <a:chOff x="0" y="6478141"/>
            <a:chExt cx="12192000" cy="403007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177EA1B5-195E-2E97-A7FC-04FF6A98EF86}"/>
                </a:ext>
              </a:extLst>
            </p:cNvPr>
            <p:cNvSpPr/>
            <p:nvPr/>
          </p:nvSpPr>
          <p:spPr>
            <a:xfrm>
              <a:off x="0" y="6484069"/>
              <a:ext cx="12192000" cy="397079"/>
            </a:xfrm>
            <a:prstGeom prst="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dirty="0"/>
                <a:t>                   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Jai Raja Saravanam S                                                                                                        </a:t>
              </a:r>
              <a:r>
                <a:rPr lang="en-IN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Emcog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Solutions</a:t>
              </a:r>
              <a:r>
                <a:rPr lang="en-IN" dirty="0"/>
                <a:t> </a:t>
              </a: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005C9150-3F39-EDEA-17FD-CC829EFE5E5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734477" y="6478141"/>
              <a:ext cx="349866" cy="3830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1924782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9129A-23D4-7648-EE86-1AA039087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96398E5-B8DA-8AB7-11A3-0A128DE5E919}"/>
              </a:ext>
            </a:extLst>
          </p:cNvPr>
          <p:cNvSpPr txBox="1">
            <a:spLocks/>
          </p:cNvSpPr>
          <p:nvPr/>
        </p:nvSpPr>
        <p:spPr>
          <a:xfrm>
            <a:off x="547994" y="117380"/>
            <a:ext cx="11096011" cy="60133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Activity 10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2A6741-83DD-2831-8B8F-887FF784774F}"/>
              </a:ext>
            </a:extLst>
          </p:cNvPr>
          <p:cNvSpPr txBox="1"/>
          <p:nvPr/>
        </p:nvSpPr>
        <p:spPr>
          <a:xfrm>
            <a:off x="448519" y="982176"/>
            <a:ext cx="5501833" cy="489364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>
              <a:buNone/>
            </a:pPr>
            <a:r>
              <a:rPr lang="en-IN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void </a:t>
            </a:r>
            <a:r>
              <a:rPr lang="en-IN" sz="2000" b="1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button_handler</a:t>
            </a:r>
            <a:r>
              <a:rPr lang="en-IN" sz="2000" b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(){</a:t>
            </a:r>
          </a:p>
          <a:p>
            <a:pPr marL="0" marR="0">
              <a:buNone/>
            </a:pPr>
            <a:r>
              <a:rPr lang="en-IN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 </a:t>
            </a:r>
            <a:r>
              <a:rPr lang="en-IN" sz="200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prev_button,cur_button</a:t>
            </a:r>
            <a:r>
              <a:rPr lang="en-IN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=0;</a:t>
            </a:r>
          </a:p>
          <a:p>
            <a:pPr marL="0" marR="0">
              <a:buNone/>
            </a:pPr>
            <a:r>
              <a:rPr lang="en-IN" sz="200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TickType_t</a:t>
            </a:r>
            <a:r>
              <a:rPr lang="en-IN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time ;</a:t>
            </a:r>
          </a:p>
          <a:p>
            <a:pPr marL="0" marR="0">
              <a:buNone/>
            </a:pPr>
            <a:r>
              <a:rPr lang="en-IN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while(1){</a:t>
            </a:r>
          </a:p>
          <a:p>
            <a:pPr marL="0" marR="0">
              <a:buNone/>
            </a:pPr>
            <a:r>
              <a:rPr lang="en-IN" sz="200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cur_button</a:t>
            </a:r>
            <a:r>
              <a:rPr lang="en-IN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200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HAL_GPIO_ReadPin</a:t>
            </a:r>
            <a:r>
              <a:rPr lang="en-IN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(GPIOA, GPIO_PIN_0);</a:t>
            </a:r>
          </a:p>
          <a:p>
            <a:pPr marL="0" marR="0">
              <a:buNone/>
            </a:pPr>
            <a:r>
              <a:rPr lang="en-IN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if(</a:t>
            </a:r>
            <a:r>
              <a:rPr lang="en-IN" sz="200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cur_button</a:t>
            </a:r>
            <a:r>
              <a:rPr lang="en-IN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==1){</a:t>
            </a:r>
          </a:p>
          <a:p>
            <a:pPr marL="0" marR="0">
              <a:buNone/>
            </a:pPr>
            <a:r>
              <a:rPr lang="en-IN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if(</a:t>
            </a:r>
            <a:r>
              <a:rPr lang="en-IN" sz="200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prev_button</a:t>
            </a:r>
            <a:r>
              <a:rPr lang="en-IN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==0){</a:t>
            </a:r>
          </a:p>
          <a:p>
            <a:pPr marL="0" marR="0">
              <a:buNone/>
            </a:pPr>
            <a:r>
              <a:rPr lang="en-IN" sz="20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2000" u="sng" dirty="0" err="1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xTaskNotify</a:t>
            </a:r>
            <a:r>
              <a:rPr lang="en-IN" sz="2000" u="sng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2000" u="sng" dirty="0" err="1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led_handle,NULL,</a:t>
            </a:r>
            <a:r>
              <a:rPr lang="en-IN" sz="2000" i="1" u="sng" dirty="0" err="1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eNoAction</a:t>
            </a:r>
            <a:r>
              <a:rPr lang="en-IN" sz="2000" u="sng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IN" sz="2000" dirty="0">
              <a:solidFill>
                <a:srgbClr val="00B05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>
              <a:buNone/>
            </a:pPr>
            <a:r>
              <a:rPr lang="en-IN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}</a:t>
            </a:r>
          </a:p>
          <a:p>
            <a:pPr marL="0" marR="0">
              <a:buNone/>
            </a:pPr>
            <a:r>
              <a:rPr lang="en-IN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marR="0">
              <a:buNone/>
            </a:pPr>
            <a:r>
              <a:rPr lang="en-IN" sz="200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prev_button</a:t>
            </a:r>
            <a:r>
              <a:rPr lang="en-IN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200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cur_button</a:t>
            </a:r>
            <a:r>
              <a:rPr lang="en-IN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marR="0">
              <a:buNone/>
            </a:pPr>
            <a:r>
              <a:rPr lang="en-IN" sz="200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xTaskDelayUntil</a:t>
            </a:r>
            <a:r>
              <a:rPr lang="en-IN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(&amp;</a:t>
            </a:r>
            <a:r>
              <a:rPr lang="en-IN" sz="200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time,pdMS_TO_TICKS</a:t>
            </a:r>
            <a:r>
              <a:rPr lang="en-IN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(50</a:t>
            </a:r>
            <a:r>
              <a:rPr lang="en-IN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 marL="0" marR="0">
              <a:buNone/>
            </a:pPr>
            <a:r>
              <a:rPr lang="en-IN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onsolas" panose="020B0609020204030204" pitchFamily="49" charset="0"/>
              </a:rPr>
              <a:t>	}</a:t>
            </a:r>
          </a:p>
          <a:p>
            <a:pPr marL="0" marR="0">
              <a:buNone/>
            </a:pPr>
            <a:r>
              <a:rPr lang="en-IN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AC9740-C899-FAFD-C67E-8CE50703D406}"/>
              </a:ext>
            </a:extLst>
          </p:cNvPr>
          <p:cNvSpPr txBox="1"/>
          <p:nvPr/>
        </p:nvSpPr>
        <p:spPr>
          <a:xfrm>
            <a:off x="6230074" y="959026"/>
            <a:ext cx="5413931" cy="501675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>
              <a:buNone/>
            </a:pPr>
            <a:r>
              <a:rPr lang="en-IN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void </a:t>
            </a:r>
            <a:r>
              <a:rPr lang="en-IN" sz="2000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led_handler</a:t>
            </a:r>
            <a:r>
              <a:rPr lang="en-IN" sz="20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(){</a:t>
            </a:r>
          </a:p>
          <a:p>
            <a:pPr marL="0" marR="0">
              <a:buNone/>
            </a:pPr>
            <a:r>
              <a:rPr lang="en-IN" sz="2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BaseType_t</a:t>
            </a:r>
            <a:r>
              <a:rPr lang="en-IN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status;</a:t>
            </a:r>
          </a:p>
          <a:p>
            <a:pPr marL="0" marR="0">
              <a:buNone/>
            </a:pPr>
            <a:r>
              <a:rPr lang="en-IN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while(1){</a:t>
            </a:r>
          </a:p>
          <a:p>
            <a:pPr marL="0" marR="0">
              <a:buNone/>
            </a:pPr>
            <a:r>
              <a:rPr lang="en-IN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Status=</a:t>
            </a:r>
            <a:r>
              <a:rPr lang="en-IN" sz="2000" dirty="0" err="1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xTaskNotifyWait</a:t>
            </a:r>
            <a:r>
              <a:rPr lang="en-IN" sz="20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(0x0,0x0,NULL,portMAX_DELAY);</a:t>
            </a:r>
          </a:p>
          <a:p>
            <a:pPr marL="0" marR="0">
              <a:buNone/>
            </a:pPr>
            <a:r>
              <a:rPr lang="en-IN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if(status == </a:t>
            </a:r>
            <a:r>
              <a:rPr lang="en-IN" sz="2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pdTRUE</a:t>
            </a:r>
            <a:r>
              <a:rPr lang="en-IN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marR="0">
              <a:buNone/>
            </a:pPr>
            <a:r>
              <a:rPr lang="en-IN" sz="2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HAL_GPIO_TogglePin</a:t>
            </a:r>
            <a:r>
              <a:rPr lang="en-IN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(GPIOC, GPIO_PIN_13);</a:t>
            </a:r>
          </a:p>
          <a:p>
            <a:pPr marL="0" marR="0">
              <a:buNone/>
            </a:pPr>
            <a:r>
              <a:rPr lang="en-IN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marR="0">
              <a:buNone/>
            </a:pPr>
            <a:r>
              <a:rPr lang="en-IN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marR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>
              <a:buNone/>
            </a:pPr>
            <a:endParaRPr lang="en-IN" sz="20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>
              <a:buNone/>
            </a:pPr>
            <a:endParaRPr lang="en-IN" sz="20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>
              <a:buNone/>
            </a:pPr>
            <a:endParaRPr lang="en-IN" sz="20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>
              <a:buNone/>
            </a:pPr>
            <a:endParaRPr lang="en-IN" sz="20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11BBCB7-B0DA-3482-7E00-84CAC5403061}"/>
              </a:ext>
            </a:extLst>
          </p:cNvPr>
          <p:cNvGrpSpPr/>
          <p:nvPr/>
        </p:nvGrpSpPr>
        <p:grpSpPr>
          <a:xfrm>
            <a:off x="0" y="6466566"/>
            <a:ext cx="12192000" cy="403007"/>
            <a:chOff x="0" y="6478141"/>
            <a:chExt cx="12192000" cy="403007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B99775BF-F1E1-CE90-D989-BFF1B1432681}"/>
                </a:ext>
              </a:extLst>
            </p:cNvPr>
            <p:cNvSpPr/>
            <p:nvPr/>
          </p:nvSpPr>
          <p:spPr>
            <a:xfrm>
              <a:off x="0" y="6484069"/>
              <a:ext cx="12192000" cy="397079"/>
            </a:xfrm>
            <a:prstGeom prst="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dirty="0"/>
                <a:t>                   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Jai Raja Saravanam S                                                                                                        </a:t>
              </a:r>
              <a:r>
                <a:rPr lang="en-IN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Emcog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Solutions</a:t>
              </a:r>
              <a:r>
                <a:rPr lang="en-IN" dirty="0"/>
                <a:t> </a:t>
              </a: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E73ECCE-ECBD-BE45-57E0-9F78DFEB922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734477" y="6478141"/>
              <a:ext cx="349866" cy="3830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8713100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4B8888-DF12-0D2F-A4BE-AA98AAFCE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ED3B4D42-4A68-4370-C4EA-15B066A487ED}"/>
              </a:ext>
            </a:extLst>
          </p:cNvPr>
          <p:cNvSpPr txBox="1">
            <a:spLocks/>
          </p:cNvSpPr>
          <p:nvPr/>
        </p:nvSpPr>
        <p:spPr>
          <a:xfrm>
            <a:off x="547994" y="117380"/>
            <a:ext cx="11096011" cy="60133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Interrupt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6C1FC2-4213-67E0-1E49-2B41B5DAEFDB}"/>
              </a:ext>
            </a:extLst>
          </p:cNvPr>
          <p:cNvSpPr txBox="1">
            <a:spLocks/>
          </p:cNvSpPr>
          <p:nvPr/>
        </p:nvSpPr>
        <p:spPr>
          <a:xfrm>
            <a:off x="357494" y="875569"/>
            <a:ext cx="11096011" cy="407362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bits used for priority – so total 16 levels of hardware interrupt priority</a:t>
            </a:r>
          </a:p>
          <a:p>
            <a:pPr>
              <a:spcAft>
                <a:spcPts val="600"/>
              </a:spcAf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to 15 levels </a:t>
            </a:r>
          </a:p>
          <a:p>
            <a:pPr>
              <a:spcAft>
                <a:spcPts val="600"/>
              </a:spcAf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is has the highest priority level (Opposite of RTOS priority level )</a:t>
            </a:r>
          </a:p>
          <a:p>
            <a:pPr>
              <a:spcAft>
                <a:spcPts val="1200"/>
              </a:spcAft>
            </a:pPr>
            <a:endParaRPr lang="en-IN" sz="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1200"/>
              </a:spcAft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1200"/>
              </a:spcAft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1200"/>
              </a:spcAft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1200"/>
              </a:spcAft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1200"/>
              </a:spcAft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FreeRTOS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uses critical section to prevent its resource (like queue ,task list , semaphore )from getting corrupted by interrupt . This masks some of the lower level hardware interrupts</a:t>
            </a:r>
          </a:p>
          <a:p>
            <a:pPr>
              <a:spcAft>
                <a:spcPts val="1200"/>
              </a:spcAft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FreeRTOS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has a feature by which it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seperates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this two levels – higher and lower level Hardware interrupt priority</a:t>
            </a:r>
            <a:endParaRPr lang="en-IN" sz="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1200"/>
              </a:spcAft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configKERNEL_INTERRUPT_PRIORITY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type the lowest possible priority level – 15</a:t>
            </a:r>
          </a:p>
          <a:p>
            <a:pPr>
              <a:spcAft>
                <a:spcPts val="1200"/>
              </a:spcAft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configMAX_SYSCALL_INTERRUPT_PRIORITY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below which are considered as higher priority – 5 (The interrupts with priority level 0 to 4 can preempt critical section)</a:t>
            </a:r>
          </a:p>
          <a:p>
            <a:pPr>
              <a:spcAft>
                <a:spcPts val="600"/>
              </a:spcAft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>
              <a:spcAft>
                <a:spcPts val="600"/>
              </a:spcAft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F129008-A2D2-49A3-822D-C8C1EF4BF0C2}"/>
              </a:ext>
            </a:extLst>
          </p:cNvPr>
          <p:cNvSpPr/>
          <p:nvPr/>
        </p:nvSpPr>
        <p:spPr>
          <a:xfrm>
            <a:off x="4629150" y="2089419"/>
            <a:ext cx="1588770" cy="16459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NVIC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6016198-3407-A60C-90A2-82614EB42D08}"/>
              </a:ext>
            </a:extLst>
          </p:cNvPr>
          <p:cNvCxnSpPr/>
          <p:nvPr/>
        </p:nvCxnSpPr>
        <p:spPr>
          <a:xfrm>
            <a:off x="3554730" y="2617470"/>
            <a:ext cx="107442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1DE7278-FCEF-C3E8-F1E3-B374E0E36C74}"/>
              </a:ext>
            </a:extLst>
          </p:cNvPr>
          <p:cNvCxnSpPr/>
          <p:nvPr/>
        </p:nvCxnSpPr>
        <p:spPr>
          <a:xfrm>
            <a:off x="3554730" y="3307080"/>
            <a:ext cx="107442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4DDFA0A-49D5-BF82-B8F6-D59113E45620}"/>
              </a:ext>
            </a:extLst>
          </p:cNvPr>
          <p:cNvCxnSpPr/>
          <p:nvPr/>
        </p:nvCxnSpPr>
        <p:spPr>
          <a:xfrm>
            <a:off x="6217920" y="2912379"/>
            <a:ext cx="107442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le 1">
            <a:extLst>
              <a:ext uri="{FF2B5EF4-FFF2-40B4-BE49-F238E27FC236}">
                <a16:creationId xmlns:a16="http://schemas.microsoft.com/office/drawing/2014/main" id="{4395C01A-088A-0012-9189-BC95DA50F390}"/>
              </a:ext>
            </a:extLst>
          </p:cNvPr>
          <p:cNvSpPr txBox="1">
            <a:spLocks/>
          </p:cNvSpPr>
          <p:nvPr/>
        </p:nvSpPr>
        <p:spPr>
          <a:xfrm>
            <a:off x="3161977" y="2370101"/>
            <a:ext cx="644213" cy="50871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3D5E72E4-9738-28BA-B2A6-66C8A1C0FA76}"/>
              </a:ext>
            </a:extLst>
          </p:cNvPr>
          <p:cNvSpPr txBox="1">
            <a:spLocks/>
          </p:cNvSpPr>
          <p:nvPr/>
        </p:nvSpPr>
        <p:spPr>
          <a:xfrm>
            <a:off x="3184837" y="3035669"/>
            <a:ext cx="644213" cy="50871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B2F36AEA-02F8-8AB3-004E-6E849FBECB63}"/>
              </a:ext>
            </a:extLst>
          </p:cNvPr>
          <p:cNvSpPr txBox="1">
            <a:spLocks/>
          </p:cNvSpPr>
          <p:nvPr/>
        </p:nvSpPr>
        <p:spPr>
          <a:xfrm>
            <a:off x="7326630" y="2624457"/>
            <a:ext cx="644213" cy="50871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921743B-940B-52FA-C2DB-2EAEB4CCE5E6}"/>
              </a:ext>
            </a:extLst>
          </p:cNvPr>
          <p:cNvCxnSpPr/>
          <p:nvPr/>
        </p:nvCxnSpPr>
        <p:spPr>
          <a:xfrm>
            <a:off x="9195955" y="2089419"/>
            <a:ext cx="1039091" cy="0"/>
          </a:xfrm>
          <a:prstGeom prst="line">
            <a:avLst/>
          </a:prstGeom>
          <a:ln w="190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F7F8324-2DA7-9389-73FE-AC78937243F9}"/>
              </a:ext>
            </a:extLst>
          </p:cNvPr>
          <p:cNvCxnSpPr/>
          <p:nvPr/>
        </p:nvCxnSpPr>
        <p:spPr>
          <a:xfrm>
            <a:off x="9195954" y="2370101"/>
            <a:ext cx="1039091" cy="0"/>
          </a:xfrm>
          <a:prstGeom prst="line">
            <a:avLst/>
          </a:prstGeom>
          <a:ln w="190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7FD3865-34B2-4B89-1732-88EAA22A159F}"/>
              </a:ext>
            </a:extLst>
          </p:cNvPr>
          <p:cNvCxnSpPr>
            <a:cxnSpLocks/>
          </p:cNvCxnSpPr>
          <p:nvPr/>
        </p:nvCxnSpPr>
        <p:spPr>
          <a:xfrm>
            <a:off x="9178290" y="2578317"/>
            <a:ext cx="1314450" cy="0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2368B64-1584-21A7-B1C4-3FB0A39CFF2F}"/>
              </a:ext>
            </a:extLst>
          </p:cNvPr>
          <p:cNvCxnSpPr/>
          <p:nvPr/>
        </p:nvCxnSpPr>
        <p:spPr>
          <a:xfrm>
            <a:off x="9178289" y="1839037"/>
            <a:ext cx="1039091" cy="0"/>
          </a:xfrm>
          <a:prstGeom prst="line">
            <a:avLst/>
          </a:prstGeom>
          <a:ln w="190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49E362F-F390-64BD-9B52-2CC704FD4BB3}"/>
              </a:ext>
            </a:extLst>
          </p:cNvPr>
          <p:cNvCxnSpPr/>
          <p:nvPr/>
        </p:nvCxnSpPr>
        <p:spPr>
          <a:xfrm>
            <a:off x="9178289" y="1586846"/>
            <a:ext cx="1039091" cy="0"/>
          </a:xfrm>
          <a:prstGeom prst="line">
            <a:avLst/>
          </a:prstGeom>
          <a:ln w="190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0025524-4C89-BC37-2179-1E318A773D0F}"/>
              </a:ext>
            </a:extLst>
          </p:cNvPr>
          <p:cNvCxnSpPr/>
          <p:nvPr/>
        </p:nvCxnSpPr>
        <p:spPr>
          <a:xfrm>
            <a:off x="9178289" y="1334655"/>
            <a:ext cx="1039091" cy="0"/>
          </a:xfrm>
          <a:prstGeom prst="line">
            <a:avLst/>
          </a:prstGeom>
          <a:ln w="190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6E13F91-DFFD-502B-C1DE-B11DE4BAECA8}"/>
              </a:ext>
            </a:extLst>
          </p:cNvPr>
          <p:cNvCxnSpPr/>
          <p:nvPr/>
        </p:nvCxnSpPr>
        <p:spPr>
          <a:xfrm>
            <a:off x="9178289" y="1082464"/>
            <a:ext cx="1039091" cy="0"/>
          </a:xfrm>
          <a:prstGeom prst="line">
            <a:avLst/>
          </a:prstGeom>
          <a:ln w="190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584935B-30FA-3123-1C2D-BD8AC3994582}"/>
              </a:ext>
            </a:extLst>
          </p:cNvPr>
          <p:cNvCxnSpPr/>
          <p:nvPr/>
        </p:nvCxnSpPr>
        <p:spPr>
          <a:xfrm>
            <a:off x="9178289" y="830273"/>
            <a:ext cx="1039091" cy="0"/>
          </a:xfrm>
          <a:prstGeom prst="line">
            <a:avLst/>
          </a:prstGeom>
          <a:ln w="190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3ABEDEE-98AA-9A3B-9802-A87DC0FEC71B}"/>
              </a:ext>
            </a:extLst>
          </p:cNvPr>
          <p:cNvCxnSpPr/>
          <p:nvPr/>
        </p:nvCxnSpPr>
        <p:spPr>
          <a:xfrm>
            <a:off x="9178289" y="578082"/>
            <a:ext cx="1039091" cy="0"/>
          </a:xfrm>
          <a:prstGeom prst="line">
            <a:avLst/>
          </a:prstGeom>
          <a:ln w="190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E5C556C-83D1-E78C-E7C8-2E105F0EB289}"/>
              </a:ext>
            </a:extLst>
          </p:cNvPr>
          <p:cNvCxnSpPr/>
          <p:nvPr/>
        </p:nvCxnSpPr>
        <p:spPr>
          <a:xfrm flipV="1">
            <a:off x="9178290" y="418047"/>
            <a:ext cx="0" cy="2160270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itle 1">
            <a:extLst>
              <a:ext uri="{FF2B5EF4-FFF2-40B4-BE49-F238E27FC236}">
                <a16:creationId xmlns:a16="http://schemas.microsoft.com/office/drawing/2014/main" id="{C111D8FE-F164-C8BE-F642-E94FBDD3B884}"/>
              </a:ext>
            </a:extLst>
          </p:cNvPr>
          <p:cNvSpPr txBox="1">
            <a:spLocks/>
          </p:cNvSpPr>
          <p:nvPr/>
        </p:nvSpPr>
        <p:spPr>
          <a:xfrm>
            <a:off x="8919950" y="422411"/>
            <a:ext cx="240675" cy="29303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34" name="Title 1">
            <a:extLst>
              <a:ext uri="{FF2B5EF4-FFF2-40B4-BE49-F238E27FC236}">
                <a16:creationId xmlns:a16="http://schemas.microsoft.com/office/drawing/2014/main" id="{FCBC05E4-86DC-C046-6AB3-296B4FC73B67}"/>
              </a:ext>
            </a:extLst>
          </p:cNvPr>
          <p:cNvSpPr txBox="1">
            <a:spLocks/>
          </p:cNvSpPr>
          <p:nvPr/>
        </p:nvSpPr>
        <p:spPr>
          <a:xfrm>
            <a:off x="8919949" y="662595"/>
            <a:ext cx="240675" cy="29303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35" name="Title 1">
            <a:extLst>
              <a:ext uri="{FF2B5EF4-FFF2-40B4-BE49-F238E27FC236}">
                <a16:creationId xmlns:a16="http://schemas.microsoft.com/office/drawing/2014/main" id="{AD885C60-3822-147B-9D78-D6816D66C3AF}"/>
              </a:ext>
            </a:extLst>
          </p:cNvPr>
          <p:cNvSpPr txBox="1">
            <a:spLocks/>
          </p:cNvSpPr>
          <p:nvPr/>
        </p:nvSpPr>
        <p:spPr>
          <a:xfrm>
            <a:off x="8812761" y="2217671"/>
            <a:ext cx="455049" cy="29303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</a:p>
        </p:txBody>
      </p:sp>
      <p:sp>
        <p:nvSpPr>
          <p:cNvPr id="36" name="Title 1">
            <a:extLst>
              <a:ext uri="{FF2B5EF4-FFF2-40B4-BE49-F238E27FC236}">
                <a16:creationId xmlns:a16="http://schemas.microsoft.com/office/drawing/2014/main" id="{B861DFDE-5C7A-F25E-17CA-FF0426F51626}"/>
              </a:ext>
            </a:extLst>
          </p:cNvPr>
          <p:cNvSpPr txBox="1">
            <a:spLocks/>
          </p:cNvSpPr>
          <p:nvPr/>
        </p:nvSpPr>
        <p:spPr>
          <a:xfrm>
            <a:off x="8937614" y="1858696"/>
            <a:ext cx="240675" cy="15852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84084E46-DD45-9E74-BE43-6D66A20A068A}"/>
              </a:ext>
            </a:extLst>
          </p:cNvPr>
          <p:cNvSpPr txBox="1">
            <a:spLocks/>
          </p:cNvSpPr>
          <p:nvPr/>
        </p:nvSpPr>
        <p:spPr>
          <a:xfrm>
            <a:off x="8936401" y="1690344"/>
            <a:ext cx="240675" cy="15852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86FFFCE6-2D6B-49C7-FA3E-A5BB0048EBAD}"/>
              </a:ext>
            </a:extLst>
          </p:cNvPr>
          <p:cNvSpPr txBox="1">
            <a:spLocks/>
          </p:cNvSpPr>
          <p:nvPr/>
        </p:nvSpPr>
        <p:spPr>
          <a:xfrm>
            <a:off x="8935188" y="1521992"/>
            <a:ext cx="240675" cy="15852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9" name="Title 1">
            <a:extLst>
              <a:ext uri="{FF2B5EF4-FFF2-40B4-BE49-F238E27FC236}">
                <a16:creationId xmlns:a16="http://schemas.microsoft.com/office/drawing/2014/main" id="{6CEAB047-A4F4-7C13-D2DE-EBC4177FE4C6}"/>
              </a:ext>
            </a:extLst>
          </p:cNvPr>
          <p:cNvSpPr txBox="1">
            <a:spLocks/>
          </p:cNvSpPr>
          <p:nvPr/>
        </p:nvSpPr>
        <p:spPr>
          <a:xfrm>
            <a:off x="8917524" y="1404565"/>
            <a:ext cx="240675" cy="15852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E4267A5F-F10A-309E-CF8D-8B7F64443722}"/>
              </a:ext>
            </a:extLst>
          </p:cNvPr>
          <p:cNvSpPr txBox="1">
            <a:spLocks/>
          </p:cNvSpPr>
          <p:nvPr/>
        </p:nvSpPr>
        <p:spPr>
          <a:xfrm>
            <a:off x="8932762" y="1185288"/>
            <a:ext cx="240675" cy="15852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1" name="Title 1">
            <a:extLst>
              <a:ext uri="{FF2B5EF4-FFF2-40B4-BE49-F238E27FC236}">
                <a16:creationId xmlns:a16="http://schemas.microsoft.com/office/drawing/2014/main" id="{7931BC39-6398-26E0-DCB8-D9C8606F4E4B}"/>
              </a:ext>
            </a:extLst>
          </p:cNvPr>
          <p:cNvSpPr txBox="1">
            <a:spLocks/>
          </p:cNvSpPr>
          <p:nvPr/>
        </p:nvSpPr>
        <p:spPr>
          <a:xfrm>
            <a:off x="8931549" y="1016936"/>
            <a:ext cx="240675" cy="15852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2" name="Title 1">
            <a:extLst>
              <a:ext uri="{FF2B5EF4-FFF2-40B4-BE49-F238E27FC236}">
                <a16:creationId xmlns:a16="http://schemas.microsoft.com/office/drawing/2014/main" id="{E9AEF290-5944-9752-86FE-D7BE89E0A7C6}"/>
              </a:ext>
            </a:extLst>
          </p:cNvPr>
          <p:cNvSpPr txBox="1">
            <a:spLocks/>
          </p:cNvSpPr>
          <p:nvPr/>
        </p:nvSpPr>
        <p:spPr>
          <a:xfrm>
            <a:off x="8930336" y="848584"/>
            <a:ext cx="240675" cy="15852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3" name="Right Brace 42">
            <a:extLst>
              <a:ext uri="{FF2B5EF4-FFF2-40B4-BE49-F238E27FC236}">
                <a16:creationId xmlns:a16="http://schemas.microsoft.com/office/drawing/2014/main" id="{57EC688F-13A7-CFA5-BDDC-0A79106A647F}"/>
              </a:ext>
            </a:extLst>
          </p:cNvPr>
          <p:cNvSpPr/>
          <p:nvPr/>
        </p:nvSpPr>
        <p:spPr>
          <a:xfrm>
            <a:off x="10388828" y="557762"/>
            <a:ext cx="335279" cy="826473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" name="Right Brace 43">
            <a:extLst>
              <a:ext uri="{FF2B5EF4-FFF2-40B4-BE49-F238E27FC236}">
                <a16:creationId xmlns:a16="http://schemas.microsoft.com/office/drawing/2014/main" id="{6F3BE0E7-9509-A79B-D262-B7A4ACE3E3D0}"/>
              </a:ext>
            </a:extLst>
          </p:cNvPr>
          <p:cNvSpPr/>
          <p:nvPr/>
        </p:nvSpPr>
        <p:spPr>
          <a:xfrm>
            <a:off x="10388828" y="1586846"/>
            <a:ext cx="335279" cy="826473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919E49A2-0075-C949-85D5-2A227C451E00}"/>
              </a:ext>
            </a:extLst>
          </p:cNvPr>
          <p:cNvSpPr txBox="1">
            <a:spLocks/>
          </p:cNvSpPr>
          <p:nvPr/>
        </p:nvSpPr>
        <p:spPr>
          <a:xfrm>
            <a:off x="10724107" y="719138"/>
            <a:ext cx="1738650" cy="60133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 Maskable by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FreeRTOS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</p:txBody>
      </p:sp>
      <p:sp>
        <p:nvSpPr>
          <p:cNvPr id="46" name="Title 1">
            <a:extLst>
              <a:ext uri="{FF2B5EF4-FFF2-40B4-BE49-F238E27FC236}">
                <a16:creationId xmlns:a16="http://schemas.microsoft.com/office/drawing/2014/main" id="{8FE1A3DE-08F0-22A3-7AB0-1C5FC9C30EC4}"/>
              </a:ext>
            </a:extLst>
          </p:cNvPr>
          <p:cNvSpPr txBox="1">
            <a:spLocks/>
          </p:cNvSpPr>
          <p:nvPr/>
        </p:nvSpPr>
        <p:spPr>
          <a:xfrm>
            <a:off x="10724107" y="1686406"/>
            <a:ext cx="1738650" cy="60133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Maskable by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FreeRTOS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95A66AA-D06E-8B7E-4CC7-E1DCEF205FB4}"/>
              </a:ext>
            </a:extLst>
          </p:cNvPr>
          <p:cNvGrpSpPr/>
          <p:nvPr/>
        </p:nvGrpSpPr>
        <p:grpSpPr>
          <a:xfrm>
            <a:off x="0" y="6466566"/>
            <a:ext cx="12192000" cy="403007"/>
            <a:chOff x="0" y="6478141"/>
            <a:chExt cx="12192000" cy="403007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0943AE4-D9CE-7B0D-7252-2A1B8EEA8514}"/>
                </a:ext>
              </a:extLst>
            </p:cNvPr>
            <p:cNvSpPr/>
            <p:nvPr/>
          </p:nvSpPr>
          <p:spPr>
            <a:xfrm>
              <a:off x="0" y="6484069"/>
              <a:ext cx="12192000" cy="397079"/>
            </a:xfrm>
            <a:prstGeom prst="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dirty="0"/>
                <a:t>                   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Jai Raja Saravanam S                                                                                                        </a:t>
              </a:r>
              <a:r>
                <a:rPr lang="en-IN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Emcog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Solutions</a:t>
              </a:r>
              <a:r>
                <a:rPr lang="en-IN" dirty="0"/>
                <a:t> </a:t>
              </a: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638A6FBE-6AD9-6FC7-5F68-981ED957DA8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734477" y="6478141"/>
              <a:ext cx="349866" cy="3830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766222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1BE15-E905-8FE3-131E-2192AB660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7C03CF2C-9F62-19A8-3398-FDBBC79FE8CA}"/>
              </a:ext>
            </a:extLst>
          </p:cNvPr>
          <p:cNvSpPr txBox="1">
            <a:spLocks/>
          </p:cNvSpPr>
          <p:nvPr/>
        </p:nvSpPr>
        <p:spPr>
          <a:xfrm>
            <a:off x="547994" y="117380"/>
            <a:ext cx="11096011" cy="60133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Interrupt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F18439-337C-3593-D51C-827D6C53FF91}"/>
              </a:ext>
            </a:extLst>
          </p:cNvPr>
          <p:cNvSpPr txBox="1">
            <a:spLocks/>
          </p:cNvSpPr>
          <p:nvPr/>
        </p:nvSpPr>
        <p:spPr>
          <a:xfrm>
            <a:off x="357494" y="829849"/>
            <a:ext cx="11096011" cy="560835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RTOS Api that can be used in interrupts are named as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FROMISR</a:t>
            </a:r>
          </a:p>
          <a:p>
            <a:pPr>
              <a:spcAft>
                <a:spcPts val="600"/>
              </a:spcAf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Eg : </a:t>
            </a:r>
            <a:r>
              <a:rPr lang="en-IN" sz="18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xTaskNotifyFromISR</a:t>
            </a:r>
            <a:r>
              <a:rPr lang="en-IN" sz="1800" dirty="0">
                <a:latin typeface="Consolas" panose="020B0609020204030204" pitchFamily="49" charset="0"/>
              </a:rPr>
              <a:t>(led_handle,100,eSetValueWithOverwrite,&amp;xHigherPriorityTaskWoken);</a:t>
            </a:r>
            <a:endParaRPr lang="en-IN" sz="2000" dirty="0">
              <a:latin typeface="Consolas" panose="020B0609020204030204" pitchFamily="49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>
              <a:spcAft>
                <a:spcPts val="600"/>
              </a:spcAf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These are called ISR safe APIs.</a:t>
            </a:r>
          </a:p>
          <a:p>
            <a:pPr marL="1165225" indent="-354013">
              <a:spcAft>
                <a:spcPts val="600"/>
              </a:spcAft>
              <a:buFont typeface="Wingdings" panose="05000000000000000000" pitchFamily="2" charset="2"/>
              <a:buChar char="§"/>
              <a:tabLst>
                <a:tab pos="1074738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These API can be used in interrupt handlers</a:t>
            </a:r>
          </a:p>
          <a:p>
            <a:pPr marL="1165225" indent="-354013">
              <a:spcAft>
                <a:spcPts val="600"/>
              </a:spcAft>
              <a:buFont typeface="Wingdings" panose="05000000000000000000" pitchFamily="2" charset="2"/>
              <a:buChar char="§"/>
              <a:tabLst>
                <a:tab pos="1074738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But these cannot be used inside in interrupts that has high priority above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configMAX_SYSCALL_INTERRUPT_PRIORITY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>
              <a:spcAft>
                <a:spcPts val="600"/>
              </a:spcAft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>
              <a:spcAft>
                <a:spcPts val="600"/>
              </a:spcAft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0741D7E-5A29-CE1D-37ED-25D05757D337}"/>
              </a:ext>
            </a:extLst>
          </p:cNvPr>
          <p:cNvGrpSpPr/>
          <p:nvPr/>
        </p:nvGrpSpPr>
        <p:grpSpPr>
          <a:xfrm>
            <a:off x="0" y="6466566"/>
            <a:ext cx="12192000" cy="403007"/>
            <a:chOff x="0" y="6478141"/>
            <a:chExt cx="12192000" cy="403007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4D9F15EE-6CBB-327F-AB54-FE6AF1F3F36F}"/>
                </a:ext>
              </a:extLst>
            </p:cNvPr>
            <p:cNvSpPr/>
            <p:nvPr/>
          </p:nvSpPr>
          <p:spPr>
            <a:xfrm>
              <a:off x="0" y="6484069"/>
              <a:ext cx="12192000" cy="397079"/>
            </a:xfrm>
            <a:prstGeom prst="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dirty="0"/>
                <a:t>                   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Jai Raja Saravanam S                                                                                                        </a:t>
              </a:r>
              <a:r>
                <a:rPr lang="en-IN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Emcog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Solutions</a:t>
              </a:r>
              <a:r>
                <a:rPr lang="en-IN" dirty="0"/>
                <a:t> </a:t>
              </a: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91E1873-F63D-452F-35CC-2D6B2959754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734477" y="6478141"/>
              <a:ext cx="349866" cy="3830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4371872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19084-E18C-9FA0-B2BB-A63D4ABEC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18B59D6-170B-EED1-A647-7EE9D612B577}"/>
              </a:ext>
            </a:extLst>
          </p:cNvPr>
          <p:cNvSpPr txBox="1">
            <a:spLocks/>
          </p:cNvSpPr>
          <p:nvPr/>
        </p:nvSpPr>
        <p:spPr>
          <a:xfrm>
            <a:off x="547994" y="117380"/>
            <a:ext cx="11096011" cy="60133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Activity 11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9624D7-5116-3CD8-A398-74C0E32268F6}"/>
              </a:ext>
            </a:extLst>
          </p:cNvPr>
          <p:cNvSpPr txBox="1">
            <a:spLocks/>
          </p:cNvSpPr>
          <p:nvPr/>
        </p:nvSpPr>
        <p:spPr>
          <a:xfrm>
            <a:off x="357494" y="875570"/>
            <a:ext cx="11096011" cy="478228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two task .</a:t>
            </a:r>
          </a:p>
          <a:p>
            <a:pPr>
              <a:spcAft>
                <a:spcPts val="600"/>
              </a:spcAf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Task1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Keeps the led high when button (PA2) is pressed. (Change the priority level high and low about task2 to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analyze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the impact of priority on interrupt)</a:t>
            </a:r>
          </a:p>
          <a:p>
            <a:pPr>
              <a:spcAft>
                <a:spcPts val="600"/>
              </a:spcAf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Task2  Handles interrupt from another external button (PA3) and blink the led fast for three times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Objective:</a:t>
            </a:r>
          </a:p>
          <a:p>
            <a:pPr>
              <a:spcAft>
                <a:spcPts val="600"/>
              </a:spcAft>
            </a:pPr>
            <a:endParaRPr lang="en-US" sz="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how interrupts in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FreeRTOS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task ,works.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ISR API function.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how priority and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interruots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work 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1B015E1-A224-826F-2665-C61FD1D00B77}"/>
              </a:ext>
            </a:extLst>
          </p:cNvPr>
          <p:cNvSpPr txBox="1">
            <a:spLocks/>
          </p:cNvSpPr>
          <p:nvPr/>
        </p:nvSpPr>
        <p:spPr>
          <a:xfrm>
            <a:off x="197474" y="5514039"/>
            <a:ext cx="11096011" cy="60133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Face a problem while programming. Comment the line in 4996 line in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task.c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FC08C4B-37CD-F803-66D5-89EF4AF197FF}"/>
              </a:ext>
            </a:extLst>
          </p:cNvPr>
          <p:cNvGrpSpPr/>
          <p:nvPr/>
        </p:nvGrpSpPr>
        <p:grpSpPr>
          <a:xfrm>
            <a:off x="0" y="6466566"/>
            <a:ext cx="12192000" cy="403007"/>
            <a:chOff x="0" y="6478141"/>
            <a:chExt cx="12192000" cy="403007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33EEB40-5A98-2E0E-ED34-3A75CB5DA12E}"/>
                </a:ext>
              </a:extLst>
            </p:cNvPr>
            <p:cNvSpPr/>
            <p:nvPr/>
          </p:nvSpPr>
          <p:spPr>
            <a:xfrm>
              <a:off x="0" y="6484069"/>
              <a:ext cx="12192000" cy="397079"/>
            </a:xfrm>
            <a:prstGeom prst="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dirty="0"/>
                <a:t>                   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Jai Raja Saravanam S                                                                                                        </a:t>
              </a:r>
              <a:r>
                <a:rPr lang="en-IN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Emcog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Solutions</a:t>
              </a:r>
              <a:r>
                <a:rPr lang="en-IN" dirty="0"/>
                <a:t> </a:t>
              </a: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45197AB6-57A1-D07A-D342-A09E8873ACF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734477" y="6478141"/>
              <a:ext cx="349866" cy="3830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9568918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8145E0-47DC-F715-1E5A-9E8BCE78D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813DB9A-E5D3-1D91-0874-4EA864253B95}"/>
              </a:ext>
            </a:extLst>
          </p:cNvPr>
          <p:cNvSpPr txBox="1">
            <a:spLocks/>
          </p:cNvSpPr>
          <p:nvPr/>
        </p:nvSpPr>
        <p:spPr>
          <a:xfrm>
            <a:off x="547992" y="165711"/>
            <a:ext cx="11096011" cy="60133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Queue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94E039-F9C5-0AF5-E719-0CEB0A98927A}"/>
              </a:ext>
            </a:extLst>
          </p:cNvPr>
          <p:cNvSpPr txBox="1"/>
          <p:nvPr/>
        </p:nvSpPr>
        <p:spPr>
          <a:xfrm>
            <a:off x="304800" y="721904"/>
            <a:ext cx="11572240" cy="2345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b="1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Queue</a:t>
            </a:r>
            <a:r>
              <a:rPr lang="en-US" sz="240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a built-in communication mechanism that lets </a:t>
            </a:r>
            <a:r>
              <a:rPr lang="en-US" sz="2400" b="1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tasks and ISRs</a:t>
            </a:r>
            <a:r>
              <a:rPr lang="en-US" sz="240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safely send and receive data to each other</a:t>
            </a:r>
          </a:p>
          <a:p>
            <a:pPr algn="just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 :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1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configSUPPORT_DYNAMIC_ALLOCATION</a:t>
            </a:r>
            <a:r>
              <a:rPr lang="en-US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must be set to 1 in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FreeRTOSConfig.h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or left undefined (in which case it will default to 1), for this RTOS API function to be available.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3E76EC4-65BB-A094-0FFF-67F3A6DF4B5B}"/>
              </a:ext>
            </a:extLst>
          </p:cNvPr>
          <p:cNvSpPr/>
          <p:nvPr/>
        </p:nvSpPr>
        <p:spPr>
          <a:xfrm>
            <a:off x="948690" y="4880610"/>
            <a:ext cx="10218420" cy="761824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52A848-A2E2-C1F3-7285-3E38EA7927AE}"/>
              </a:ext>
            </a:extLst>
          </p:cNvPr>
          <p:cNvSpPr txBox="1"/>
          <p:nvPr/>
        </p:nvSpPr>
        <p:spPr>
          <a:xfrm>
            <a:off x="304800" y="3085104"/>
            <a:ext cx="60979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Queue of 5 characters (1 byte),</a:t>
            </a:r>
            <a:endParaRPr lang="en-IN" sz="200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FDDFA1D-4F15-59F9-A54D-78B64AE5FE23}"/>
              </a:ext>
            </a:extLst>
          </p:cNvPr>
          <p:cNvSpPr/>
          <p:nvPr/>
        </p:nvSpPr>
        <p:spPr>
          <a:xfrm>
            <a:off x="1223010" y="4926330"/>
            <a:ext cx="1577340" cy="6858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CA15626-1E16-04DC-79F2-11E037086E6A}"/>
              </a:ext>
            </a:extLst>
          </p:cNvPr>
          <p:cNvSpPr/>
          <p:nvPr/>
        </p:nvSpPr>
        <p:spPr>
          <a:xfrm>
            <a:off x="5193030" y="4926330"/>
            <a:ext cx="1577340" cy="6858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982EB9B-639B-4016-BEC5-A653C123EC75}"/>
              </a:ext>
            </a:extLst>
          </p:cNvPr>
          <p:cNvSpPr/>
          <p:nvPr/>
        </p:nvSpPr>
        <p:spPr>
          <a:xfrm>
            <a:off x="7158990" y="4922520"/>
            <a:ext cx="1577340" cy="6858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57AF168-EA66-9533-2874-C12BE53A4DCD}"/>
              </a:ext>
            </a:extLst>
          </p:cNvPr>
          <p:cNvSpPr/>
          <p:nvPr/>
        </p:nvSpPr>
        <p:spPr>
          <a:xfrm>
            <a:off x="9163050" y="4922520"/>
            <a:ext cx="1577340" cy="6858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94210B5-031F-EB89-25B4-6DFB58665210}"/>
              </a:ext>
            </a:extLst>
          </p:cNvPr>
          <p:cNvSpPr/>
          <p:nvPr/>
        </p:nvSpPr>
        <p:spPr>
          <a:xfrm>
            <a:off x="3188970" y="4926330"/>
            <a:ext cx="1577340" cy="6858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9AF98BB-C6F2-4819-4E18-F392D0839B72}"/>
              </a:ext>
            </a:extLst>
          </p:cNvPr>
          <p:cNvCxnSpPr/>
          <p:nvPr/>
        </p:nvCxnSpPr>
        <p:spPr>
          <a:xfrm>
            <a:off x="9921240" y="4323003"/>
            <a:ext cx="0" cy="532285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8547E9E-293E-1527-43A1-E90EE9074C78}"/>
              </a:ext>
            </a:extLst>
          </p:cNvPr>
          <p:cNvCxnSpPr>
            <a:cxnSpLocks/>
          </p:cNvCxnSpPr>
          <p:nvPr/>
        </p:nvCxnSpPr>
        <p:spPr>
          <a:xfrm flipV="1">
            <a:off x="9951720" y="5656532"/>
            <a:ext cx="0" cy="273146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56EA3266-95FF-05AF-2298-FCAC55F52399}"/>
              </a:ext>
            </a:extLst>
          </p:cNvPr>
          <p:cNvSpPr txBox="1"/>
          <p:nvPr/>
        </p:nvSpPr>
        <p:spPr>
          <a:xfrm>
            <a:off x="9446181" y="3885960"/>
            <a:ext cx="9501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</a:t>
            </a:r>
            <a:endParaRPr lang="en-IN" sz="2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0482A69-56E8-347C-1FB7-5BCD1F410FED}"/>
              </a:ext>
            </a:extLst>
          </p:cNvPr>
          <p:cNvSpPr txBox="1"/>
          <p:nvPr/>
        </p:nvSpPr>
        <p:spPr>
          <a:xfrm>
            <a:off x="9663590" y="5959181"/>
            <a:ext cx="79771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Tail</a:t>
            </a:r>
            <a:endParaRPr lang="en-IN" sz="2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19EBEF9-02A6-3FE5-977F-4F4E3B634665}"/>
              </a:ext>
            </a:extLst>
          </p:cNvPr>
          <p:cNvSpPr txBox="1"/>
          <p:nvPr/>
        </p:nvSpPr>
        <p:spPr>
          <a:xfrm>
            <a:off x="74773" y="5070694"/>
            <a:ext cx="101107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</a:t>
            </a:r>
            <a:endParaRPr lang="en-IN" sz="2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FA12A55-039D-FE8A-157A-FC98E2BB1231}"/>
              </a:ext>
            </a:extLst>
          </p:cNvPr>
          <p:cNvSpPr txBox="1"/>
          <p:nvPr/>
        </p:nvSpPr>
        <p:spPr>
          <a:xfrm>
            <a:off x="11167110" y="5006501"/>
            <a:ext cx="101107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</a:t>
            </a:r>
            <a:endParaRPr lang="en-IN" sz="24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1A6791E-3448-6405-6827-9A20C1422273}"/>
              </a:ext>
            </a:extLst>
          </p:cNvPr>
          <p:cNvSpPr txBox="1"/>
          <p:nvPr/>
        </p:nvSpPr>
        <p:spPr>
          <a:xfrm>
            <a:off x="2525382" y="3476007"/>
            <a:ext cx="97869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xQueueCreate</a:t>
            </a:r>
            <a:r>
              <a:rPr lang="en-IN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UBaseType_t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uxQueueLength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,UBaseType_t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uxItemSize</a:t>
            </a:r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IN" sz="20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04C3A4-8227-F0A2-ECAB-8DF03B3C5767}"/>
              </a:ext>
            </a:extLst>
          </p:cNvPr>
          <p:cNvSpPr txBox="1"/>
          <p:nvPr/>
        </p:nvSpPr>
        <p:spPr>
          <a:xfrm>
            <a:off x="720090" y="3908821"/>
            <a:ext cx="97869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Queue_handle</a:t>
            </a:r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xQueueCreate</a:t>
            </a:r>
            <a:r>
              <a:rPr lang="en-IN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en-IN" sz="20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0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IN" sz="2000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0863DDA-9F09-7504-80FB-7E392BD5B8A9}"/>
              </a:ext>
            </a:extLst>
          </p:cNvPr>
          <p:cNvGrpSpPr/>
          <p:nvPr/>
        </p:nvGrpSpPr>
        <p:grpSpPr>
          <a:xfrm>
            <a:off x="0" y="6466566"/>
            <a:ext cx="12192000" cy="403007"/>
            <a:chOff x="0" y="6478141"/>
            <a:chExt cx="12192000" cy="403007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F1FFD67-209D-A6BA-5566-6E28BFE736A2}"/>
                </a:ext>
              </a:extLst>
            </p:cNvPr>
            <p:cNvSpPr/>
            <p:nvPr/>
          </p:nvSpPr>
          <p:spPr>
            <a:xfrm>
              <a:off x="0" y="6484069"/>
              <a:ext cx="12192000" cy="397079"/>
            </a:xfrm>
            <a:prstGeom prst="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dirty="0"/>
                <a:t>                   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Jai Raja Saravanam S                                                                                                        </a:t>
              </a:r>
              <a:r>
                <a:rPr lang="en-IN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Emcog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Solutions</a:t>
              </a:r>
              <a:r>
                <a:rPr lang="en-IN" dirty="0"/>
                <a:t> </a:t>
              </a:r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43427E63-B610-5EC6-51C9-615A073EAD7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734477" y="6478141"/>
              <a:ext cx="349866" cy="3830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9149785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12641A-80C1-C79F-22FA-3A7C2504E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5B3F205A-7E50-C59A-CE39-2B925A283A33}"/>
              </a:ext>
            </a:extLst>
          </p:cNvPr>
          <p:cNvSpPr txBox="1">
            <a:spLocks/>
          </p:cNvSpPr>
          <p:nvPr/>
        </p:nvSpPr>
        <p:spPr>
          <a:xfrm>
            <a:off x="547992" y="165711"/>
            <a:ext cx="11096011" cy="60133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Queue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2217AD3-5968-43C9-088F-8287A79E8C8D}"/>
              </a:ext>
            </a:extLst>
          </p:cNvPr>
          <p:cNvSpPr/>
          <p:nvPr/>
        </p:nvSpPr>
        <p:spPr>
          <a:xfrm>
            <a:off x="948690" y="2548890"/>
            <a:ext cx="10218420" cy="761824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8C2A1FC-2C66-8A67-183B-421B5B806963}"/>
              </a:ext>
            </a:extLst>
          </p:cNvPr>
          <p:cNvSpPr/>
          <p:nvPr/>
        </p:nvSpPr>
        <p:spPr>
          <a:xfrm>
            <a:off x="1223010" y="2594610"/>
            <a:ext cx="1577340" cy="6858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03A7809-E928-EFF3-65B3-EF272AB716D0}"/>
              </a:ext>
            </a:extLst>
          </p:cNvPr>
          <p:cNvSpPr/>
          <p:nvPr/>
        </p:nvSpPr>
        <p:spPr>
          <a:xfrm>
            <a:off x="5193030" y="2594610"/>
            <a:ext cx="1577340" cy="6858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FB9618E-0EEB-13D3-F28E-81473B3E0B52}"/>
              </a:ext>
            </a:extLst>
          </p:cNvPr>
          <p:cNvSpPr/>
          <p:nvPr/>
        </p:nvSpPr>
        <p:spPr>
          <a:xfrm>
            <a:off x="7158990" y="2590800"/>
            <a:ext cx="1577340" cy="6858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0C6388E-EE93-58A3-3A15-5C784F35DFA5}"/>
              </a:ext>
            </a:extLst>
          </p:cNvPr>
          <p:cNvSpPr/>
          <p:nvPr/>
        </p:nvSpPr>
        <p:spPr>
          <a:xfrm>
            <a:off x="9163050" y="2590800"/>
            <a:ext cx="1577340" cy="6858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j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96D8A83-8752-8D21-8BF8-F244AE5897E8}"/>
              </a:ext>
            </a:extLst>
          </p:cNvPr>
          <p:cNvSpPr/>
          <p:nvPr/>
        </p:nvSpPr>
        <p:spPr>
          <a:xfrm>
            <a:off x="3188970" y="2594610"/>
            <a:ext cx="1577340" cy="6858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09E95BF-9BC6-42B9-A4BF-7638ECD1F634}"/>
              </a:ext>
            </a:extLst>
          </p:cNvPr>
          <p:cNvCxnSpPr/>
          <p:nvPr/>
        </p:nvCxnSpPr>
        <p:spPr>
          <a:xfrm>
            <a:off x="9921240" y="1979853"/>
            <a:ext cx="0" cy="532285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56343F0-6E8B-C5B4-EE25-3875D4865027}"/>
              </a:ext>
            </a:extLst>
          </p:cNvPr>
          <p:cNvCxnSpPr>
            <a:cxnSpLocks/>
          </p:cNvCxnSpPr>
          <p:nvPr/>
        </p:nvCxnSpPr>
        <p:spPr>
          <a:xfrm flipV="1">
            <a:off x="7947660" y="3429000"/>
            <a:ext cx="0" cy="532285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CB087FA5-C66A-53FF-2334-F926D8BF3FB4}"/>
              </a:ext>
            </a:extLst>
          </p:cNvPr>
          <p:cNvSpPr txBox="1"/>
          <p:nvPr/>
        </p:nvSpPr>
        <p:spPr>
          <a:xfrm>
            <a:off x="9446181" y="1542810"/>
            <a:ext cx="9501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</a:t>
            </a:r>
            <a:endParaRPr lang="en-IN" sz="2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2FE26B1-959B-44B7-893C-F995B7D6CAB1}"/>
              </a:ext>
            </a:extLst>
          </p:cNvPr>
          <p:cNvSpPr txBox="1"/>
          <p:nvPr/>
        </p:nvSpPr>
        <p:spPr>
          <a:xfrm>
            <a:off x="7644051" y="4003358"/>
            <a:ext cx="79771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Tail</a:t>
            </a:r>
            <a:endParaRPr lang="en-IN" sz="2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187973E-FADD-A606-0150-49FE2CFF4C14}"/>
              </a:ext>
            </a:extLst>
          </p:cNvPr>
          <p:cNvSpPr txBox="1"/>
          <p:nvPr/>
        </p:nvSpPr>
        <p:spPr>
          <a:xfrm>
            <a:off x="74773" y="2738974"/>
            <a:ext cx="101107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</a:t>
            </a:r>
            <a:endParaRPr lang="en-IN" sz="2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485F26A-5F78-6CA3-479B-884FB1DC6FFF}"/>
              </a:ext>
            </a:extLst>
          </p:cNvPr>
          <p:cNvSpPr txBox="1"/>
          <p:nvPr/>
        </p:nvSpPr>
        <p:spPr>
          <a:xfrm>
            <a:off x="11167110" y="2674781"/>
            <a:ext cx="101107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</a:t>
            </a:r>
            <a:endParaRPr lang="en-IN" sz="24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CDC877E-2AF9-3CDA-F280-4EB7ED919974}"/>
              </a:ext>
            </a:extLst>
          </p:cNvPr>
          <p:cNvSpPr txBox="1"/>
          <p:nvPr/>
        </p:nvSpPr>
        <p:spPr>
          <a:xfrm>
            <a:off x="621030" y="744185"/>
            <a:ext cx="1011936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N" b="0" i="0" dirty="0">
                <a:solidFill>
                  <a:srgbClr val="393A3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Char data = ‘j’;</a:t>
            </a:r>
          </a:p>
          <a:p>
            <a:pPr algn="l">
              <a:buNone/>
            </a:pPr>
            <a:r>
              <a:rPr lang="en-IN" b="0" i="0" dirty="0" err="1">
                <a:solidFill>
                  <a:srgbClr val="393A3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BaseType_t</a:t>
            </a:r>
            <a:r>
              <a:rPr lang="en-IN" b="0" i="0" dirty="0">
                <a:solidFill>
                  <a:srgbClr val="393A3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xQueueSendToBack</a:t>
            </a:r>
            <a:r>
              <a:rPr lang="en-IN" b="0" i="0" dirty="0">
                <a:solidFill>
                  <a:srgbClr val="393A3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b="0" i="0" dirty="0" err="1">
                <a:solidFill>
                  <a:srgbClr val="393A3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QueueHandle_t</a:t>
            </a:r>
            <a:r>
              <a:rPr lang="en-IN" b="0" i="0" dirty="0">
                <a:solidFill>
                  <a:srgbClr val="393A3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xQueue</a:t>
            </a:r>
            <a:r>
              <a:rPr lang="en-IN" b="0" i="0" dirty="0">
                <a:solidFill>
                  <a:srgbClr val="393A3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b="0" i="0" dirty="0" err="1">
                <a:solidFill>
                  <a:srgbClr val="00009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lang="en-IN" b="0" i="0" dirty="0">
                <a:solidFill>
                  <a:srgbClr val="393A3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0" i="0" dirty="0">
                <a:solidFill>
                  <a:srgbClr val="00009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en-IN" b="0" i="0" dirty="0">
                <a:solidFill>
                  <a:srgbClr val="393A3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* </a:t>
            </a:r>
            <a:r>
              <a:rPr lang="en-IN" b="1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pvItemToQueue</a:t>
            </a:r>
            <a:r>
              <a:rPr lang="en-IN" b="0" i="0" dirty="0">
                <a:solidFill>
                  <a:srgbClr val="393A3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b="0" i="0" dirty="0" err="1">
                <a:solidFill>
                  <a:srgbClr val="393A3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TickType_t</a:t>
            </a:r>
            <a:r>
              <a:rPr lang="en-IN" b="0" i="0" dirty="0">
                <a:solidFill>
                  <a:srgbClr val="393A3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xTicksToWait</a:t>
            </a:r>
            <a:r>
              <a:rPr lang="en-IN" b="0" i="0" dirty="0">
                <a:solidFill>
                  <a:srgbClr val="393A3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r>
              <a:rPr lang="en-IN" dirty="0" err="1">
                <a:solidFill>
                  <a:srgbClr val="393A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BaseType_t</a:t>
            </a:r>
            <a:r>
              <a:rPr lang="en-IN" dirty="0">
                <a:solidFill>
                  <a:srgbClr val="393A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xQueueSendToBack</a:t>
            </a:r>
            <a:r>
              <a:rPr lang="en-IN" dirty="0">
                <a:solidFill>
                  <a:srgbClr val="393A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b="1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Queue_handle</a:t>
            </a:r>
            <a:r>
              <a:rPr lang="en-IN" dirty="0">
                <a:solidFill>
                  <a:srgbClr val="393A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&amp;data</a:t>
            </a:r>
            <a:r>
              <a:rPr lang="en-IN" dirty="0">
                <a:solidFill>
                  <a:srgbClr val="393A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 </a:t>
            </a:r>
            <a:r>
              <a:rPr lang="en-IN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1000</a:t>
            </a:r>
            <a:r>
              <a:rPr lang="en-IN" dirty="0">
                <a:solidFill>
                  <a:srgbClr val="393A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algn="l">
              <a:buNone/>
            </a:pPr>
            <a:endParaRPr lang="en-IN" b="0" i="0" dirty="0">
              <a:solidFill>
                <a:srgbClr val="393A34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BFE5A5A-B09F-1309-D8DD-2E19922E2601}"/>
              </a:ext>
            </a:extLst>
          </p:cNvPr>
          <p:cNvSpPr txBox="1"/>
          <p:nvPr/>
        </p:nvSpPr>
        <p:spPr>
          <a:xfrm>
            <a:off x="580311" y="4234190"/>
            <a:ext cx="61093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N" b="0" i="0" dirty="0">
                <a:solidFill>
                  <a:srgbClr val="393A3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Char data = ‘a’;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03F0279-A0CC-ECDB-C1D8-C42ADB35009E}"/>
              </a:ext>
            </a:extLst>
          </p:cNvPr>
          <p:cNvSpPr/>
          <p:nvPr/>
        </p:nvSpPr>
        <p:spPr>
          <a:xfrm>
            <a:off x="952500" y="4735830"/>
            <a:ext cx="10218420" cy="761824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9C787FE0-F6D4-136C-5A24-4F104B2FF408}"/>
              </a:ext>
            </a:extLst>
          </p:cNvPr>
          <p:cNvSpPr/>
          <p:nvPr/>
        </p:nvSpPr>
        <p:spPr>
          <a:xfrm>
            <a:off x="1226820" y="4781550"/>
            <a:ext cx="1577340" cy="6858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6AC6AD13-28D2-A2A3-C684-D1D096E8F3CB}"/>
              </a:ext>
            </a:extLst>
          </p:cNvPr>
          <p:cNvSpPr/>
          <p:nvPr/>
        </p:nvSpPr>
        <p:spPr>
          <a:xfrm>
            <a:off x="5196840" y="4781550"/>
            <a:ext cx="1577340" cy="6858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7401D8F4-BC2C-ECFD-3484-5BEBBA80B7BB}"/>
              </a:ext>
            </a:extLst>
          </p:cNvPr>
          <p:cNvSpPr/>
          <p:nvPr/>
        </p:nvSpPr>
        <p:spPr>
          <a:xfrm>
            <a:off x="7162800" y="4777740"/>
            <a:ext cx="1577340" cy="6858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84E503C0-97AC-4AFC-9E33-CCEF48DCAE05}"/>
              </a:ext>
            </a:extLst>
          </p:cNvPr>
          <p:cNvSpPr/>
          <p:nvPr/>
        </p:nvSpPr>
        <p:spPr>
          <a:xfrm>
            <a:off x="9166860" y="4777740"/>
            <a:ext cx="1577340" cy="6858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j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97FE014D-A68A-B204-61BF-B9F9E5105218}"/>
              </a:ext>
            </a:extLst>
          </p:cNvPr>
          <p:cNvSpPr/>
          <p:nvPr/>
        </p:nvSpPr>
        <p:spPr>
          <a:xfrm>
            <a:off x="3192780" y="4781550"/>
            <a:ext cx="1577340" cy="6858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D3BD5283-712E-138D-799C-D0FA5DDC1977}"/>
              </a:ext>
            </a:extLst>
          </p:cNvPr>
          <p:cNvCxnSpPr/>
          <p:nvPr/>
        </p:nvCxnSpPr>
        <p:spPr>
          <a:xfrm>
            <a:off x="9925050" y="4166793"/>
            <a:ext cx="0" cy="532285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B55F477-15E2-AC66-981C-028BAFD9CB1F}"/>
              </a:ext>
            </a:extLst>
          </p:cNvPr>
          <p:cNvCxnSpPr>
            <a:cxnSpLocks/>
          </p:cNvCxnSpPr>
          <p:nvPr/>
        </p:nvCxnSpPr>
        <p:spPr>
          <a:xfrm flipV="1">
            <a:off x="5981700" y="5566573"/>
            <a:ext cx="0" cy="532285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844E78FE-EFE2-8D30-0EE9-9F0A367EC849}"/>
              </a:ext>
            </a:extLst>
          </p:cNvPr>
          <p:cNvSpPr txBox="1"/>
          <p:nvPr/>
        </p:nvSpPr>
        <p:spPr>
          <a:xfrm>
            <a:off x="9449991" y="3729750"/>
            <a:ext cx="9501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</a:t>
            </a:r>
            <a:endParaRPr lang="en-IN" sz="24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8AC28C4-7DAD-409A-1A57-E4B42BDFABA6}"/>
              </a:ext>
            </a:extLst>
          </p:cNvPr>
          <p:cNvSpPr txBox="1"/>
          <p:nvPr/>
        </p:nvSpPr>
        <p:spPr>
          <a:xfrm>
            <a:off x="5659041" y="6018848"/>
            <a:ext cx="79771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Tail</a:t>
            </a:r>
            <a:endParaRPr lang="en-IN" sz="24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952ADC7-E3E2-549C-0489-CF372F0F73D0}"/>
              </a:ext>
            </a:extLst>
          </p:cNvPr>
          <p:cNvSpPr txBox="1"/>
          <p:nvPr/>
        </p:nvSpPr>
        <p:spPr>
          <a:xfrm>
            <a:off x="78583" y="4925914"/>
            <a:ext cx="101107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</a:t>
            </a:r>
            <a:endParaRPr lang="en-IN" sz="24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F86053A-397F-BCF9-9306-ABB4E2988BF6}"/>
              </a:ext>
            </a:extLst>
          </p:cNvPr>
          <p:cNvSpPr txBox="1"/>
          <p:nvPr/>
        </p:nvSpPr>
        <p:spPr>
          <a:xfrm>
            <a:off x="11170920" y="4861721"/>
            <a:ext cx="101107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</a:t>
            </a:r>
            <a:endParaRPr lang="en-IN" sz="240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60E4200-F2B0-2978-D56D-FB4E8D2294A6}"/>
              </a:ext>
            </a:extLst>
          </p:cNvPr>
          <p:cNvGrpSpPr/>
          <p:nvPr/>
        </p:nvGrpSpPr>
        <p:grpSpPr>
          <a:xfrm>
            <a:off x="0" y="6466566"/>
            <a:ext cx="12192000" cy="403007"/>
            <a:chOff x="0" y="6478141"/>
            <a:chExt cx="12192000" cy="403007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1913E3A-A48D-B8D8-C030-4B1AA5A2314D}"/>
                </a:ext>
              </a:extLst>
            </p:cNvPr>
            <p:cNvSpPr/>
            <p:nvPr/>
          </p:nvSpPr>
          <p:spPr>
            <a:xfrm>
              <a:off x="0" y="6484069"/>
              <a:ext cx="12192000" cy="397079"/>
            </a:xfrm>
            <a:prstGeom prst="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dirty="0"/>
                <a:t>                   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Jai Raja Saravanam S                                                                                                        </a:t>
              </a:r>
              <a:r>
                <a:rPr lang="en-IN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Emcog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Solutions</a:t>
              </a:r>
              <a:r>
                <a:rPr lang="en-IN" dirty="0"/>
                <a:t> </a:t>
              </a: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4CCD4D0-2FE6-4DD9-192F-5BBD3E6504A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734477" y="6478141"/>
              <a:ext cx="349866" cy="3830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1839597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CF21B2-6ED3-6C60-2DA1-B856C4051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EF519D7B-7999-B21F-3E17-A0A82F8BED38}"/>
              </a:ext>
            </a:extLst>
          </p:cNvPr>
          <p:cNvSpPr txBox="1">
            <a:spLocks/>
          </p:cNvSpPr>
          <p:nvPr/>
        </p:nvSpPr>
        <p:spPr>
          <a:xfrm>
            <a:off x="547992" y="165711"/>
            <a:ext cx="11096011" cy="60133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Queue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7E99FE0-87C1-400E-589A-EA4B64F7FA3C}"/>
              </a:ext>
            </a:extLst>
          </p:cNvPr>
          <p:cNvSpPr/>
          <p:nvPr/>
        </p:nvSpPr>
        <p:spPr>
          <a:xfrm>
            <a:off x="948690" y="2548890"/>
            <a:ext cx="10218420" cy="761824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2A89101-29E2-1CC0-73E4-C28DBFF93412}"/>
              </a:ext>
            </a:extLst>
          </p:cNvPr>
          <p:cNvSpPr/>
          <p:nvPr/>
        </p:nvSpPr>
        <p:spPr>
          <a:xfrm>
            <a:off x="1223010" y="2594610"/>
            <a:ext cx="1577340" cy="6858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9959C85-B202-9139-64C2-E61016D36DFC}"/>
              </a:ext>
            </a:extLst>
          </p:cNvPr>
          <p:cNvSpPr/>
          <p:nvPr/>
        </p:nvSpPr>
        <p:spPr>
          <a:xfrm>
            <a:off x="5193030" y="2594610"/>
            <a:ext cx="1577340" cy="6858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8246A3C-CE58-C248-79C4-A2843CF879C8}"/>
              </a:ext>
            </a:extLst>
          </p:cNvPr>
          <p:cNvSpPr/>
          <p:nvPr/>
        </p:nvSpPr>
        <p:spPr>
          <a:xfrm>
            <a:off x="7158990" y="2590800"/>
            <a:ext cx="1577340" cy="6858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B9C1260-E195-0C4C-354C-AF01C2151264}"/>
              </a:ext>
            </a:extLst>
          </p:cNvPr>
          <p:cNvSpPr/>
          <p:nvPr/>
        </p:nvSpPr>
        <p:spPr>
          <a:xfrm>
            <a:off x="9163050" y="2590800"/>
            <a:ext cx="1577340" cy="6858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j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B00C560-6F51-C221-ECE3-9BD967F198B9}"/>
              </a:ext>
            </a:extLst>
          </p:cNvPr>
          <p:cNvSpPr/>
          <p:nvPr/>
        </p:nvSpPr>
        <p:spPr>
          <a:xfrm>
            <a:off x="3188970" y="2594610"/>
            <a:ext cx="1577340" cy="6858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A88BBEC-CDDA-7116-0E86-C286A1F9B82F}"/>
              </a:ext>
            </a:extLst>
          </p:cNvPr>
          <p:cNvCxnSpPr/>
          <p:nvPr/>
        </p:nvCxnSpPr>
        <p:spPr>
          <a:xfrm>
            <a:off x="9921240" y="1979853"/>
            <a:ext cx="0" cy="532285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09ADA5D-AB86-04DC-4AB4-ABBC7416A8A3}"/>
              </a:ext>
            </a:extLst>
          </p:cNvPr>
          <p:cNvCxnSpPr>
            <a:cxnSpLocks/>
          </p:cNvCxnSpPr>
          <p:nvPr/>
        </p:nvCxnSpPr>
        <p:spPr>
          <a:xfrm flipV="1">
            <a:off x="7947660" y="3429000"/>
            <a:ext cx="0" cy="532285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A036FE04-B7A6-B521-A3A4-5D9BB90B043B}"/>
              </a:ext>
            </a:extLst>
          </p:cNvPr>
          <p:cNvSpPr txBox="1"/>
          <p:nvPr/>
        </p:nvSpPr>
        <p:spPr>
          <a:xfrm>
            <a:off x="9446181" y="1542810"/>
            <a:ext cx="9501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</a:t>
            </a:r>
            <a:endParaRPr lang="en-IN" sz="2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EA1F702-845E-F6AE-CDE5-4DD2B3AD03DD}"/>
              </a:ext>
            </a:extLst>
          </p:cNvPr>
          <p:cNvSpPr txBox="1"/>
          <p:nvPr/>
        </p:nvSpPr>
        <p:spPr>
          <a:xfrm>
            <a:off x="7644051" y="4003358"/>
            <a:ext cx="79771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Tail</a:t>
            </a:r>
            <a:endParaRPr lang="en-IN" sz="2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3CAA356-8CFD-720A-12FD-624819F8B684}"/>
              </a:ext>
            </a:extLst>
          </p:cNvPr>
          <p:cNvSpPr txBox="1"/>
          <p:nvPr/>
        </p:nvSpPr>
        <p:spPr>
          <a:xfrm>
            <a:off x="74773" y="2738974"/>
            <a:ext cx="101107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</a:t>
            </a:r>
            <a:endParaRPr lang="en-IN" sz="2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C9D241A-3771-D331-E80C-B51D1569C69B}"/>
              </a:ext>
            </a:extLst>
          </p:cNvPr>
          <p:cNvSpPr txBox="1"/>
          <p:nvPr/>
        </p:nvSpPr>
        <p:spPr>
          <a:xfrm>
            <a:off x="11167110" y="2674781"/>
            <a:ext cx="101107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</a:t>
            </a:r>
            <a:endParaRPr lang="en-IN" sz="24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CA6DD97-32CA-88E4-CA62-A3316E6F2CB2}"/>
              </a:ext>
            </a:extLst>
          </p:cNvPr>
          <p:cNvSpPr txBox="1"/>
          <p:nvPr/>
        </p:nvSpPr>
        <p:spPr>
          <a:xfrm>
            <a:off x="392430" y="757884"/>
            <a:ext cx="1011936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N" b="0" i="0" dirty="0">
                <a:solidFill>
                  <a:srgbClr val="393A3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Char data = ‘j’;</a:t>
            </a:r>
          </a:p>
          <a:p>
            <a:pPr algn="l">
              <a:buNone/>
            </a:pPr>
            <a:r>
              <a:rPr lang="en-IN" b="0" i="0" dirty="0" err="1">
                <a:solidFill>
                  <a:srgbClr val="393A3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BaseType_t</a:t>
            </a:r>
            <a:r>
              <a:rPr lang="en-IN" b="0" i="0" dirty="0">
                <a:solidFill>
                  <a:srgbClr val="393A3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xQueueSendToFront</a:t>
            </a:r>
            <a:r>
              <a:rPr lang="en-IN" b="0" i="0" dirty="0">
                <a:solidFill>
                  <a:srgbClr val="393A3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b="0" i="0" dirty="0" err="1">
                <a:solidFill>
                  <a:srgbClr val="393A3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QueueHandle_t</a:t>
            </a:r>
            <a:r>
              <a:rPr lang="en-IN" b="0" i="0" dirty="0">
                <a:solidFill>
                  <a:srgbClr val="393A3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xQueue</a:t>
            </a:r>
            <a:r>
              <a:rPr lang="en-IN" b="0" i="0" dirty="0">
                <a:solidFill>
                  <a:srgbClr val="393A3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b="0" i="0" dirty="0" err="1">
                <a:solidFill>
                  <a:srgbClr val="00009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lang="en-IN" b="0" i="0" dirty="0">
                <a:solidFill>
                  <a:srgbClr val="393A3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0" i="0" dirty="0">
                <a:solidFill>
                  <a:srgbClr val="00009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en-IN" b="0" i="0" dirty="0">
                <a:solidFill>
                  <a:srgbClr val="393A3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* </a:t>
            </a:r>
            <a:r>
              <a:rPr lang="en-IN" b="1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pvItemToQueue</a:t>
            </a:r>
            <a:r>
              <a:rPr lang="en-IN" b="0" i="0" dirty="0">
                <a:solidFill>
                  <a:srgbClr val="393A3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b="0" i="0" dirty="0" err="1">
                <a:solidFill>
                  <a:srgbClr val="393A3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TickType_t</a:t>
            </a:r>
            <a:r>
              <a:rPr lang="en-IN" b="0" i="0" dirty="0">
                <a:solidFill>
                  <a:srgbClr val="393A3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xTicksToWait</a:t>
            </a:r>
            <a:r>
              <a:rPr lang="en-IN" b="0" i="0" dirty="0">
                <a:solidFill>
                  <a:srgbClr val="393A3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r>
              <a:rPr lang="en-IN" dirty="0" err="1">
                <a:solidFill>
                  <a:srgbClr val="393A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BaseType_t</a:t>
            </a:r>
            <a:r>
              <a:rPr lang="en-IN" dirty="0">
                <a:solidFill>
                  <a:srgbClr val="393A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xQueueSendToFront</a:t>
            </a:r>
            <a:r>
              <a:rPr lang="en-IN" dirty="0">
                <a:solidFill>
                  <a:srgbClr val="393A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b="1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Queue_handle</a:t>
            </a:r>
            <a:r>
              <a:rPr lang="en-IN" dirty="0">
                <a:solidFill>
                  <a:srgbClr val="393A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&amp;data</a:t>
            </a:r>
            <a:r>
              <a:rPr lang="en-IN" dirty="0">
                <a:solidFill>
                  <a:srgbClr val="393A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 </a:t>
            </a:r>
            <a:r>
              <a:rPr lang="en-IN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1000</a:t>
            </a:r>
            <a:r>
              <a:rPr lang="en-IN" dirty="0">
                <a:solidFill>
                  <a:srgbClr val="393A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algn="l">
              <a:buNone/>
            </a:pPr>
            <a:endParaRPr lang="en-IN" b="0" i="0" dirty="0">
              <a:solidFill>
                <a:srgbClr val="393A34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74DABDE-10FF-0EBB-B16E-E394B18BFA12}"/>
              </a:ext>
            </a:extLst>
          </p:cNvPr>
          <p:cNvSpPr txBox="1"/>
          <p:nvPr/>
        </p:nvSpPr>
        <p:spPr>
          <a:xfrm>
            <a:off x="580311" y="4234190"/>
            <a:ext cx="61093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N" b="0" i="0" dirty="0">
                <a:solidFill>
                  <a:srgbClr val="393A3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Char data = ‘a’;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E1C8B00-EB2D-3FF0-C13D-DFEF610D6B02}"/>
              </a:ext>
            </a:extLst>
          </p:cNvPr>
          <p:cNvSpPr/>
          <p:nvPr/>
        </p:nvSpPr>
        <p:spPr>
          <a:xfrm>
            <a:off x="952500" y="4735830"/>
            <a:ext cx="10218420" cy="761824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EFEFD560-D57B-7CD9-2F94-3F8687563A8A}"/>
              </a:ext>
            </a:extLst>
          </p:cNvPr>
          <p:cNvSpPr/>
          <p:nvPr/>
        </p:nvSpPr>
        <p:spPr>
          <a:xfrm>
            <a:off x="1226820" y="4781550"/>
            <a:ext cx="1577340" cy="6858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8166002D-FCB6-9D26-9201-256DCCA0521B}"/>
              </a:ext>
            </a:extLst>
          </p:cNvPr>
          <p:cNvSpPr/>
          <p:nvPr/>
        </p:nvSpPr>
        <p:spPr>
          <a:xfrm>
            <a:off x="5196840" y="4781550"/>
            <a:ext cx="1577340" cy="6858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0314C462-2FAC-9541-575D-82B731B60875}"/>
              </a:ext>
            </a:extLst>
          </p:cNvPr>
          <p:cNvSpPr/>
          <p:nvPr/>
        </p:nvSpPr>
        <p:spPr>
          <a:xfrm>
            <a:off x="7162800" y="4777740"/>
            <a:ext cx="1577340" cy="6858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j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22FDD9A6-2D24-64D4-B24E-EA99D33A0BEA}"/>
              </a:ext>
            </a:extLst>
          </p:cNvPr>
          <p:cNvSpPr/>
          <p:nvPr/>
        </p:nvSpPr>
        <p:spPr>
          <a:xfrm>
            <a:off x="9166860" y="4777740"/>
            <a:ext cx="1577340" cy="6858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F5FB1726-BA08-8BA8-5212-80B58B822931}"/>
              </a:ext>
            </a:extLst>
          </p:cNvPr>
          <p:cNvSpPr/>
          <p:nvPr/>
        </p:nvSpPr>
        <p:spPr>
          <a:xfrm>
            <a:off x="3192780" y="4781550"/>
            <a:ext cx="1577340" cy="6858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CC60DBE-EDFB-A92D-43DF-71AED902455E}"/>
              </a:ext>
            </a:extLst>
          </p:cNvPr>
          <p:cNvCxnSpPr/>
          <p:nvPr/>
        </p:nvCxnSpPr>
        <p:spPr>
          <a:xfrm>
            <a:off x="9925050" y="4166793"/>
            <a:ext cx="0" cy="532285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AB4C3E0-97FA-5F19-1C86-359D30E191E2}"/>
              </a:ext>
            </a:extLst>
          </p:cNvPr>
          <p:cNvCxnSpPr>
            <a:cxnSpLocks/>
          </p:cNvCxnSpPr>
          <p:nvPr/>
        </p:nvCxnSpPr>
        <p:spPr>
          <a:xfrm flipV="1">
            <a:off x="5981700" y="5566573"/>
            <a:ext cx="0" cy="532285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82D1E0FA-BB3F-DAE0-E722-BA116AE2582A}"/>
              </a:ext>
            </a:extLst>
          </p:cNvPr>
          <p:cNvSpPr txBox="1"/>
          <p:nvPr/>
        </p:nvSpPr>
        <p:spPr>
          <a:xfrm>
            <a:off x="9449991" y="3729750"/>
            <a:ext cx="9501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</a:t>
            </a:r>
            <a:endParaRPr lang="en-IN" sz="24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1C995B1-E8E0-585A-3066-EEF241563E26}"/>
              </a:ext>
            </a:extLst>
          </p:cNvPr>
          <p:cNvSpPr txBox="1"/>
          <p:nvPr/>
        </p:nvSpPr>
        <p:spPr>
          <a:xfrm>
            <a:off x="5659041" y="5973128"/>
            <a:ext cx="79771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Tail</a:t>
            </a:r>
            <a:endParaRPr lang="en-IN" sz="24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ABF5224-C6F5-AAD8-0DC9-DA3517057E95}"/>
              </a:ext>
            </a:extLst>
          </p:cNvPr>
          <p:cNvSpPr txBox="1"/>
          <p:nvPr/>
        </p:nvSpPr>
        <p:spPr>
          <a:xfrm>
            <a:off x="78583" y="4925914"/>
            <a:ext cx="101107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</a:t>
            </a:r>
            <a:endParaRPr lang="en-IN" sz="24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44C3DC3-B660-5171-3A47-674B83220F64}"/>
              </a:ext>
            </a:extLst>
          </p:cNvPr>
          <p:cNvSpPr txBox="1"/>
          <p:nvPr/>
        </p:nvSpPr>
        <p:spPr>
          <a:xfrm>
            <a:off x="11170920" y="4861721"/>
            <a:ext cx="101107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</a:t>
            </a:r>
            <a:endParaRPr lang="en-IN" sz="240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76E27DD-5D87-DAD1-13D8-39213989401D}"/>
              </a:ext>
            </a:extLst>
          </p:cNvPr>
          <p:cNvGrpSpPr/>
          <p:nvPr/>
        </p:nvGrpSpPr>
        <p:grpSpPr>
          <a:xfrm>
            <a:off x="0" y="6466566"/>
            <a:ext cx="12192000" cy="403007"/>
            <a:chOff x="0" y="6478141"/>
            <a:chExt cx="12192000" cy="403007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D401750-9475-266F-FD72-7BEA748C069F}"/>
                </a:ext>
              </a:extLst>
            </p:cNvPr>
            <p:cNvSpPr/>
            <p:nvPr/>
          </p:nvSpPr>
          <p:spPr>
            <a:xfrm>
              <a:off x="0" y="6484069"/>
              <a:ext cx="12192000" cy="397079"/>
            </a:xfrm>
            <a:prstGeom prst="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dirty="0"/>
                <a:t>                   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Jai Raja Saravanam S                                                                                                        </a:t>
              </a:r>
              <a:r>
                <a:rPr lang="en-IN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Emcog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Solutions</a:t>
              </a:r>
              <a:r>
                <a:rPr lang="en-IN" dirty="0"/>
                <a:t> </a:t>
              </a: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B260383-F7DE-8A85-2A86-98631CD2452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734477" y="6478141"/>
              <a:ext cx="349866" cy="3830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463483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3FCD8-87B2-C933-CA85-59F9D3001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783D71A9-4BB5-A2CB-2C5A-4E4A28696875}"/>
              </a:ext>
            </a:extLst>
          </p:cNvPr>
          <p:cNvSpPr txBox="1">
            <a:spLocks/>
          </p:cNvSpPr>
          <p:nvPr/>
        </p:nvSpPr>
        <p:spPr>
          <a:xfrm>
            <a:off x="547992" y="165711"/>
            <a:ext cx="11096011" cy="60133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Queue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52BC0C9-1C99-6CBA-1622-39DBD47F8654}"/>
              </a:ext>
            </a:extLst>
          </p:cNvPr>
          <p:cNvSpPr/>
          <p:nvPr/>
        </p:nvSpPr>
        <p:spPr>
          <a:xfrm>
            <a:off x="948690" y="2331720"/>
            <a:ext cx="10218420" cy="761824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5D002DC-10A2-235E-EE59-A4C6F0392CF1}"/>
              </a:ext>
            </a:extLst>
          </p:cNvPr>
          <p:cNvSpPr/>
          <p:nvPr/>
        </p:nvSpPr>
        <p:spPr>
          <a:xfrm>
            <a:off x="1223010" y="2377440"/>
            <a:ext cx="1577340" cy="6858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F682EA2-06EF-7D92-3536-03173F076F5B}"/>
              </a:ext>
            </a:extLst>
          </p:cNvPr>
          <p:cNvSpPr/>
          <p:nvPr/>
        </p:nvSpPr>
        <p:spPr>
          <a:xfrm>
            <a:off x="5193030" y="2377440"/>
            <a:ext cx="1577340" cy="6858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9EBC586-0855-B6AB-9FF4-0F2E9ABC01F8}"/>
              </a:ext>
            </a:extLst>
          </p:cNvPr>
          <p:cNvSpPr/>
          <p:nvPr/>
        </p:nvSpPr>
        <p:spPr>
          <a:xfrm>
            <a:off x="7158990" y="2373630"/>
            <a:ext cx="1577340" cy="6858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j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212B73B-5ED6-91B5-601A-CCAE2B52F159}"/>
              </a:ext>
            </a:extLst>
          </p:cNvPr>
          <p:cNvSpPr/>
          <p:nvPr/>
        </p:nvSpPr>
        <p:spPr>
          <a:xfrm>
            <a:off x="9163050" y="2373630"/>
            <a:ext cx="1577340" cy="6858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BE94ACE-85B0-0E0D-2A46-7FD3238F76E2}"/>
              </a:ext>
            </a:extLst>
          </p:cNvPr>
          <p:cNvSpPr/>
          <p:nvPr/>
        </p:nvSpPr>
        <p:spPr>
          <a:xfrm>
            <a:off x="3188970" y="2377440"/>
            <a:ext cx="1577340" cy="6858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4C93F64-FBB3-713C-3F28-075F1DE189A8}"/>
              </a:ext>
            </a:extLst>
          </p:cNvPr>
          <p:cNvCxnSpPr/>
          <p:nvPr/>
        </p:nvCxnSpPr>
        <p:spPr>
          <a:xfrm>
            <a:off x="9921240" y="1874588"/>
            <a:ext cx="0" cy="399914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CD223D3-7E60-0ABF-F000-77AE1411F296}"/>
              </a:ext>
            </a:extLst>
          </p:cNvPr>
          <p:cNvCxnSpPr>
            <a:cxnSpLocks/>
          </p:cNvCxnSpPr>
          <p:nvPr/>
        </p:nvCxnSpPr>
        <p:spPr>
          <a:xfrm flipV="1">
            <a:off x="7947660" y="3129425"/>
            <a:ext cx="0" cy="399914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C0626D85-21F8-105F-B14A-D3EDBA8CBB00}"/>
              </a:ext>
            </a:extLst>
          </p:cNvPr>
          <p:cNvSpPr txBox="1"/>
          <p:nvPr/>
        </p:nvSpPr>
        <p:spPr>
          <a:xfrm>
            <a:off x="9476661" y="1484116"/>
            <a:ext cx="9501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</a:t>
            </a:r>
            <a:endParaRPr lang="en-IN" sz="2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B0358D6-ACBC-90A2-C39B-7C2ECC0AF994}"/>
              </a:ext>
            </a:extLst>
          </p:cNvPr>
          <p:cNvSpPr txBox="1"/>
          <p:nvPr/>
        </p:nvSpPr>
        <p:spPr>
          <a:xfrm>
            <a:off x="7666911" y="3502245"/>
            <a:ext cx="79771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Tail</a:t>
            </a:r>
            <a:endParaRPr lang="en-IN" sz="2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E515C9A-8358-3C88-D8AB-4F3BF78FA1F3}"/>
              </a:ext>
            </a:extLst>
          </p:cNvPr>
          <p:cNvSpPr txBox="1"/>
          <p:nvPr/>
        </p:nvSpPr>
        <p:spPr>
          <a:xfrm>
            <a:off x="74773" y="2521804"/>
            <a:ext cx="101107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</a:t>
            </a:r>
            <a:endParaRPr lang="en-IN" sz="2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995DE6F-3147-042A-86A4-1211D70CF136}"/>
              </a:ext>
            </a:extLst>
          </p:cNvPr>
          <p:cNvSpPr txBox="1"/>
          <p:nvPr/>
        </p:nvSpPr>
        <p:spPr>
          <a:xfrm>
            <a:off x="11167110" y="2457611"/>
            <a:ext cx="101107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</a:t>
            </a:r>
            <a:endParaRPr lang="en-IN" sz="24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2C4C51C-5D75-0ECB-4BAE-6618501F2F81}"/>
              </a:ext>
            </a:extLst>
          </p:cNvPr>
          <p:cNvSpPr txBox="1"/>
          <p:nvPr/>
        </p:nvSpPr>
        <p:spPr>
          <a:xfrm>
            <a:off x="392430" y="734944"/>
            <a:ext cx="1011936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N" b="0" i="0" dirty="0">
                <a:solidFill>
                  <a:srgbClr val="393A3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Char data </a:t>
            </a:r>
            <a:r>
              <a:rPr lang="en-IN" dirty="0">
                <a:solidFill>
                  <a:srgbClr val="393A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=‘0’</a:t>
            </a:r>
            <a:r>
              <a:rPr lang="en-IN" b="0" i="0" dirty="0">
                <a:solidFill>
                  <a:srgbClr val="393A3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algn="l">
              <a:buNone/>
            </a:pPr>
            <a:r>
              <a:rPr lang="en-IN" b="0" i="0" dirty="0" err="1">
                <a:solidFill>
                  <a:srgbClr val="393A3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BaseType_t</a:t>
            </a:r>
            <a:r>
              <a:rPr lang="en-IN" b="0" i="0" dirty="0">
                <a:solidFill>
                  <a:srgbClr val="393A3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xQueueReceive</a:t>
            </a:r>
            <a:r>
              <a:rPr lang="en-IN" b="0" i="0" dirty="0">
                <a:solidFill>
                  <a:srgbClr val="393A3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b="0" i="0" dirty="0" err="1">
                <a:solidFill>
                  <a:srgbClr val="393A3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QueueHandle_t</a:t>
            </a:r>
            <a:r>
              <a:rPr lang="en-IN" b="0" i="0" dirty="0">
                <a:solidFill>
                  <a:srgbClr val="393A3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xQueue</a:t>
            </a:r>
            <a:r>
              <a:rPr lang="en-IN" b="0" i="0" dirty="0">
                <a:solidFill>
                  <a:srgbClr val="393A3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b="0" i="0" dirty="0" err="1">
                <a:solidFill>
                  <a:srgbClr val="00009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lang="en-IN" b="0" i="0" dirty="0">
                <a:solidFill>
                  <a:srgbClr val="393A3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0" i="0" dirty="0">
                <a:solidFill>
                  <a:srgbClr val="00009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en-IN" b="0" i="0" dirty="0">
                <a:solidFill>
                  <a:srgbClr val="393A3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* </a:t>
            </a:r>
            <a:r>
              <a:rPr lang="en-IN" b="1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pvbuffer</a:t>
            </a:r>
            <a:r>
              <a:rPr lang="en-IN" b="0" i="0" dirty="0">
                <a:solidFill>
                  <a:srgbClr val="393A3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b="0" i="0" dirty="0" err="1">
                <a:solidFill>
                  <a:srgbClr val="393A3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TickType_t</a:t>
            </a:r>
            <a:r>
              <a:rPr lang="en-IN" b="0" i="0" dirty="0">
                <a:solidFill>
                  <a:srgbClr val="393A3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xTicksToWait</a:t>
            </a:r>
            <a:r>
              <a:rPr lang="en-IN" b="0" i="0" dirty="0">
                <a:solidFill>
                  <a:srgbClr val="393A3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r>
              <a:rPr lang="en-IN" dirty="0" err="1">
                <a:solidFill>
                  <a:srgbClr val="393A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BaseType_t</a:t>
            </a:r>
            <a:r>
              <a:rPr lang="en-IN" dirty="0">
                <a:solidFill>
                  <a:srgbClr val="393A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xQueueReceive</a:t>
            </a:r>
            <a:r>
              <a:rPr lang="en-IN" dirty="0">
                <a:solidFill>
                  <a:srgbClr val="393A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b="1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Queue_handle</a:t>
            </a:r>
            <a:r>
              <a:rPr lang="en-IN" dirty="0">
                <a:solidFill>
                  <a:srgbClr val="393A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&amp;data</a:t>
            </a:r>
            <a:r>
              <a:rPr lang="en-IN" dirty="0">
                <a:solidFill>
                  <a:srgbClr val="393A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 </a:t>
            </a:r>
            <a:r>
              <a:rPr lang="en-IN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1000</a:t>
            </a:r>
            <a:r>
              <a:rPr lang="en-IN" dirty="0">
                <a:solidFill>
                  <a:srgbClr val="393A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algn="l">
              <a:buNone/>
            </a:pPr>
            <a:endParaRPr lang="en-IN" b="0" i="0" dirty="0">
              <a:solidFill>
                <a:srgbClr val="393A34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0D5263A-001B-9BCD-2E75-D358AADEEBEB}"/>
              </a:ext>
            </a:extLst>
          </p:cNvPr>
          <p:cNvSpPr/>
          <p:nvPr/>
        </p:nvSpPr>
        <p:spPr>
          <a:xfrm>
            <a:off x="952500" y="4735830"/>
            <a:ext cx="10218420" cy="761824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75B3820-BD70-BA6B-E53F-1A5BCB9B8FE1}"/>
              </a:ext>
            </a:extLst>
          </p:cNvPr>
          <p:cNvSpPr/>
          <p:nvPr/>
        </p:nvSpPr>
        <p:spPr>
          <a:xfrm>
            <a:off x="1226820" y="4781550"/>
            <a:ext cx="1577340" cy="6858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360F3AF2-0CB9-41F1-9EE0-D9932EC0F42E}"/>
              </a:ext>
            </a:extLst>
          </p:cNvPr>
          <p:cNvSpPr/>
          <p:nvPr/>
        </p:nvSpPr>
        <p:spPr>
          <a:xfrm>
            <a:off x="5196840" y="4781550"/>
            <a:ext cx="1577340" cy="6858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DB4AF00D-59DB-7177-6A55-AACC5E8BA588}"/>
              </a:ext>
            </a:extLst>
          </p:cNvPr>
          <p:cNvSpPr/>
          <p:nvPr/>
        </p:nvSpPr>
        <p:spPr>
          <a:xfrm>
            <a:off x="7162800" y="4777740"/>
            <a:ext cx="1577340" cy="6858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j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2898111B-CC0E-15FE-BA86-CA4B9DBBB62B}"/>
              </a:ext>
            </a:extLst>
          </p:cNvPr>
          <p:cNvSpPr/>
          <p:nvPr/>
        </p:nvSpPr>
        <p:spPr>
          <a:xfrm>
            <a:off x="9166860" y="4777740"/>
            <a:ext cx="1577340" cy="6858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j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3E7DAE2F-05E7-4F58-5EB6-E20E1631985D}"/>
              </a:ext>
            </a:extLst>
          </p:cNvPr>
          <p:cNvSpPr/>
          <p:nvPr/>
        </p:nvSpPr>
        <p:spPr>
          <a:xfrm>
            <a:off x="3192780" y="4781550"/>
            <a:ext cx="1577340" cy="6858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3E68C71-B645-8EC8-8F53-0B2ECC44E551}"/>
              </a:ext>
            </a:extLst>
          </p:cNvPr>
          <p:cNvCxnSpPr/>
          <p:nvPr/>
        </p:nvCxnSpPr>
        <p:spPr>
          <a:xfrm>
            <a:off x="9925050" y="4296876"/>
            <a:ext cx="0" cy="363558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E2FD4B7-8560-0338-6895-AE9693B8D964}"/>
              </a:ext>
            </a:extLst>
          </p:cNvPr>
          <p:cNvCxnSpPr>
            <a:cxnSpLocks/>
          </p:cNvCxnSpPr>
          <p:nvPr/>
        </p:nvCxnSpPr>
        <p:spPr>
          <a:xfrm flipV="1">
            <a:off x="5981700" y="5548066"/>
            <a:ext cx="0" cy="363558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3A3A5CA8-D8F9-B2F2-3C15-044C05EF535C}"/>
              </a:ext>
            </a:extLst>
          </p:cNvPr>
          <p:cNvSpPr txBox="1"/>
          <p:nvPr/>
        </p:nvSpPr>
        <p:spPr>
          <a:xfrm>
            <a:off x="9476661" y="3904844"/>
            <a:ext cx="9501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</a:t>
            </a:r>
            <a:endParaRPr lang="en-IN" sz="24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E04496B-17BD-CCF3-F33F-A181A29A25F6}"/>
              </a:ext>
            </a:extLst>
          </p:cNvPr>
          <p:cNvSpPr txBox="1"/>
          <p:nvPr/>
        </p:nvSpPr>
        <p:spPr>
          <a:xfrm>
            <a:off x="5659041" y="5849879"/>
            <a:ext cx="797717" cy="419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Tail</a:t>
            </a:r>
            <a:endParaRPr lang="en-IN" sz="24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2129EC9-CFE3-FC84-529E-1056C2D3B143}"/>
              </a:ext>
            </a:extLst>
          </p:cNvPr>
          <p:cNvSpPr txBox="1"/>
          <p:nvPr/>
        </p:nvSpPr>
        <p:spPr>
          <a:xfrm>
            <a:off x="78583" y="4925914"/>
            <a:ext cx="101107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</a:t>
            </a:r>
            <a:endParaRPr lang="en-IN" sz="24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E1B4FFF-8545-F362-5376-D48065B68DAB}"/>
              </a:ext>
            </a:extLst>
          </p:cNvPr>
          <p:cNvSpPr txBox="1"/>
          <p:nvPr/>
        </p:nvSpPr>
        <p:spPr>
          <a:xfrm>
            <a:off x="11170920" y="4861721"/>
            <a:ext cx="101107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</a:t>
            </a:r>
            <a:endParaRPr lang="en-IN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1CB9B3-83D8-B044-FCD7-C3502686B56D}"/>
              </a:ext>
            </a:extLst>
          </p:cNvPr>
          <p:cNvSpPr txBox="1"/>
          <p:nvPr/>
        </p:nvSpPr>
        <p:spPr>
          <a:xfrm>
            <a:off x="895353" y="3293414"/>
            <a:ext cx="193928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= ‘a’;</a:t>
            </a:r>
            <a:endParaRPr lang="en-IN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9710B4-70C0-A70F-A141-214075FEF668}"/>
              </a:ext>
            </a:extLst>
          </p:cNvPr>
          <p:cNvSpPr txBox="1"/>
          <p:nvPr/>
        </p:nvSpPr>
        <p:spPr>
          <a:xfrm>
            <a:off x="1104900" y="5892223"/>
            <a:ext cx="18135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= ‘j’;</a:t>
            </a:r>
            <a:endParaRPr lang="en-IN" sz="240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CB85E98-DF37-D6F0-39B8-D1E1B166C5DF}"/>
              </a:ext>
            </a:extLst>
          </p:cNvPr>
          <p:cNvGrpSpPr/>
          <p:nvPr/>
        </p:nvGrpSpPr>
        <p:grpSpPr>
          <a:xfrm>
            <a:off x="0" y="6466566"/>
            <a:ext cx="12192000" cy="403007"/>
            <a:chOff x="0" y="6478141"/>
            <a:chExt cx="12192000" cy="403007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B700D69-5A0D-E9E3-E2A3-DC74684E8623}"/>
                </a:ext>
              </a:extLst>
            </p:cNvPr>
            <p:cNvSpPr/>
            <p:nvPr/>
          </p:nvSpPr>
          <p:spPr>
            <a:xfrm>
              <a:off x="0" y="6484069"/>
              <a:ext cx="12192000" cy="397079"/>
            </a:xfrm>
            <a:prstGeom prst="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dirty="0"/>
                <a:t>                   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Jai Raja Saravanam S                                                                                                        </a:t>
              </a:r>
              <a:r>
                <a:rPr lang="en-IN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Emcog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Solutions</a:t>
              </a:r>
              <a:r>
                <a:rPr lang="en-IN" dirty="0"/>
                <a:t> </a:t>
              </a:r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B6788F82-3641-2EC8-F745-AE9046F5084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734477" y="6478141"/>
              <a:ext cx="349866" cy="3830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7540670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0F3A3D-4E5F-1306-69CE-B74971045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EA85F6F-3868-7FE1-B1D8-6DCA8DE617AF}"/>
              </a:ext>
            </a:extLst>
          </p:cNvPr>
          <p:cNvSpPr txBox="1">
            <a:spLocks/>
          </p:cNvSpPr>
          <p:nvPr/>
        </p:nvSpPr>
        <p:spPr>
          <a:xfrm>
            <a:off x="547992" y="267311"/>
            <a:ext cx="11096011" cy="60133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Queue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A0B786-5952-6579-E13D-546E55BBA0B6}"/>
              </a:ext>
            </a:extLst>
          </p:cNvPr>
          <p:cNvSpPr txBox="1"/>
          <p:nvPr/>
        </p:nvSpPr>
        <p:spPr>
          <a:xfrm>
            <a:off x="264803" y="1361728"/>
            <a:ext cx="11379200" cy="38116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RTOS API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 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QueueHandle_t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IN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xQueueCreate</a:t>
            </a:r>
            <a:r>
              <a:rPr lang="en-IN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UBaseType_t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uxQueueLength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,UBaseType_t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uxItemSize</a:t>
            </a:r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IN" sz="2000" dirty="0">
              <a:solidFill>
                <a:srgbClr val="00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 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BaseType_t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IN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xQueueSendToBack</a:t>
            </a:r>
            <a:r>
              <a:rPr lang="en-IN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QueueHandle_t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xQueue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,const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void </a:t>
            </a:r>
            <a:r>
              <a:rPr lang="en-IN" sz="20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IN" sz="20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pvItemToQueue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TickType_t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IN" sz="2000" b="1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xTicksToWait</a:t>
            </a:r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 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BaseType_t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xQueueReceive</a:t>
            </a:r>
            <a:r>
              <a:rPr lang="en-IN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QueueHandle_t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xQueue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void </a:t>
            </a:r>
            <a:r>
              <a:rPr lang="en-IN" sz="20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IN" sz="2000" b="1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pvBuffer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TickType_t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xTicksToWait</a:t>
            </a:r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 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BaseType_t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xQueuePeek</a:t>
            </a:r>
            <a:r>
              <a:rPr lang="en-IN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QueueHandle_t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xQueue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void </a:t>
            </a:r>
            <a:r>
              <a:rPr lang="en-IN" sz="20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IN" sz="2000" b="1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pvBuffer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TickType_t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xTicksToWait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);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A6AF89E-E9D4-4AB0-FFA1-38E5158ABBA6}"/>
              </a:ext>
            </a:extLst>
          </p:cNvPr>
          <p:cNvGrpSpPr/>
          <p:nvPr/>
        </p:nvGrpSpPr>
        <p:grpSpPr>
          <a:xfrm>
            <a:off x="0" y="6466566"/>
            <a:ext cx="12192000" cy="403007"/>
            <a:chOff x="0" y="6478141"/>
            <a:chExt cx="12192000" cy="403007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3BB4D7F-5D46-9F1F-3E7D-9F957A32E993}"/>
                </a:ext>
              </a:extLst>
            </p:cNvPr>
            <p:cNvSpPr/>
            <p:nvPr/>
          </p:nvSpPr>
          <p:spPr>
            <a:xfrm>
              <a:off x="0" y="6484069"/>
              <a:ext cx="12192000" cy="397079"/>
            </a:xfrm>
            <a:prstGeom prst="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dirty="0"/>
                <a:t>                   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Jai Raja Saravanam S                                                                                                        </a:t>
              </a:r>
              <a:r>
                <a:rPr lang="en-IN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Emcog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Solutions</a:t>
              </a:r>
              <a:r>
                <a:rPr lang="en-IN" dirty="0"/>
                <a:t> </a:t>
              </a: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F68C3D14-7897-16F3-42E0-2426AB2AA03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734477" y="6478141"/>
              <a:ext cx="349866" cy="3830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0749706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AA8E4-D7C9-ECA9-B32C-3EBA3DB3F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47AB195-6CB1-C8E4-3AE3-7EC219FAA126}"/>
              </a:ext>
            </a:extLst>
          </p:cNvPr>
          <p:cNvSpPr txBox="1">
            <a:spLocks/>
          </p:cNvSpPr>
          <p:nvPr/>
        </p:nvSpPr>
        <p:spPr>
          <a:xfrm>
            <a:off x="547992" y="267311"/>
            <a:ext cx="11096011" cy="60133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Queue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9C9211-E2CC-1667-C2AA-953B66E445AD}"/>
              </a:ext>
            </a:extLst>
          </p:cNvPr>
          <p:cNvSpPr txBox="1"/>
          <p:nvPr/>
        </p:nvSpPr>
        <p:spPr>
          <a:xfrm>
            <a:off x="264803" y="1329078"/>
            <a:ext cx="11379200" cy="4001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QueueHandle_t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IN" sz="20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xQueueCreate</a:t>
            </a:r>
            <a:r>
              <a:rPr lang="en-IN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UBaseType_t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uxQueueLength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,UBaseType_t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uxItemSize</a:t>
            </a:r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Creates a new queue and returns a handle by which the queue can be referenced.</a:t>
            </a:r>
            <a:endParaRPr lang="en-IN" sz="2000" b="1" dirty="0">
              <a:solidFill>
                <a:srgbClr val="00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Parameters :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sz="20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uxQueueLength</a:t>
            </a:r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maximum number of items the queue can hold at any one time</a:t>
            </a:r>
          </a:p>
          <a:p>
            <a:pPr algn="just">
              <a:lnSpc>
                <a:spcPct val="150000"/>
              </a:lnSpc>
            </a:pPr>
            <a:r>
              <a:rPr lang="en-IN" sz="20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uxItemSize</a:t>
            </a:r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size, in bytes, required to hold each item in the queue.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 :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If the queue is created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then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the created queue is returned. If the memory required to create the queue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could not be allocated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NULL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returned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61F9E80-00D9-4DF7-9E62-53F37A1D209B}"/>
              </a:ext>
            </a:extLst>
          </p:cNvPr>
          <p:cNvGrpSpPr/>
          <p:nvPr/>
        </p:nvGrpSpPr>
        <p:grpSpPr>
          <a:xfrm>
            <a:off x="0" y="6466566"/>
            <a:ext cx="12192000" cy="403007"/>
            <a:chOff x="0" y="6478141"/>
            <a:chExt cx="12192000" cy="403007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ED03FE5-F79B-B08B-1DA0-4BC67F4E46B7}"/>
                </a:ext>
              </a:extLst>
            </p:cNvPr>
            <p:cNvSpPr/>
            <p:nvPr/>
          </p:nvSpPr>
          <p:spPr>
            <a:xfrm>
              <a:off x="0" y="6484069"/>
              <a:ext cx="12192000" cy="397079"/>
            </a:xfrm>
            <a:prstGeom prst="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dirty="0"/>
                <a:t>                   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Jai Raja Saravanam S                                                                                                        </a:t>
              </a:r>
              <a:r>
                <a:rPr lang="en-IN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Emcog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Solutions</a:t>
              </a:r>
              <a:r>
                <a:rPr lang="en-IN" dirty="0"/>
                <a:t> </a:t>
              </a: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D811B3B9-1DFD-B5A1-A79D-98BDFF833FF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734477" y="6478141"/>
              <a:ext cx="349866" cy="3830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0625688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3BD4F-06F9-A3F2-FEFC-17A3584CB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CA17F9E-9786-7A6E-7575-D804083164D2}"/>
              </a:ext>
            </a:extLst>
          </p:cNvPr>
          <p:cNvSpPr txBox="1">
            <a:spLocks/>
          </p:cNvSpPr>
          <p:nvPr/>
        </p:nvSpPr>
        <p:spPr>
          <a:xfrm>
            <a:off x="547992" y="267311"/>
            <a:ext cx="11096011" cy="60133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Queue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2A19E4-B313-725B-351F-6423E8EC275C}"/>
              </a:ext>
            </a:extLst>
          </p:cNvPr>
          <p:cNvSpPr txBox="1"/>
          <p:nvPr/>
        </p:nvSpPr>
        <p:spPr>
          <a:xfrm>
            <a:off x="264803" y="934650"/>
            <a:ext cx="11379200" cy="5293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BaseType_t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IN" sz="20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xQueueSend</a:t>
            </a:r>
            <a:r>
              <a:rPr lang="en-IN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QueueHandle_t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xQueue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,const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void </a:t>
            </a:r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IN" sz="20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pvItemToQueue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TickType_t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 algn="just">
              <a:lnSpc>
                <a:spcPct val="150000"/>
              </a:lnSpc>
            </a:pPr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</a:t>
            </a:r>
            <a:r>
              <a:rPr lang="en-IN" sz="20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xTicksToWait</a:t>
            </a:r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IN" sz="2000" dirty="0">
              <a:solidFill>
                <a:srgbClr val="00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Post an item on a queue. The item is queued by copy, not by reference.</a:t>
            </a:r>
            <a:endParaRPr lang="en-IN" sz="2000" dirty="0">
              <a:solidFill>
                <a:srgbClr val="00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Parameters :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sz="20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xQueue</a:t>
            </a:r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</a:t>
            </a:r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handle to the queue on which the item is to be posted</a:t>
            </a:r>
          </a:p>
          <a:p>
            <a:pPr algn="just">
              <a:lnSpc>
                <a:spcPct val="150000"/>
              </a:lnSpc>
            </a:pPr>
            <a:r>
              <a:rPr lang="en-IN" sz="20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pvItemToQueue</a:t>
            </a:r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pointer to the item that is to be placed on the queue.</a:t>
            </a:r>
          </a:p>
          <a:p>
            <a:pPr algn="just">
              <a:lnSpc>
                <a:spcPct val="150000"/>
              </a:lnSpc>
            </a:pPr>
            <a:r>
              <a:rPr lang="en-IN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xTicksToWait</a:t>
            </a:r>
            <a:r>
              <a:rPr lang="en-I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I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maximum amount of time the task should block waiting for space to become available on the queue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 :</a:t>
            </a: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pdPASS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if the item was successfully posted,</a:t>
            </a: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errQUEUE_FULL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otherwise</a:t>
            </a: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AB7A497-CC16-9314-1E87-8D9CB6CA6067}"/>
              </a:ext>
            </a:extLst>
          </p:cNvPr>
          <p:cNvGrpSpPr/>
          <p:nvPr/>
        </p:nvGrpSpPr>
        <p:grpSpPr>
          <a:xfrm>
            <a:off x="0" y="6466566"/>
            <a:ext cx="12192000" cy="403007"/>
            <a:chOff x="0" y="6478141"/>
            <a:chExt cx="12192000" cy="403007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2736A77-77EE-0D76-295D-8D29C1E0010D}"/>
                </a:ext>
              </a:extLst>
            </p:cNvPr>
            <p:cNvSpPr/>
            <p:nvPr/>
          </p:nvSpPr>
          <p:spPr>
            <a:xfrm>
              <a:off x="0" y="6484069"/>
              <a:ext cx="12192000" cy="397079"/>
            </a:xfrm>
            <a:prstGeom prst="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dirty="0"/>
                <a:t>                   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Jai Raja Saravanam S                                                                                                        </a:t>
              </a:r>
              <a:r>
                <a:rPr lang="en-IN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Emcog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Solutions</a:t>
              </a:r>
              <a:r>
                <a:rPr lang="en-IN" dirty="0"/>
                <a:t> </a:t>
              </a: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B7F7F25-3487-D342-C0CF-45463D03B9B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734477" y="6478141"/>
              <a:ext cx="349866" cy="3830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2825662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3C1E2A-BB78-C696-4214-23FC23A47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EC01BDC-EBBC-9C73-E354-884E4D4FD665}"/>
              </a:ext>
            </a:extLst>
          </p:cNvPr>
          <p:cNvSpPr txBox="1">
            <a:spLocks/>
          </p:cNvSpPr>
          <p:nvPr/>
        </p:nvSpPr>
        <p:spPr>
          <a:xfrm>
            <a:off x="547992" y="267311"/>
            <a:ext cx="11096011" cy="60133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Queue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E19292-DC07-D3C7-0E54-0CA379579420}"/>
              </a:ext>
            </a:extLst>
          </p:cNvPr>
          <p:cNvSpPr txBox="1"/>
          <p:nvPr/>
        </p:nvSpPr>
        <p:spPr>
          <a:xfrm>
            <a:off x="264803" y="1247798"/>
            <a:ext cx="1137920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BaseType_t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20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xQueueReceive</a:t>
            </a:r>
            <a:r>
              <a:rPr lang="en-IN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QueueHandle_t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xQueue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void </a:t>
            </a:r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IN" sz="20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pvBuffer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TickType_t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xTicksToWait</a:t>
            </a:r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</a:t>
            </a:r>
            <a:r>
              <a:rPr lang="en-US" sz="200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Receive an item from a queue</a:t>
            </a:r>
            <a:r>
              <a:rPr lang="en-US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000" dirty="0">
              <a:solidFill>
                <a:srgbClr val="00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Parameters :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sz="20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xQueue</a:t>
            </a:r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</a:t>
            </a:r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handle to the queue from which the item is to be received</a:t>
            </a:r>
          </a:p>
          <a:p>
            <a:pPr algn="just">
              <a:lnSpc>
                <a:spcPct val="150000"/>
              </a:lnSpc>
            </a:pPr>
            <a:r>
              <a:rPr lang="en-IN" sz="20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pvBuffer</a:t>
            </a:r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</a:t>
            </a:r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Pointer to the buffer into which the received item will be copied</a:t>
            </a:r>
          </a:p>
          <a:p>
            <a:pPr algn="just">
              <a:lnSpc>
                <a:spcPct val="150000"/>
              </a:lnSpc>
            </a:pPr>
            <a:r>
              <a:rPr lang="en-IN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xTicksToWait</a:t>
            </a:r>
            <a:r>
              <a:rPr lang="en-I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I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maximum amount of time the task should block waiting for an item to receive should the queue be empty at the time of the call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 :</a:t>
            </a: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pdPASS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if an item was successfully received (removed) from the queue,</a:t>
            </a: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errQUEUE_FULL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otherwise</a:t>
            </a: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53D6939-440E-B782-C64A-390924624409}"/>
              </a:ext>
            </a:extLst>
          </p:cNvPr>
          <p:cNvGrpSpPr/>
          <p:nvPr/>
        </p:nvGrpSpPr>
        <p:grpSpPr>
          <a:xfrm>
            <a:off x="0" y="6466566"/>
            <a:ext cx="12192000" cy="403007"/>
            <a:chOff x="0" y="6478141"/>
            <a:chExt cx="12192000" cy="403007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CE8A3A6-CA83-8AB8-C36A-906E1CA950E2}"/>
                </a:ext>
              </a:extLst>
            </p:cNvPr>
            <p:cNvSpPr/>
            <p:nvPr/>
          </p:nvSpPr>
          <p:spPr>
            <a:xfrm>
              <a:off x="0" y="6484069"/>
              <a:ext cx="12192000" cy="397079"/>
            </a:xfrm>
            <a:prstGeom prst="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dirty="0"/>
                <a:t>                   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Jai Raja Saravanam S                                                                                                        </a:t>
              </a:r>
              <a:r>
                <a:rPr lang="en-IN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Emcog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Solutions</a:t>
              </a:r>
              <a:r>
                <a:rPr lang="en-IN" dirty="0"/>
                <a:t> </a:t>
              </a: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6293027-B0C4-F919-2EF8-44E4A252428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734477" y="6478141"/>
              <a:ext cx="349866" cy="3830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9409714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E3C22F-5CE7-8DB8-E1C8-F0D537977E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0DB87BD-23B2-3580-EC1A-C0AC292C1332}"/>
              </a:ext>
            </a:extLst>
          </p:cNvPr>
          <p:cNvSpPr txBox="1">
            <a:spLocks/>
          </p:cNvSpPr>
          <p:nvPr/>
        </p:nvSpPr>
        <p:spPr>
          <a:xfrm>
            <a:off x="547992" y="267311"/>
            <a:ext cx="11096011" cy="60133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Queue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383486-0E82-2776-2E41-72396E05CB64}"/>
              </a:ext>
            </a:extLst>
          </p:cNvPr>
          <p:cNvSpPr txBox="1"/>
          <p:nvPr/>
        </p:nvSpPr>
        <p:spPr>
          <a:xfrm>
            <a:off x="264803" y="1151453"/>
            <a:ext cx="1137920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BaseType_t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20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xQueuePeek</a:t>
            </a:r>
            <a:r>
              <a:rPr lang="en-IN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QueueHandle_t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xQueue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void </a:t>
            </a:r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IN" sz="20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pvBuffer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TickType_t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xTicksToWait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);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                             </a:t>
            </a:r>
            <a:r>
              <a:rPr lang="en-US" sz="200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Receive an item from a queue without removing the item from the queue.</a:t>
            </a:r>
            <a:endParaRPr lang="en-IN" sz="2000" dirty="0">
              <a:solidFill>
                <a:srgbClr val="00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Parameters :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sz="20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xQueue</a:t>
            </a:r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</a:t>
            </a:r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handle to the queue from which the item is to be received</a:t>
            </a:r>
          </a:p>
          <a:p>
            <a:pPr algn="just">
              <a:lnSpc>
                <a:spcPct val="150000"/>
              </a:lnSpc>
            </a:pPr>
            <a:r>
              <a:rPr lang="en-IN" sz="20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pvBuffer</a:t>
            </a:r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</a:t>
            </a:r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Pointer to the buffer into which the received item will be copied</a:t>
            </a:r>
          </a:p>
          <a:p>
            <a:pPr algn="just">
              <a:lnSpc>
                <a:spcPct val="150000"/>
              </a:lnSpc>
            </a:pPr>
            <a:r>
              <a:rPr lang="en-IN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xTicksToWait</a:t>
            </a:r>
            <a:r>
              <a:rPr lang="en-I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I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maximum amount of time the task should block waiting for an item to receive should the queue be empty at the time of the call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 :</a:t>
            </a: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pdPASS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if an item was successfully received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(peeked)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the queue,</a:t>
            </a: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errQUEUE_FULL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otherwise</a:t>
            </a: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7828B81-D90E-771E-E8FC-9630C18BD40A}"/>
              </a:ext>
            </a:extLst>
          </p:cNvPr>
          <p:cNvGrpSpPr/>
          <p:nvPr/>
        </p:nvGrpSpPr>
        <p:grpSpPr>
          <a:xfrm>
            <a:off x="0" y="6466566"/>
            <a:ext cx="12192000" cy="403007"/>
            <a:chOff x="0" y="6478141"/>
            <a:chExt cx="12192000" cy="403007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64EA6AE-8AFE-7503-6DB4-B5F82F10B46D}"/>
                </a:ext>
              </a:extLst>
            </p:cNvPr>
            <p:cNvSpPr/>
            <p:nvPr/>
          </p:nvSpPr>
          <p:spPr>
            <a:xfrm>
              <a:off x="0" y="6484069"/>
              <a:ext cx="12192000" cy="397079"/>
            </a:xfrm>
            <a:prstGeom prst="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dirty="0"/>
                <a:t>                   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Jai Raja Saravanam S                                                                                                        </a:t>
              </a:r>
              <a:r>
                <a:rPr lang="en-IN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Emcog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Solutions</a:t>
              </a:r>
              <a:r>
                <a:rPr lang="en-IN" dirty="0"/>
                <a:t> </a:t>
              </a: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C743E51-188B-5150-23CB-D3861C976FD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734477" y="6478141"/>
              <a:ext cx="349866" cy="3830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472578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E3613-C1B3-908C-4886-611275E40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F4E8125-7E34-F118-FF64-5B6AF72CF43B}"/>
              </a:ext>
            </a:extLst>
          </p:cNvPr>
          <p:cNvSpPr txBox="1">
            <a:spLocks/>
          </p:cNvSpPr>
          <p:nvPr/>
        </p:nvSpPr>
        <p:spPr>
          <a:xfrm>
            <a:off x="547992" y="165711"/>
            <a:ext cx="11096011" cy="60133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Queue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0F4334-8617-34DA-72B3-A35AA7E7A9D1}"/>
              </a:ext>
            </a:extLst>
          </p:cNvPr>
          <p:cNvSpPr txBox="1"/>
          <p:nvPr/>
        </p:nvSpPr>
        <p:spPr>
          <a:xfrm>
            <a:off x="407864" y="491071"/>
            <a:ext cx="115722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 RTOS API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5BBE9E8-4416-E461-D4EF-774C9A3DAE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3117205"/>
              </p:ext>
            </p:extLst>
          </p:nvPr>
        </p:nvGraphicFramePr>
        <p:xfrm>
          <a:off x="651237" y="1440094"/>
          <a:ext cx="11085494" cy="456935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542747">
                  <a:extLst>
                    <a:ext uri="{9D8B030D-6E8A-4147-A177-3AD203B41FA5}">
                      <a16:colId xmlns:a16="http://schemas.microsoft.com/office/drawing/2014/main" val="2490048719"/>
                    </a:ext>
                  </a:extLst>
                </a:gridCol>
                <a:gridCol w="5542747">
                  <a:extLst>
                    <a:ext uri="{9D8B030D-6E8A-4147-A177-3AD203B41FA5}">
                      <a16:colId xmlns:a16="http://schemas.microsoft.com/office/drawing/2014/main" val="2724316336"/>
                    </a:ext>
                  </a:extLst>
                </a:gridCol>
              </a:tblGrid>
              <a:tr h="553213">
                <a:tc>
                  <a:txBody>
                    <a:bodyPr/>
                    <a:lstStyle/>
                    <a:p>
                      <a:pPr algn="ctr"/>
                      <a:r>
                        <a:rPr lang="en-IN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uxQueueMessagesWaiting</a:t>
                      </a: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 (ISR) 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Returns the number of message stored in queue</a:t>
                      </a:r>
                    </a:p>
                    <a:p>
                      <a:pPr algn="just"/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3775149"/>
                  </a:ext>
                </a:extLst>
              </a:tr>
              <a:tr h="553213">
                <a:tc>
                  <a:txBody>
                    <a:bodyPr/>
                    <a:lstStyle/>
                    <a:p>
                      <a:pPr algn="ctr"/>
                      <a:r>
                        <a:rPr lang="en-IN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uxQueueSpacesAvailable</a:t>
                      </a: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 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Returns the number of free space</a:t>
                      </a:r>
                    </a:p>
                    <a:p>
                      <a:pPr algn="just"/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4265595"/>
                  </a:ext>
                </a:extLst>
              </a:tr>
              <a:tr h="553213">
                <a:tc>
                  <a:txBody>
                    <a:bodyPr/>
                    <a:lstStyle/>
                    <a:p>
                      <a:pPr algn="ctr"/>
                      <a:r>
                        <a:rPr lang="en-IN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vQueueDelete</a:t>
                      </a: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 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freeing all the memory allocated for storing of items placed on the queue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4834417"/>
                  </a:ext>
                </a:extLst>
              </a:tr>
              <a:tr h="528760"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xQueueReset</a:t>
                      </a: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 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Resets a queue to its original empty state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6911579"/>
                  </a:ext>
                </a:extLst>
              </a:tr>
              <a:tr h="926929">
                <a:tc>
                  <a:txBody>
                    <a:bodyPr/>
                    <a:lstStyle/>
                    <a:p>
                      <a:pPr algn="ctr"/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xQueueIsQueueEmptyFromISR</a:t>
                      </a: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Queries a queue to determine if the queue is empty. This function should only be used in an ISR.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0575916"/>
                  </a:ext>
                </a:extLst>
              </a:tr>
              <a:tr h="1193426">
                <a:tc>
                  <a:txBody>
                    <a:bodyPr/>
                    <a:lstStyle/>
                    <a:p>
                      <a:pPr algn="ctr"/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xQueueIsQueueFullFromISR</a:t>
                      </a: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Queries a queue to determine if the queue is full. This function should only be used in an ISR.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2530630"/>
                  </a:ext>
                </a:extLst>
              </a:tr>
            </a:tbl>
          </a:graphicData>
        </a:graphic>
      </p:graphicFrame>
      <p:grpSp>
        <p:nvGrpSpPr>
          <p:cNvPr id="2" name="Group 1">
            <a:extLst>
              <a:ext uri="{FF2B5EF4-FFF2-40B4-BE49-F238E27FC236}">
                <a16:creationId xmlns:a16="http://schemas.microsoft.com/office/drawing/2014/main" id="{437416EF-FA5C-60A2-28A8-D90EBFF32CFA}"/>
              </a:ext>
            </a:extLst>
          </p:cNvPr>
          <p:cNvGrpSpPr/>
          <p:nvPr/>
        </p:nvGrpSpPr>
        <p:grpSpPr>
          <a:xfrm>
            <a:off x="0" y="6466566"/>
            <a:ext cx="12192000" cy="403007"/>
            <a:chOff x="0" y="6478141"/>
            <a:chExt cx="12192000" cy="403007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AE44A3D-2120-495E-83FE-2CDF316E33EF}"/>
                </a:ext>
              </a:extLst>
            </p:cNvPr>
            <p:cNvSpPr/>
            <p:nvPr/>
          </p:nvSpPr>
          <p:spPr>
            <a:xfrm>
              <a:off x="0" y="6484069"/>
              <a:ext cx="12192000" cy="397079"/>
            </a:xfrm>
            <a:prstGeom prst="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dirty="0"/>
                <a:t>                   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Jai Raja Saravanam S                                                                                                        </a:t>
              </a:r>
              <a:r>
                <a:rPr lang="en-IN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Emcog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Solutions</a:t>
              </a:r>
              <a:r>
                <a:rPr lang="en-IN" dirty="0"/>
                <a:t> </a:t>
              </a: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7437F107-6B71-63DB-3529-0F7D20F2D6D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734477" y="6478141"/>
              <a:ext cx="349866" cy="3830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5333282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C708A4-2153-0544-22C9-708CDEBF7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7EE946A-69CE-C27B-F879-5253DA6BF0A4}"/>
              </a:ext>
            </a:extLst>
          </p:cNvPr>
          <p:cNvSpPr txBox="1">
            <a:spLocks/>
          </p:cNvSpPr>
          <p:nvPr/>
        </p:nvSpPr>
        <p:spPr>
          <a:xfrm>
            <a:off x="547992" y="267311"/>
            <a:ext cx="11096011" cy="60133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Activity 12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3C4BC4-FE92-418B-CB7C-B0AC9B17EBCE}"/>
              </a:ext>
            </a:extLst>
          </p:cNvPr>
          <p:cNvSpPr txBox="1"/>
          <p:nvPr/>
        </p:nvSpPr>
        <p:spPr>
          <a:xfrm>
            <a:off x="264803" y="1151453"/>
            <a:ext cx="11379200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two task, one fills the queue and another empties the queue and send the data to PC through UART</a:t>
            </a:r>
          </a:p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Objective  :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how Queue can be used between processes </a:t>
            </a:r>
          </a:p>
          <a:p>
            <a:pPr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791804B-A404-D3F7-1D2B-D684668BBA9A}"/>
              </a:ext>
            </a:extLst>
          </p:cNvPr>
          <p:cNvGrpSpPr/>
          <p:nvPr/>
        </p:nvGrpSpPr>
        <p:grpSpPr>
          <a:xfrm>
            <a:off x="0" y="6466566"/>
            <a:ext cx="12192000" cy="403007"/>
            <a:chOff x="0" y="6478141"/>
            <a:chExt cx="12192000" cy="403007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064202C-A9AF-D66E-1172-F708A4C8E037}"/>
                </a:ext>
              </a:extLst>
            </p:cNvPr>
            <p:cNvSpPr/>
            <p:nvPr/>
          </p:nvSpPr>
          <p:spPr>
            <a:xfrm>
              <a:off x="0" y="6484069"/>
              <a:ext cx="12192000" cy="397079"/>
            </a:xfrm>
            <a:prstGeom prst="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dirty="0"/>
                <a:t>                   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Jai Raja Saravanam S                                                                                                        </a:t>
              </a:r>
              <a:r>
                <a:rPr lang="en-IN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Emcog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Solutions</a:t>
              </a:r>
              <a:r>
                <a:rPr lang="en-IN" dirty="0"/>
                <a:t> </a:t>
              </a: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B9D077E-E38A-F6EC-5E84-AF264729D4E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734477" y="6478141"/>
              <a:ext cx="349866" cy="3830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5840057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6D65F-04C8-FAD6-49F4-EE6519CB4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269485E8-45AD-B52D-A086-6C061173D4AE}"/>
              </a:ext>
            </a:extLst>
          </p:cNvPr>
          <p:cNvSpPr txBox="1">
            <a:spLocks/>
          </p:cNvSpPr>
          <p:nvPr/>
        </p:nvSpPr>
        <p:spPr>
          <a:xfrm>
            <a:off x="547992" y="146991"/>
            <a:ext cx="11096011" cy="60133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1EE52E-EFAC-34FB-46F1-A5229FB9248B}"/>
              </a:ext>
            </a:extLst>
          </p:cNvPr>
          <p:cNvSpPr txBox="1"/>
          <p:nvPr/>
        </p:nvSpPr>
        <p:spPr>
          <a:xfrm>
            <a:off x="547992" y="858150"/>
            <a:ext cx="10737629" cy="3349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two task with same priority which access UART peripheral</a:t>
            </a:r>
          </a:p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objective :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race condition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to avoid race condition using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FreeRtos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API feature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mutual exclusion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to use binary semaphore and Mutex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F56A978-FC3D-46E9-80F4-DCBC2008E90F}"/>
              </a:ext>
            </a:extLst>
          </p:cNvPr>
          <p:cNvGrpSpPr/>
          <p:nvPr/>
        </p:nvGrpSpPr>
        <p:grpSpPr>
          <a:xfrm>
            <a:off x="0" y="6466566"/>
            <a:ext cx="12192000" cy="403007"/>
            <a:chOff x="0" y="6478141"/>
            <a:chExt cx="12192000" cy="403007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E434372-C0D1-C3D9-123E-CA8C53A909A5}"/>
                </a:ext>
              </a:extLst>
            </p:cNvPr>
            <p:cNvSpPr/>
            <p:nvPr/>
          </p:nvSpPr>
          <p:spPr>
            <a:xfrm>
              <a:off x="0" y="6484069"/>
              <a:ext cx="12192000" cy="397079"/>
            </a:xfrm>
            <a:prstGeom prst="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dirty="0"/>
                <a:t>                   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Jai Raja Saravanam S                                                                                                        </a:t>
              </a:r>
              <a:r>
                <a:rPr lang="en-IN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Emcog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Solutions</a:t>
              </a:r>
              <a:r>
                <a:rPr lang="en-IN" dirty="0"/>
                <a:t> </a:t>
              </a: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8E43ECC-5B11-21F0-26EE-359A979A277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734477" y="6478141"/>
              <a:ext cx="349866" cy="3830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3303172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60132C-AF27-B93A-125A-DEEA39C5F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679226C-6F0B-CF96-11FC-140F1CCF9BAD}"/>
              </a:ext>
            </a:extLst>
          </p:cNvPr>
          <p:cNvSpPr txBox="1">
            <a:spLocks/>
          </p:cNvSpPr>
          <p:nvPr/>
        </p:nvSpPr>
        <p:spPr>
          <a:xfrm>
            <a:off x="4367294" y="-34509"/>
            <a:ext cx="3777451" cy="60133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Synchronization </a:t>
            </a:r>
          </a:p>
        </p:txBody>
      </p:sp>
      <p:sp>
        <p:nvSpPr>
          <p:cNvPr id="16" name="Rectangle 1">
            <a:extLst>
              <a:ext uri="{FF2B5EF4-FFF2-40B4-BE49-F238E27FC236}">
                <a16:creationId xmlns:a16="http://schemas.microsoft.com/office/drawing/2014/main" id="{277E10E6-DBE8-C740-532B-F02B5F47FD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876" y="646835"/>
            <a:ext cx="11216061" cy="7848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Process of Coordinating the activities of two or more task to achieve the intended work</a:t>
            </a:r>
          </a:p>
          <a:p>
            <a:pPr marL="0" marR="0" lvl="0" indent="0" algn="just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Eg: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7CF30FD-39D4-5782-1B28-77E22C12A974}"/>
              </a:ext>
            </a:extLst>
          </p:cNvPr>
          <p:cNvSpPr txBox="1"/>
          <p:nvPr/>
        </p:nvSpPr>
        <p:spPr>
          <a:xfrm>
            <a:off x="2009079" y="1906873"/>
            <a:ext cx="234453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UnSynchronised</a:t>
            </a:r>
            <a:endParaRPr lang="en-IN" sz="2400" dirty="0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DCA12BD4-11BB-8D1B-ADB3-173C16F64B94}"/>
              </a:ext>
            </a:extLst>
          </p:cNvPr>
          <p:cNvSpPr/>
          <p:nvPr/>
        </p:nvSpPr>
        <p:spPr>
          <a:xfrm>
            <a:off x="409140" y="1715957"/>
            <a:ext cx="5544418" cy="459194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40A4397A-7F9F-AA36-FE62-93DB7E2388A7}"/>
              </a:ext>
            </a:extLst>
          </p:cNvPr>
          <p:cNvSpPr/>
          <p:nvPr/>
        </p:nvSpPr>
        <p:spPr>
          <a:xfrm>
            <a:off x="6290830" y="1710419"/>
            <a:ext cx="5544418" cy="459194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FFE81DA-FEEF-8275-324F-9FF7CD79D75B}"/>
              </a:ext>
            </a:extLst>
          </p:cNvPr>
          <p:cNvSpPr txBox="1"/>
          <p:nvPr/>
        </p:nvSpPr>
        <p:spPr>
          <a:xfrm>
            <a:off x="8299389" y="1832803"/>
            <a:ext cx="19871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Synchronised</a:t>
            </a:r>
            <a:endParaRPr lang="en-IN" sz="2400" dirty="0"/>
          </a:p>
        </p:txBody>
      </p:sp>
      <p:sp>
        <p:nvSpPr>
          <p:cNvPr id="32" name="Rectangle 1">
            <a:extLst>
              <a:ext uri="{FF2B5EF4-FFF2-40B4-BE49-F238E27FC236}">
                <a16:creationId xmlns:a16="http://schemas.microsoft.com/office/drawing/2014/main" id="{21762CAF-60A4-64CA-0BD0-79E4458E78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1389" y="2354535"/>
            <a:ext cx="452928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Manager schedule the meeting tomorrow</a:t>
            </a:r>
          </a:p>
        </p:txBody>
      </p:sp>
      <p:sp>
        <p:nvSpPr>
          <p:cNvPr id="33" name="Rectangle 1">
            <a:extLst>
              <a:ext uri="{FF2B5EF4-FFF2-40B4-BE49-F238E27FC236}">
                <a16:creationId xmlns:a16="http://schemas.microsoft.com/office/drawing/2014/main" id="{6BD3DA96-103E-6957-7C87-D69E4513BB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3148" y="2354535"/>
            <a:ext cx="53721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Manager schedule the meeting tomorrow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10 am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84 Black Couple Sitting Airplane Images, Stock Photos &amp; Vectors ...">
            <a:extLst>
              <a:ext uri="{FF2B5EF4-FFF2-40B4-BE49-F238E27FC236}">
                <a16:creationId xmlns:a16="http://schemas.microsoft.com/office/drawing/2014/main" id="{F3C648F5-9F11-7738-A261-0A728E2036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39" t="16230" r="25279" b="15901"/>
          <a:stretch>
            <a:fillRect/>
          </a:stretch>
        </p:blipFill>
        <p:spPr bwMode="auto">
          <a:xfrm flipH="1">
            <a:off x="3296565" y="3443233"/>
            <a:ext cx="699969" cy="1040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2838AC2D-33A9-CB51-1A49-EF1DA43BE5C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1912" t="15766" r="17707" b="20600"/>
          <a:stretch>
            <a:fillRect/>
          </a:stretch>
        </p:blipFill>
        <p:spPr>
          <a:xfrm>
            <a:off x="2739731" y="3353584"/>
            <a:ext cx="508076" cy="1097155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25F0A6A0-89F3-68AA-2AF8-5CC26D84229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7989" t="15766" r="17707" b="20600"/>
          <a:stretch>
            <a:fillRect/>
          </a:stretch>
        </p:blipFill>
        <p:spPr>
          <a:xfrm>
            <a:off x="2209366" y="4898024"/>
            <a:ext cx="1061615" cy="1083091"/>
          </a:xfrm>
          <a:prstGeom prst="rect">
            <a:avLst/>
          </a:prstGeom>
        </p:spPr>
      </p:pic>
      <p:pic>
        <p:nvPicPr>
          <p:cNvPr id="38" name="Picture 2" descr="84 Black Couple Sitting Airplane Images, Stock Photos &amp; Vectors ...">
            <a:extLst>
              <a:ext uri="{FF2B5EF4-FFF2-40B4-BE49-F238E27FC236}">
                <a16:creationId xmlns:a16="http://schemas.microsoft.com/office/drawing/2014/main" id="{14891968-F065-059E-C39B-14F7CB50CD4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39" t="16230" r="25279" b="15901"/>
          <a:stretch>
            <a:fillRect/>
          </a:stretch>
        </p:blipFill>
        <p:spPr bwMode="auto">
          <a:xfrm flipH="1">
            <a:off x="3270981" y="5038256"/>
            <a:ext cx="634451" cy="942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2F37804D-EC21-1F94-2884-12526A6485C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7989" t="15766" r="17707" b="20600"/>
          <a:stretch>
            <a:fillRect/>
          </a:stretch>
        </p:blipFill>
        <p:spPr>
          <a:xfrm>
            <a:off x="7985442" y="3684008"/>
            <a:ext cx="1384239" cy="1412241"/>
          </a:xfrm>
          <a:prstGeom prst="rect">
            <a:avLst/>
          </a:prstGeom>
        </p:spPr>
      </p:pic>
      <p:pic>
        <p:nvPicPr>
          <p:cNvPr id="40" name="Picture 2" descr="84 Black Couple Sitting Airplane Images, Stock Photos &amp; Vectors ...">
            <a:extLst>
              <a:ext uri="{FF2B5EF4-FFF2-40B4-BE49-F238E27FC236}">
                <a16:creationId xmlns:a16="http://schemas.microsoft.com/office/drawing/2014/main" id="{8CE61105-2359-75B7-B09B-B7F788294E5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39" t="16230" r="25279" b="15901"/>
          <a:stretch>
            <a:fillRect/>
          </a:stretch>
        </p:blipFill>
        <p:spPr bwMode="auto">
          <a:xfrm flipH="1">
            <a:off x="9336838" y="3799783"/>
            <a:ext cx="894263" cy="1328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72D8D52D-B332-3EBA-59A3-B2165934CD2F}"/>
              </a:ext>
            </a:extLst>
          </p:cNvPr>
          <p:cNvSpPr txBox="1"/>
          <p:nvPr/>
        </p:nvSpPr>
        <p:spPr>
          <a:xfrm>
            <a:off x="2009079" y="2952451"/>
            <a:ext cx="242220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9,10,11,12 am</a:t>
            </a:r>
            <a:endParaRPr lang="en-IN" sz="24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2A04EA7-6B47-75AE-9E98-B57BBD38A781}"/>
              </a:ext>
            </a:extLst>
          </p:cNvPr>
          <p:cNvSpPr txBox="1"/>
          <p:nvPr/>
        </p:nvSpPr>
        <p:spPr>
          <a:xfrm>
            <a:off x="2701493" y="4561633"/>
            <a:ext cx="797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pm</a:t>
            </a:r>
            <a:endParaRPr lang="en-IN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F874C70-1358-F99D-BB92-FE9EEF89D4AC}"/>
              </a:ext>
            </a:extLst>
          </p:cNvPr>
          <p:cNvSpPr txBox="1"/>
          <p:nvPr/>
        </p:nvSpPr>
        <p:spPr>
          <a:xfrm>
            <a:off x="8615907" y="3212401"/>
            <a:ext cx="10538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 am</a:t>
            </a:r>
            <a:endParaRPr lang="en-IN" sz="24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012DC8A-2FEC-5927-D47C-3A3A55C6197C}"/>
              </a:ext>
            </a:extLst>
          </p:cNvPr>
          <p:cNvGrpSpPr/>
          <p:nvPr/>
        </p:nvGrpSpPr>
        <p:grpSpPr>
          <a:xfrm>
            <a:off x="0" y="6466566"/>
            <a:ext cx="12192000" cy="403007"/>
            <a:chOff x="0" y="6478141"/>
            <a:chExt cx="12192000" cy="403007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201FAE17-CED8-47B9-898D-1CA24559D78F}"/>
                </a:ext>
              </a:extLst>
            </p:cNvPr>
            <p:cNvSpPr/>
            <p:nvPr/>
          </p:nvSpPr>
          <p:spPr>
            <a:xfrm>
              <a:off x="0" y="6484069"/>
              <a:ext cx="12192000" cy="397079"/>
            </a:xfrm>
            <a:prstGeom prst="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dirty="0"/>
                <a:t>                   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Jai Raja Saravanam S                                                                                                        </a:t>
              </a:r>
              <a:r>
                <a:rPr lang="en-IN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Emcog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Solutions</a:t>
              </a:r>
              <a:r>
                <a:rPr lang="en-IN" dirty="0"/>
                <a:t> </a:t>
              </a: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CD1BCDF4-9A96-8415-B64F-071CFA6332C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734477" y="6478141"/>
              <a:ext cx="349866" cy="3830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4675569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349030-CF1C-F5FF-ABE5-BCC61D27D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DD61C06-3339-2A55-86D5-497E53D418C7}"/>
              </a:ext>
            </a:extLst>
          </p:cNvPr>
          <p:cNvSpPr txBox="1">
            <a:spLocks/>
          </p:cNvSpPr>
          <p:nvPr/>
        </p:nvSpPr>
        <p:spPr>
          <a:xfrm>
            <a:off x="4413014" y="68361"/>
            <a:ext cx="3777451" cy="60133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Synchronization </a:t>
            </a:r>
          </a:p>
        </p:txBody>
      </p:sp>
      <p:sp>
        <p:nvSpPr>
          <p:cNvPr id="16" name="Rectangle 1">
            <a:extLst>
              <a:ext uri="{FF2B5EF4-FFF2-40B4-BE49-F238E27FC236}">
                <a16:creationId xmlns:a16="http://schemas.microsoft.com/office/drawing/2014/main" id="{6F996007-2D5D-946D-7F28-4A7BF2FDA6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876" y="715415"/>
            <a:ext cx="11216061" cy="7848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Process of Coordinating the activities of two or more task to achieve the intended work</a:t>
            </a:r>
          </a:p>
          <a:p>
            <a:pPr marL="0" marR="0" lvl="0" indent="0" algn="just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Eg: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764B69C-F93E-B77C-0CAD-199457144D46}"/>
              </a:ext>
            </a:extLst>
          </p:cNvPr>
          <p:cNvSpPr/>
          <p:nvPr/>
        </p:nvSpPr>
        <p:spPr>
          <a:xfrm>
            <a:off x="649321" y="3634740"/>
            <a:ext cx="2446586" cy="105156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UART Buffer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93AE506-B0B6-DDB9-F6F0-7181BB87A33F}"/>
              </a:ext>
            </a:extLst>
          </p:cNvPr>
          <p:cNvSpPr/>
          <p:nvPr/>
        </p:nvSpPr>
        <p:spPr>
          <a:xfrm>
            <a:off x="4243305" y="2882265"/>
            <a:ext cx="1470660" cy="221361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/>
              <a:t>Task</a:t>
            </a:r>
            <a:endParaRPr lang="en-IN" b="1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3AF569E-A4D3-1902-3CB5-F4777DAF953E}"/>
              </a:ext>
            </a:extLst>
          </p:cNvPr>
          <p:cNvCxnSpPr>
            <a:cxnSpLocks/>
          </p:cNvCxnSpPr>
          <p:nvPr/>
        </p:nvCxnSpPr>
        <p:spPr>
          <a:xfrm flipH="1">
            <a:off x="3089909" y="3497580"/>
            <a:ext cx="1153396" cy="29718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36D22B6-6649-5CC3-3B3A-893DEC9CB120}"/>
              </a:ext>
            </a:extLst>
          </p:cNvPr>
          <p:cNvCxnSpPr>
            <a:cxnSpLocks/>
          </p:cNvCxnSpPr>
          <p:nvPr/>
        </p:nvCxnSpPr>
        <p:spPr>
          <a:xfrm flipH="1">
            <a:off x="3089909" y="3691890"/>
            <a:ext cx="1153396" cy="29718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52F696C-535A-5F2A-3961-74917270C056}"/>
              </a:ext>
            </a:extLst>
          </p:cNvPr>
          <p:cNvCxnSpPr>
            <a:cxnSpLocks/>
          </p:cNvCxnSpPr>
          <p:nvPr/>
        </p:nvCxnSpPr>
        <p:spPr>
          <a:xfrm flipH="1">
            <a:off x="3089909" y="3886200"/>
            <a:ext cx="1153396" cy="29718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829684F-137A-4435-C90E-F5D0C79B07D3}"/>
              </a:ext>
            </a:extLst>
          </p:cNvPr>
          <p:cNvCxnSpPr>
            <a:cxnSpLocks/>
          </p:cNvCxnSpPr>
          <p:nvPr/>
        </p:nvCxnSpPr>
        <p:spPr>
          <a:xfrm flipH="1">
            <a:off x="3089909" y="4080510"/>
            <a:ext cx="1153396" cy="29718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8507A38-186D-725E-20C1-D9AB425C5F27}"/>
              </a:ext>
            </a:extLst>
          </p:cNvPr>
          <p:cNvCxnSpPr>
            <a:cxnSpLocks/>
          </p:cNvCxnSpPr>
          <p:nvPr/>
        </p:nvCxnSpPr>
        <p:spPr>
          <a:xfrm flipH="1">
            <a:off x="3089909" y="4274820"/>
            <a:ext cx="1153396" cy="29718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6985931-9F03-1F57-2E2C-D7272DB63ED8}"/>
              </a:ext>
            </a:extLst>
          </p:cNvPr>
          <p:cNvSpPr txBox="1"/>
          <p:nvPr/>
        </p:nvSpPr>
        <p:spPr>
          <a:xfrm>
            <a:off x="2513211" y="1960422"/>
            <a:ext cx="11533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Polling</a:t>
            </a:r>
            <a:endParaRPr lang="en-IN" sz="2400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7F7D288-7832-AB07-AC4C-C982148F2429}"/>
              </a:ext>
            </a:extLst>
          </p:cNvPr>
          <p:cNvSpPr/>
          <p:nvPr/>
        </p:nvSpPr>
        <p:spPr>
          <a:xfrm>
            <a:off x="6573871" y="3520440"/>
            <a:ext cx="2446586" cy="105156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UART Buffer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80EDD8A-FA19-D130-7669-DCD6A6EF6EF1}"/>
              </a:ext>
            </a:extLst>
          </p:cNvPr>
          <p:cNvCxnSpPr>
            <a:cxnSpLocks/>
          </p:cNvCxnSpPr>
          <p:nvPr/>
        </p:nvCxnSpPr>
        <p:spPr>
          <a:xfrm>
            <a:off x="9034271" y="3959455"/>
            <a:ext cx="1035083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0E5B09E-BAAA-0B75-19AC-6CF7889CC01B}"/>
              </a:ext>
            </a:extLst>
          </p:cNvPr>
          <p:cNvCxnSpPr>
            <a:cxnSpLocks/>
          </p:cNvCxnSpPr>
          <p:nvPr/>
        </p:nvCxnSpPr>
        <p:spPr>
          <a:xfrm flipH="1">
            <a:off x="8996457" y="4229100"/>
            <a:ext cx="1072897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AE0C9F39-054D-9388-EA47-827B307D3795}"/>
              </a:ext>
            </a:extLst>
          </p:cNvPr>
          <p:cNvSpPr txBox="1"/>
          <p:nvPr/>
        </p:nvSpPr>
        <p:spPr>
          <a:xfrm>
            <a:off x="7289049" y="1790788"/>
            <a:ext cx="40022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Synchronized using Interrupt or RTOS service</a:t>
            </a:r>
            <a:endParaRPr lang="en-IN" sz="2400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8FBD459-9717-4D9D-62EF-B25D6BD326ED}"/>
              </a:ext>
            </a:extLst>
          </p:cNvPr>
          <p:cNvSpPr/>
          <p:nvPr/>
        </p:nvSpPr>
        <p:spPr>
          <a:xfrm>
            <a:off x="10069354" y="2733675"/>
            <a:ext cx="1470660" cy="221361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/>
              <a:t>Task</a:t>
            </a:r>
            <a:endParaRPr lang="en-IN" b="1" dirty="0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89DFBCED-7FA3-DB79-E0C6-40F36691734B}"/>
              </a:ext>
            </a:extLst>
          </p:cNvPr>
          <p:cNvSpPr/>
          <p:nvPr/>
        </p:nvSpPr>
        <p:spPr>
          <a:xfrm>
            <a:off x="374850" y="1784537"/>
            <a:ext cx="5544418" cy="459194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5345C8EF-4427-3F15-EE38-32F371225338}"/>
              </a:ext>
            </a:extLst>
          </p:cNvPr>
          <p:cNvSpPr/>
          <p:nvPr/>
        </p:nvSpPr>
        <p:spPr>
          <a:xfrm>
            <a:off x="6256540" y="1778999"/>
            <a:ext cx="5544418" cy="459194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66BBCA-C2B1-08D6-9EC6-5F9DFC373ABD}"/>
              </a:ext>
            </a:extLst>
          </p:cNvPr>
          <p:cNvSpPr txBox="1"/>
          <p:nvPr/>
        </p:nvSpPr>
        <p:spPr>
          <a:xfrm>
            <a:off x="9098239" y="3576908"/>
            <a:ext cx="857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Signal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E3A40C-4DFF-821A-6234-E077380C94EB}"/>
              </a:ext>
            </a:extLst>
          </p:cNvPr>
          <p:cNvSpPr txBox="1"/>
          <p:nvPr/>
        </p:nvSpPr>
        <p:spPr>
          <a:xfrm>
            <a:off x="3166676" y="3152670"/>
            <a:ext cx="11181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Checking</a:t>
            </a:r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9E8E869-EFB4-C3DA-6459-8896DB43E240}"/>
              </a:ext>
            </a:extLst>
          </p:cNvPr>
          <p:cNvSpPr txBox="1"/>
          <p:nvPr/>
        </p:nvSpPr>
        <p:spPr>
          <a:xfrm>
            <a:off x="9028415" y="4262708"/>
            <a:ext cx="10295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Checking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89053CF-2CFC-7433-55D8-181B946C6615}"/>
              </a:ext>
            </a:extLst>
          </p:cNvPr>
          <p:cNvGrpSpPr/>
          <p:nvPr/>
        </p:nvGrpSpPr>
        <p:grpSpPr>
          <a:xfrm>
            <a:off x="0" y="6466566"/>
            <a:ext cx="12192000" cy="403007"/>
            <a:chOff x="0" y="6478141"/>
            <a:chExt cx="12192000" cy="403007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C75D0492-6444-BF0F-97D5-132A9BBFF78E}"/>
                </a:ext>
              </a:extLst>
            </p:cNvPr>
            <p:cNvSpPr/>
            <p:nvPr/>
          </p:nvSpPr>
          <p:spPr>
            <a:xfrm>
              <a:off x="0" y="6484069"/>
              <a:ext cx="12192000" cy="397079"/>
            </a:xfrm>
            <a:prstGeom prst="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dirty="0"/>
                <a:t>                   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Jai Raja Saravanam S                                                                                                        </a:t>
              </a:r>
              <a:r>
                <a:rPr lang="en-IN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Emcog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Solutions</a:t>
              </a:r>
              <a:r>
                <a:rPr lang="en-IN" dirty="0"/>
                <a:t> </a:t>
              </a:r>
            </a:p>
          </p:txBody>
        </p: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124D1BDC-16CD-363F-F24D-47E449A49C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734477" y="6478141"/>
              <a:ext cx="349866" cy="3830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7118379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282DCC-342D-B91E-580F-DE187F298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ventos mutuamente inclusivos frente a eventos mutuamente excluyentes ...">
            <a:extLst>
              <a:ext uri="{FF2B5EF4-FFF2-40B4-BE49-F238E27FC236}">
                <a16:creationId xmlns:a16="http://schemas.microsoft.com/office/drawing/2014/main" id="{CEF89CB0-AB42-D36E-6EA7-4D5CDE7F936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29"/>
          <a:stretch>
            <a:fillRect/>
          </a:stretch>
        </p:blipFill>
        <p:spPr bwMode="auto">
          <a:xfrm>
            <a:off x="2494378" y="1700615"/>
            <a:ext cx="7311391" cy="4124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1CFC73A-FB88-1DAB-BC6F-10FA78E508E0}"/>
              </a:ext>
            </a:extLst>
          </p:cNvPr>
          <p:cNvSpPr txBox="1">
            <a:spLocks/>
          </p:cNvSpPr>
          <p:nvPr/>
        </p:nvSpPr>
        <p:spPr>
          <a:xfrm>
            <a:off x="3723838" y="240030"/>
            <a:ext cx="5359636" cy="60133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Mutual Exclusion  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33E13D0-9136-C5D9-493C-9EDC56C81A91}"/>
              </a:ext>
            </a:extLst>
          </p:cNvPr>
          <p:cNvSpPr txBox="1">
            <a:spLocks/>
          </p:cNvSpPr>
          <p:nvPr/>
        </p:nvSpPr>
        <p:spPr>
          <a:xfrm>
            <a:off x="470832" y="1032510"/>
            <a:ext cx="7941648" cy="60133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Protect shared entity only one task access the shared resource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3019086-CC16-35DB-2A01-FAD21F5FB116}"/>
              </a:ext>
            </a:extLst>
          </p:cNvPr>
          <p:cNvGrpSpPr/>
          <p:nvPr/>
        </p:nvGrpSpPr>
        <p:grpSpPr>
          <a:xfrm>
            <a:off x="0" y="6466566"/>
            <a:ext cx="12192000" cy="403007"/>
            <a:chOff x="0" y="6478141"/>
            <a:chExt cx="12192000" cy="403007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2642612-777C-D24B-B001-64FA7AFF94E1}"/>
                </a:ext>
              </a:extLst>
            </p:cNvPr>
            <p:cNvSpPr/>
            <p:nvPr/>
          </p:nvSpPr>
          <p:spPr>
            <a:xfrm>
              <a:off x="0" y="6484069"/>
              <a:ext cx="12192000" cy="397079"/>
            </a:xfrm>
            <a:prstGeom prst="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dirty="0"/>
                <a:t>                   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Jai Raja Saravanam S                                                                                                        </a:t>
              </a:r>
              <a:r>
                <a:rPr lang="en-IN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Emcog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Solutions</a:t>
              </a:r>
              <a:r>
                <a:rPr lang="en-IN" dirty="0"/>
                <a:t> </a:t>
              </a: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65F9CB73-E4A3-5D10-B784-A365EE451C8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734477" y="6478141"/>
              <a:ext cx="349866" cy="3830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2080693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8D2ECE-C1C4-1474-A7C9-89DC56719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0A8ED626-A79F-6387-8E15-35B88F6B257A}"/>
              </a:ext>
            </a:extLst>
          </p:cNvPr>
          <p:cNvSpPr txBox="1">
            <a:spLocks/>
          </p:cNvSpPr>
          <p:nvPr/>
        </p:nvSpPr>
        <p:spPr>
          <a:xfrm>
            <a:off x="547992" y="89511"/>
            <a:ext cx="11096011" cy="60133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Semaphore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546A88-DB1F-8F6E-46AA-6EAEDCE8F117}"/>
              </a:ext>
            </a:extLst>
          </p:cNvPr>
          <p:cNvSpPr txBox="1"/>
          <p:nvPr/>
        </p:nvSpPr>
        <p:spPr>
          <a:xfrm>
            <a:off x="304800" y="851419"/>
            <a:ext cx="11572240" cy="1606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Semaphores are synchronization primitives(Kernel object) that help manage shared resource access or coordinate between tasks and ISRs. Internally they are implemented using queue </a:t>
            </a:r>
            <a:r>
              <a:rPr lang="en-US" sz="2400" dirty="0" err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en-US" sz="240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with item size 0 bytes (since no actual data needs to be transmitted).</a:t>
            </a:r>
          </a:p>
          <a:p>
            <a:pPr algn="just">
              <a:lnSpc>
                <a:spcPct val="150000"/>
              </a:lnSpc>
            </a:pPr>
            <a:r>
              <a:rPr lang="en-IN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616654-7BD5-7333-9E3E-44630A1D3202}"/>
              </a:ext>
            </a:extLst>
          </p:cNvPr>
          <p:cNvSpPr txBox="1"/>
          <p:nvPr/>
        </p:nvSpPr>
        <p:spPr>
          <a:xfrm>
            <a:off x="5218155" y="2379949"/>
            <a:ext cx="14251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Semaphore</a:t>
            </a:r>
            <a:endParaRPr lang="en-IN" sz="2000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7987138-B22A-2576-73A2-8E839B8F4919}"/>
              </a:ext>
            </a:extLst>
          </p:cNvPr>
          <p:cNvCxnSpPr>
            <a:cxnSpLocks/>
            <a:stCxn id="4" idx="2"/>
          </p:cNvCxnSpPr>
          <p:nvPr/>
        </p:nvCxnSpPr>
        <p:spPr>
          <a:xfrm flipH="1">
            <a:off x="4036249" y="2780059"/>
            <a:ext cx="1894460" cy="7038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ECCE814-B6D6-E4D2-E87E-2A7C1FE11B3E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5930709" y="2780059"/>
            <a:ext cx="1894459" cy="7038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BB867B99-5F9C-5EDB-53C0-FE0DDC34BF4B}"/>
              </a:ext>
            </a:extLst>
          </p:cNvPr>
          <p:cNvSpPr txBox="1"/>
          <p:nvPr/>
        </p:nvSpPr>
        <p:spPr>
          <a:xfrm>
            <a:off x="3074827" y="3483879"/>
            <a:ext cx="21433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Semaphore</a:t>
            </a:r>
            <a:endParaRPr lang="en-IN" sz="2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479F2C6-F52A-2F52-BB88-4DEB9B61D203}"/>
              </a:ext>
            </a:extLst>
          </p:cNvPr>
          <p:cNvSpPr txBox="1"/>
          <p:nvPr/>
        </p:nvSpPr>
        <p:spPr>
          <a:xfrm>
            <a:off x="7030741" y="3483879"/>
            <a:ext cx="278373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Counting Semaphore</a:t>
            </a:r>
            <a:endParaRPr lang="en-IN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6D4A80B-316A-7D69-5240-8310340A32BB}"/>
              </a:ext>
            </a:extLst>
          </p:cNvPr>
          <p:cNvSpPr txBox="1"/>
          <p:nvPr/>
        </p:nvSpPr>
        <p:spPr>
          <a:xfrm>
            <a:off x="3232113" y="3938006"/>
            <a:ext cx="269859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arenR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Synchronisation</a:t>
            </a:r>
          </a:p>
          <a:p>
            <a:pPr marL="457200" indent="-457200">
              <a:buFont typeface="+mj-lt"/>
              <a:buAutoNum type="arabicParenR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Mutual Exclusion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0F3504-E135-C890-C3E1-EE8646BAE418}"/>
              </a:ext>
            </a:extLst>
          </p:cNvPr>
          <p:cNvSpPr txBox="1"/>
          <p:nvPr/>
        </p:nvSpPr>
        <p:spPr>
          <a:xfrm>
            <a:off x="7461212" y="3968486"/>
            <a:ext cx="269859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arenR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Synchronisation</a:t>
            </a:r>
          </a:p>
          <a:p>
            <a:pPr marL="457200" indent="-457200">
              <a:buFont typeface="+mj-lt"/>
              <a:buAutoNum type="arabicParenR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Resource Management</a:t>
            </a:r>
          </a:p>
          <a:p>
            <a:pPr marL="457200" indent="-457200">
              <a:buFont typeface="+mj-lt"/>
              <a:buAutoNum type="arabicParenR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Counting Events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7A05CCB-1006-7F9A-8D24-3E5312CF4C87}"/>
              </a:ext>
            </a:extLst>
          </p:cNvPr>
          <p:cNvGrpSpPr/>
          <p:nvPr/>
        </p:nvGrpSpPr>
        <p:grpSpPr>
          <a:xfrm>
            <a:off x="0" y="6466566"/>
            <a:ext cx="12192000" cy="403007"/>
            <a:chOff x="0" y="6478141"/>
            <a:chExt cx="12192000" cy="403007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33D8A9D-820F-6B48-6648-CA34A97ABD6C}"/>
                </a:ext>
              </a:extLst>
            </p:cNvPr>
            <p:cNvSpPr/>
            <p:nvPr/>
          </p:nvSpPr>
          <p:spPr>
            <a:xfrm>
              <a:off x="0" y="6484069"/>
              <a:ext cx="12192000" cy="397079"/>
            </a:xfrm>
            <a:prstGeom prst="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dirty="0"/>
                <a:t>                   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Jai Raja Saravanam S                                                                                                        </a:t>
              </a:r>
              <a:r>
                <a:rPr lang="en-IN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Emcog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Solutions</a:t>
              </a:r>
              <a:r>
                <a:rPr lang="en-IN" dirty="0"/>
                <a:t> </a:t>
              </a: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8D4DBDE3-E731-3410-00BD-D70F1D0468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734477" y="6478141"/>
              <a:ext cx="349866" cy="3830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514450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008A5-567C-59BF-3AFB-ED1882255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EA4B0D8-AEC5-7F1F-F5C0-B664D7BB386A}"/>
              </a:ext>
            </a:extLst>
          </p:cNvPr>
          <p:cNvSpPr txBox="1">
            <a:spLocks/>
          </p:cNvSpPr>
          <p:nvPr/>
        </p:nvSpPr>
        <p:spPr>
          <a:xfrm>
            <a:off x="547992" y="89511"/>
            <a:ext cx="11096011" cy="60133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Semaphore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FBF1001-05A2-133C-B289-E538A523366C}"/>
              </a:ext>
            </a:extLst>
          </p:cNvPr>
          <p:cNvSpPr txBox="1"/>
          <p:nvPr/>
        </p:nvSpPr>
        <p:spPr>
          <a:xfrm>
            <a:off x="366527" y="828019"/>
            <a:ext cx="31902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Binary Semaphore</a:t>
            </a:r>
            <a:endParaRPr lang="en-IN" sz="24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C25065-4EB5-410E-D50A-9C2307437FC0}"/>
              </a:ext>
            </a:extLst>
          </p:cNvPr>
          <p:cNvSpPr txBox="1"/>
          <p:nvPr/>
        </p:nvSpPr>
        <p:spPr>
          <a:xfrm>
            <a:off x="459124" y="1289684"/>
            <a:ext cx="19372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to use ?</a:t>
            </a:r>
          </a:p>
        </p:txBody>
      </p:sp>
      <p:sp>
        <p:nvSpPr>
          <p:cNvPr id="16" name="Rectangle 1">
            <a:extLst>
              <a:ext uri="{FF2B5EF4-FFF2-40B4-BE49-F238E27FC236}">
                <a16:creationId xmlns:a16="http://schemas.microsoft.com/office/drawing/2014/main" id="{41CFFA48-B094-E41E-8238-727D3325B5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7780" y="1654717"/>
            <a:ext cx="10301789" cy="2092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binary semaphore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when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multiple tasks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need synchronized access to the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same shared resource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or require synchronization between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ISR and multiple tasks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binary semaphore is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slower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than direct-to-task notifications because it involves the FreeRTOS queue mechanism.</a:t>
            </a:r>
          </a:p>
          <a:p>
            <a:pPr marL="0" marR="0" lvl="0" indent="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If only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one specific task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needs to be signaled or synchronized (e.g., from another task or an ISR), use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direct-to-task notification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instead — it’s faster and uses less RAM.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D874F36-30CA-A2C4-B7AA-2C8125AEC209}"/>
              </a:ext>
            </a:extLst>
          </p:cNvPr>
          <p:cNvGrpSpPr/>
          <p:nvPr/>
        </p:nvGrpSpPr>
        <p:grpSpPr>
          <a:xfrm>
            <a:off x="0" y="6466566"/>
            <a:ext cx="12192000" cy="403007"/>
            <a:chOff x="0" y="6478141"/>
            <a:chExt cx="12192000" cy="403007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5713B3F6-6CA6-B2DD-7533-EF551647BD82}"/>
                </a:ext>
              </a:extLst>
            </p:cNvPr>
            <p:cNvSpPr/>
            <p:nvPr/>
          </p:nvSpPr>
          <p:spPr>
            <a:xfrm>
              <a:off x="0" y="6484069"/>
              <a:ext cx="12192000" cy="397079"/>
            </a:xfrm>
            <a:prstGeom prst="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dirty="0"/>
                <a:t>                   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Jai Raja Saravanam S                                                                                                        </a:t>
              </a:r>
              <a:r>
                <a:rPr lang="en-IN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Emcog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Solutions</a:t>
              </a:r>
              <a:r>
                <a:rPr lang="en-IN" dirty="0"/>
                <a:t> </a:t>
              </a: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D5E7257-696E-ADE5-989D-B4C348C0F46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734477" y="6478141"/>
              <a:ext cx="349866" cy="3830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58756685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9FCDBD-9234-27A5-071B-BC2416D59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440071EA-1945-0470-C58B-7898ACE36AC5}"/>
              </a:ext>
            </a:extLst>
          </p:cNvPr>
          <p:cNvSpPr txBox="1">
            <a:spLocks/>
          </p:cNvSpPr>
          <p:nvPr/>
        </p:nvSpPr>
        <p:spPr>
          <a:xfrm>
            <a:off x="547992" y="89511"/>
            <a:ext cx="11096011" cy="60133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Semaphore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3C2240E-AD8D-AA6B-67C4-FA2FCF9DEF12}"/>
              </a:ext>
            </a:extLst>
          </p:cNvPr>
          <p:cNvSpPr txBox="1"/>
          <p:nvPr/>
        </p:nvSpPr>
        <p:spPr>
          <a:xfrm>
            <a:off x="406395" y="2416107"/>
            <a:ext cx="11379204" cy="3914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RTOS API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  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SemaphoreHandle_t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xSemaphoreCreateBinary 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void );</a:t>
            </a:r>
          </a:p>
          <a:p>
            <a:pPr marL="457200" indent="-457200">
              <a:lnSpc>
                <a:spcPct val="150000"/>
              </a:lnSpc>
              <a:buAutoNum type="arabicPeriod" startAt="2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SemaphoreHandle_t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xSemaphoreCreateCounting</a:t>
            </a:r>
            <a:r>
              <a:rPr lang="en-IN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UBaseType_t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uxMaxCount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UBaseType_t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</a:t>
            </a:r>
            <a:r>
              <a:rPr lang="en-IN" sz="20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uxInitialCount</a:t>
            </a:r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  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BaseType_t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0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xSemaphoreTake</a:t>
            </a: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SemaphoreHandle_t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xSemaphore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TickType_t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xTicksToWait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);</a:t>
            </a:r>
          </a:p>
          <a:p>
            <a:pPr marL="457200" indent="-457200">
              <a:lnSpc>
                <a:spcPct val="150000"/>
              </a:lnSpc>
              <a:buAutoNum type="arabicPeriod" startAt="4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BaseType_t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xSemaphoreGive</a:t>
            </a:r>
            <a:r>
              <a:rPr lang="en-IN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SemaphoreHandle_t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xSemaphore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);</a:t>
            </a:r>
          </a:p>
          <a:p>
            <a:pPr marL="457200" indent="-457200">
              <a:lnSpc>
                <a:spcPct val="150000"/>
              </a:lnSpc>
              <a:buAutoNum type="arabicPeriod" startAt="4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</a:t>
            </a:r>
            <a:r>
              <a:rPr lang="en-IN" sz="20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vSemaphoreDelete</a:t>
            </a:r>
            <a:r>
              <a:rPr lang="en-IN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SemaphoreHandle_t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xSemaphore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);</a:t>
            </a:r>
          </a:p>
          <a:p>
            <a:pPr marL="457200" indent="-457200">
              <a:lnSpc>
                <a:spcPct val="150000"/>
              </a:lnSpc>
              <a:buAutoNum type="arabicPeriod" startAt="5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CB53B0-7158-3A3E-991F-EDEB5E7F15EB}"/>
              </a:ext>
            </a:extLst>
          </p:cNvPr>
          <p:cNvSpPr txBox="1"/>
          <p:nvPr/>
        </p:nvSpPr>
        <p:spPr>
          <a:xfrm>
            <a:off x="440268" y="690845"/>
            <a:ext cx="1094973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0" dirty="0">
                <a:solidFill>
                  <a:srgbClr val="47546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Note :</a:t>
            </a:r>
          </a:p>
          <a:p>
            <a:r>
              <a:rPr lang="en-US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1.  </a:t>
            </a:r>
            <a:r>
              <a:rPr lang="en-US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b="1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onfigSUPPORT_DYNAMIC_ALLOCATION</a:t>
            </a:r>
            <a:r>
              <a:rPr lang="en-US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400" b="0" i="0" dirty="0">
                <a:solidFill>
                  <a:srgbClr val="47546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must be set to 1 in </a:t>
            </a:r>
            <a:r>
              <a:rPr lang="en-US" sz="2400" b="0" i="0" dirty="0" err="1">
                <a:solidFill>
                  <a:srgbClr val="47546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FreeRTOSConfig.h</a:t>
            </a:r>
            <a:r>
              <a:rPr lang="en-US" sz="2400" b="0" i="0" dirty="0">
                <a:solidFill>
                  <a:srgbClr val="47546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or left undefined</a:t>
            </a:r>
          </a:p>
          <a:p>
            <a:r>
              <a:rPr lang="en-US" sz="2400" dirty="0">
                <a:solidFill>
                  <a:srgbClr val="47546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2. The semaphore must be given initially before it can be taken by a task</a:t>
            </a:r>
            <a:endParaRPr lang="en-IN" sz="2400" dirty="0">
              <a:solidFill>
                <a:srgbClr val="47546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F08485B-2236-BDD5-267E-65C1787680AD}"/>
              </a:ext>
            </a:extLst>
          </p:cNvPr>
          <p:cNvGrpSpPr/>
          <p:nvPr/>
        </p:nvGrpSpPr>
        <p:grpSpPr>
          <a:xfrm>
            <a:off x="0" y="6466566"/>
            <a:ext cx="12192000" cy="403007"/>
            <a:chOff x="0" y="6478141"/>
            <a:chExt cx="12192000" cy="403007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17EC7AF-B730-64BA-75E2-BB29A24EFF85}"/>
                </a:ext>
              </a:extLst>
            </p:cNvPr>
            <p:cNvSpPr/>
            <p:nvPr/>
          </p:nvSpPr>
          <p:spPr>
            <a:xfrm>
              <a:off x="0" y="6484069"/>
              <a:ext cx="12192000" cy="397079"/>
            </a:xfrm>
            <a:prstGeom prst="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dirty="0"/>
                <a:t>                   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Jai Raja Saravanam S                                                                                                        </a:t>
              </a:r>
              <a:r>
                <a:rPr lang="en-IN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Emcog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Solutions</a:t>
              </a:r>
              <a:r>
                <a:rPr lang="en-IN" dirty="0"/>
                <a:t> </a:t>
              </a: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C4A6CB5-3083-0C2B-BAAA-0E652CCC54B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734477" y="6478141"/>
              <a:ext cx="349866" cy="3830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0595775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0172EE-8E86-E353-8614-89F19EA0D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4D5AB23-C63A-AC96-F21B-00A260F2B3BE}"/>
              </a:ext>
            </a:extLst>
          </p:cNvPr>
          <p:cNvSpPr txBox="1">
            <a:spLocks/>
          </p:cNvSpPr>
          <p:nvPr/>
        </p:nvSpPr>
        <p:spPr>
          <a:xfrm>
            <a:off x="547992" y="89511"/>
            <a:ext cx="11096011" cy="60133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Semaphore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ADEECDD-1B8A-B6D4-087C-CFF806443929}"/>
              </a:ext>
            </a:extLst>
          </p:cNvPr>
          <p:cNvSpPr txBox="1"/>
          <p:nvPr/>
        </p:nvSpPr>
        <p:spPr>
          <a:xfrm>
            <a:off x="406395" y="1368178"/>
            <a:ext cx="11379204" cy="3130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AutoNum type="arabicPeriod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SemaphoreHandle_t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xSemaphoreCreateBinary 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void )</a:t>
            </a:r>
            <a:endParaRPr lang="en-IN" sz="2000" dirty="0">
              <a:solidFill>
                <a:srgbClr val="00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00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Creates a binary semaphore, and returns a handle by which the semaphore can be referenced.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NULL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semaphore could not be created because there was insufficient FreeRTOS heap available.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 other value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semaphore was created successfully. The returned value is a handle by which the semaphore can be referenced.</a:t>
            </a:r>
          </a:p>
          <a:p>
            <a:pPr>
              <a:lnSpc>
                <a:spcPct val="150000"/>
              </a:lnSpc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595CF2B-C9D7-0CFF-D847-0003BC5F98F2}"/>
              </a:ext>
            </a:extLst>
          </p:cNvPr>
          <p:cNvGrpSpPr/>
          <p:nvPr/>
        </p:nvGrpSpPr>
        <p:grpSpPr>
          <a:xfrm>
            <a:off x="0" y="6466566"/>
            <a:ext cx="12192000" cy="403007"/>
            <a:chOff x="0" y="6478141"/>
            <a:chExt cx="12192000" cy="403007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F5F5DC9-4D01-EC31-6A51-3EF0E4B7F94E}"/>
                </a:ext>
              </a:extLst>
            </p:cNvPr>
            <p:cNvSpPr/>
            <p:nvPr/>
          </p:nvSpPr>
          <p:spPr>
            <a:xfrm>
              <a:off x="0" y="6484069"/>
              <a:ext cx="12192000" cy="397079"/>
            </a:xfrm>
            <a:prstGeom prst="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dirty="0"/>
                <a:t>                   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Jai Raja Saravanam S                                                                                                        </a:t>
              </a:r>
              <a:r>
                <a:rPr lang="en-IN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Emcog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Solutions</a:t>
              </a:r>
              <a:r>
                <a:rPr lang="en-IN" dirty="0"/>
                <a:t> </a:t>
              </a: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980010E-D8E8-AD68-EF83-AC07E0FC660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734477" y="6478141"/>
              <a:ext cx="349866" cy="3830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92040631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4EFD61-855B-0471-0C87-11D7B4398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EAE9039-6EF2-1010-13F9-4DE088B08D41}"/>
              </a:ext>
            </a:extLst>
          </p:cNvPr>
          <p:cNvSpPr txBox="1">
            <a:spLocks/>
          </p:cNvSpPr>
          <p:nvPr/>
        </p:nvSpPr>
        <p:spPr>
          <a:xfrm>
            <a:off x="547992" y="89511"/>
            <a:ext cx="11096011" cy="60133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Semaphore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61F5F09-C308-2103-66E3-3F88D4B7C47F}"/>
              </a:ext>
            </a:extLst>
          </p:cNvPr>
          <p:cNvSpPr txBox="1"/>
          <p:nvPr/>
        </p:nvSpPr>
        <p:spPr>
          <a:xfrm>
            <a:off x="264799" y="819359"/>
            <a:ext cx="11379204" cy="5028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AutoNum type="arabicPeriod" startAt="2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SemaphoreHandle_t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xSemaphoreCreateCounting</a:t>
            </a:r>
            <a:r>
              <a:rPr lang="en-IN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UBaseType_t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uxMaxCount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UBaseType_t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</a:t>
            </a:r>
            <a:r>
              <a:rPr lang="en-IN" sz="20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uxInitialCount</a:t>
            </a:r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Creates a counting semaphore and returns a handle by which the newly created semaphore can be referenced.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Parameters:</a:t>
            </a:r>
          </a:p>
          <a:p>
            <a:pPr>
              <a:lnSpc>
                <a:spcPct val="150000"/>
              </a:lnSpc>
            </a:pPr>
            <a:r>
              <a:rPr lang="en-IN" sz="20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uxMaxCount</a:t>
            </a:r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maximum count value that can be reached. When the semaphore reaches this value it can no longer be 'given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'.</a:t>
            </a:r>
            <a:endParaRPr lang="en-IN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IN" sz="20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uxInitialCount</a:t>
            </a:r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count value assigned to the semaphore when it is created.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NULL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semaphore could not be created because there was insufficient FreeRTOS heap available.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semaphore is created successfully then a handle to the semaphore is returned.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BCB6860-B2A4-18BB-1A99-4000848D9321}"/>
              </a:ext>
            </a:extLst>
          </p:cNvPr>
          <p:cNvGrpSpPr/>
          <p:nvPr/>
        </p:nvGrpSpPr>
        <p:grpSpPr>
          <a:xfrm>
            <a:off x="0" y="6466566"/>
            <a:ext cx="12192000" cy="403007"/>
            <a:chOff x="0" y="6478141"/>
            <a:chExt cx="12192000" cy="403007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5FCDB81-AA81-9174-A640-A44338F13A21}"/>
                </a:ext>
              </a:extLst>
            </p:cNvPr>
            <p:cNvSpPr/>
            <p:nvPr/>
          </p:nvSpPr>
          <p:spPr>
            <a:xfrm>
              <a:off x="0" y="6484069"/>
              <a:ext cx="12192000" cy="397079"/>
            </a:xfrm>
            <a:prstGeom prst="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dirty="0"/>
                <a:t>                   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Jai Raja Saravanam S                                                                                                        </a:t>
              </a:r>
              <a:r>
                <a:rPr lang="en-IN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Emcog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Solutions</a:t>
              </a:r>
              <a:r>
                <a:rPr lang="en-IN" dirty="0"/>
                <a:t> </a:t>
              </a: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508F72C-DD6B-8B3F-FCA6-7F03D6533C8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734477" y="6478141"/>
              <a:ext cx="349866" cy="3830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26432789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381E4-2053-B129-3302-26027DC2B9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23CC7E38-965C-7C21-FEBA-19115E0588AE}"/>
              </a:ext>
            </a:extLst>
          </p:cNvPr>
          <p:cNvSpPr txBox="1">
            <a:spLocks/>
          </p:cNvSpPr>
          <p:nvPr/>
        </p:nvSpPr>
        <p:spPr>
          <a:xfrm>
            <a:off x="547992" y="89511"/>
            <a:ext cx="11096011" cy="60133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Semaphore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209650-3F4D-E474-FBFB-8D2BB6B1DE1D}"/>
              </a:ext>
            </a:extLst>
          </p:cNvPr>
          <p:cNvSpPr txBox="1"/>
          <p:nvPr/>
        </p:nvSpPr>
        <p:spPr>
          <a:xfrm>
            <a:off x="264799" y="971759"/>
            <a:ext cx="11379204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BaseType_t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0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xSemaphoreTake</a:t>
            </a: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SemaphoreHandle_t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xSemaphore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TickType_t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xTicksToWait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);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Macro</a:t>
            </a:r>
            <a:r>
              <a:rPr lang="en-US" sz="200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to obtain a semaphore. 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Parameters:</a:t>
            </a:r>
          </a:p>
          <a:p>
            <a:r>
              <a:rPr lang="en-US" sz="20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xSemaphore</a:t>
            </a:r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handle to the semaphore being taken - obtained when the semaphore was created.</a:t>
            </a:r>
            <a:endParaRPr lang="en-IN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sz="20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xTicksToWait</a:t>
            </a:r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time in ticks to wait for the semaphore to become available.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Return: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000" b="1" i="1" dirty="0" err="1">
                <a:solidFill>
                  <a:srgbClr val="47546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pdTRUE</a:t>
            </a:r>
            <a:r>
              <a:rPr lang="en-US" altLang="en-US" sz="2000" dirty="0">
                <a:solidFill>
                  <a:srgbClr val="47546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if the semaphore was obtained.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000" b="1" i="1" dirty="0" err="1">
                <a:solidFill>
                  <a:srgbClr val="47546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pdFALSE</a:t>
            </a:r>
            <a:r>
              <a:rPr lang="en-US" altLang="en-US" sz="2000" dirty="0">
                <a:solidFill>
                  <a:srgbClr val="47546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if  </a:t>
            </a:r>
            <a:r>
              <a:rPr lang="en-US" altLang="en-US" sz="2000" dirty="0" err="1">
                <a:solidFill>
                  <a:srgbClr val="393A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xTicksToWait</a:t>
            </a:r>
            <a:r>
              <a:rPr lang="en-US" altLang="en-US" sz="2000" dirty="0">
                <a:solidFill>
                  <a:srgbClr val="47546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expired without the semaphore becoming available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F0F4AC4-4CAB-8F8B-0559-4BBB1E2FF0F7}"/>
              </a:ext>
            </a:extLst>
          </p:cNvPr>
          <p:cNvGrpSpPr/>
          <p:nvPr/>
        </p:nvGrpSpPr>
        <p:grpSpPr>
          <a:xfrm>
            <a:off x="0" y="6466566"/>
            <a:ext cx="12192000" cy="403007"/>
            <a:chOff x="0" y="6478141"/>
            <a:chExt cx="12192000" cy="403007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D842BCD-7163-D93C-1706-86AA09E4A3EF}"/>
                </a:ext>
              </a:extLst>
            </p:cNvPr>
            <p:cNvSpPr/>
            <p:nvPr/>
          </p:nvSpPr>
          <p:spPr>
            <a:xfrm>
              <a:off x="0" y="6484069"/>
              <a:ext cx="12192000" cy="397079"/>
            </a:xfrm>
            <a:prstGeom prst="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dirty="0"/>
                <a:t>                   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Jai Raja Saravanam S                                                                                                        </a:t>
              </a:r>
              <a:r>
                <a:rPr lang="en-IN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Emcog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Solutions</a:t>
              </a:r>
              <a:r>
                <a:rPr lang="en-IN" dirty="0"/>
                <a:t> </a:t>
              </a: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ADC5D88-B1CD-D743-2D01-F307EC0EAE4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734477" y="6478141"/>
              <a:ext cx="349866" cy="3830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70771973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AAD52B-64E0-0C0B-E33E-F1E286FC3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5865F292-2FF0-6917-94F7-A366346D9429}"/>
              </a:ext>
            </a:extLst>
          </p:cNvPr>
          <p:cNvSpPr txBox="1">
            <a:spLocks/>
          </p:cNvSpPr>
          <p:nvPr/>
        </p:nvSpPr>
        <p:spPr>
          <a:xfrm>
            <a:off x="547992" y="89511"/>
            <a:ext cx="11096011" cy="60133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Semaphore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3A0CCD4-D9E1-05BF-BCCC-776B56F9F9D3}"/>
              </a:ext>
            </a:extLst>
          </p:cNvPr>
          <p:cNvSpPr txBox="1"/>
          <p:nvPr/>
        </p:nvSpPr>
        <p:spPr>
          <a:xfrm>
            <a:off x="264799" y="1107225"/>
            <a:ext cx="11379204" cy="40128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BaseType_t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xSemaphoreGive</a:t>
            </a:r>
            <a:r>
              <a:rPr lang="en-IN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SemaphoreHandle_t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xSemaphore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);</a:t>
            </a:r>
          </a:p>
          <a:p>
            <a:pPr>
              <a:lnSpc>
                <a:spcPct val="150000"/>
              </a:lnSpc>
            </a:pP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</a:t>
            </a:r>
            <a:r>
              <a:rPr lang="en-US" sz="2000" i="1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Macro</a:t>
            </a:r>
            <a:r>
              <a:rPr lang="en-US" sz="200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to release a semaphore. 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Parameters:</a:t>
            </a:r>
          </a:p>
          <a:p>
            <a:pPr>
              <a:lnSpc>
                <a:spcPct val="150000"/>
              </a:lnSpc>
            </a:pPr>
            <a:r>
              <a:rPr lang="en-US" sz="20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xSemaphore</a:t>
            </a:r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handle to the semaphore being released. This is the handle returned when the semaphore was created.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Return: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pdTRUE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if the semaphore was released.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pdFALSE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if an error occurred. Semaphores are implemented using queues. An error can occur if there is no space on the queue to post a message - indicating that the semaphore was not first obtained correctly.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36E492B-5EC5-E4DC-2F71-7DD968D56854}"/>
              </a:ext>
            </a:extLst>
          </p:cNvPr>
          <p:cNvGrpSpPr/>
          <p:nvPr/>
        </p:nvGrpSpPr>
        <p:grpSpPr>
          <a:xfrm>
            <a:off x="0" y="6466566"/>
            <a:ext cx="12192000" cy="403007"/>
            <a:chOff x="0" y="6478141"/>
            <a:chExt cx="12192000" cy="403007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E21F6BD-CAEE-3C2C-D71C-C9743CF901B9}"/>
                </a:ext>
              </a:extLst>
            </p:cNvPr>
            <p:cNvSpPr/>
            <p:nvPr/>
          </p:nvSpPr>
          <p:spPr>
            <a:xfrm>
              <a:off x="0" y="6484069"/>
              <a:ext cx="12192000" cy="397079"/>
            </a:xfrm>
            <a:prstGeom prst="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dirty="0"/>
                <a:t>                   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Jai Raja Saravanam S                                                                                                        </a:t>
              </a:r>
              <a:r>
                <a:rPr lang="en-IN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Emcog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Solutions</a:t>
              </a:r>
              <a:r>
                <a:rPr lang="en-IN" dirty="0"/>
                <a:t> </a:t>
              </a: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1E6BB06-52B5-63A0-6912-5887B2FFA5C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734477" y="6478141"/>
              <a:ext cx="349866" cy="3830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64334281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E53814-5D06-6777-A568-8F0475A65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0C4B142-86E0-6B6D-C0E0-CD5FF8D08915}"/>
              </a:ext>
            </a:extLst>
          </p:cNvPr>
          <p:cNvSpPr txBox="1">
            <a:spLocks/>
          </p:cNvSpPr>
          <p:nvPr/>
        </p:nvSpPr>
        <p:spPr>
          <a:xfrm>
            <a:off x="547992" y="89511"/>
            <a:ext cx="11096011" cy="60133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Semaphore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68F6C1-1D1C-64F8-0088-6F97D802D651}"/>
              </a:ext>
            </a:extLst>
          </p:cNvPr>
          <p:cNvSpPr txBox="1"/>
          <p:nvPr/>
        </p:nvSpPr>
        <p:spPr>
          <a:xfrm>
            <a:off x="264799" y="1107225"/>
            <a:ext cx="11379204" cy="2806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  void </a:t>
            </a:r>
            <a:r>
              <a:rPr lang="en-IN" sz="20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vSemaphoreDelete</a:t>
            </a:r>
            <a:r>
              <a:rPr lang="en-IN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SemaphoreHandle_t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xSemaphore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)</a:t>
            </a:r>
          </a:p>
          <a:p>
            <a:pPr>
              <a:lnSpc>
                <a:spcPct val="150000"/>
              </a:lnSpc>
            </a:pP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</a:t>
            </a:r>
            <a:r>
              <a:rPr lang="en-US" sz="200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Deletes a semaphore, including mutex type semaphores and recursive semaphores.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 not delete a semaphore that has tasks blocked on it (tasks that are in the Blocked state waiting for the semaphore to become available).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Parameters:</a:t>
            </a:r>
          </a:p>
          <a:p>
            <a:pPr>
              <a:lnSpc>
                <a:spcPct val="150000"/>
              </a:lnSpc>
            </a:pPr>
            <a:r>
              <a:rPr lang="en-US" sz="20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xSemaphore</a:t>
            </a:r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 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handle of the semaphore being deleted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E238985-4C1F-D885-59A6-C8E41866B7A5}"/>
              </a:ext>
            </a:extLst>
          </p:cNvPr>
          <p:cNvGrpSpPr/>
          <p:nvPr/>
        </p:nvGrpSpPr>
        <p:grpSpPr>
          <a:xfrm>
            <a:off x="0" y="6466566"/>
            <a:ext cx="12192000" cy="403007"/>
            <a:chOff x="0" y="6478141"/>
            <a:chExt cx="12192000" cy="403007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58162CB-318A-5A2D-D9A6-9305B3EC911C}"/>
                </a:ext>
              </a:extLst>
            </p:cNvPr>
            <p:cNvSpPr/>
            <p:nvPr/>
          </p:nvSpPr>
          <p:spPr>
            <a:xfrm>
              <a:off x="0" y="6484069"/>
              <a:ext cx="12192000" cy="397079"/>
            </a:xfrm>
            <a:prstGeom prst="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dirty="0"/>
                <a:t>                   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Jai Raja Saravanam S                                                                                                        </a:t>
              </a:r>
              <a:r>
                <a:rPr lang="en-IN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Emcog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Solutions</a:t>
              </a:r>
              <a:r>
                <a:rPr lang="en-IN" dirty="0"/>
                <a:t> </a:t>
              </a: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44FC50D-C2EC-C3D6-3AED-51AE4BDA686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734477" y="6478141"/>
              <a:ext cx="349866" cy="3830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36466727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C58312-47F8-9FF7-710C-83AFFF9B6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8686FCD-F87D-455A-DE89-FC103995D40B}"/>
              </a:ext>
            </a:extLst>
          </p:cNvPr>
          <p:cNvSpPr txBox="1">
            <a:spLocks/>
          </p:cNvSpPr>
          <p:nvPr/>
        </p:nvSpPr>
        <p:spPr>
          <a:xfrm>
            <a:off x="547992" y="89511"/>
            <a:ext cx="11096011" cy="60133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Semaphore – Activity 13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2EBC114-6958-2A2D-6BE2-A5C8AB7A33A3}"/>
              </a:ext>
            </a:extLst>
          </p:cNvPr>
          <p:cNvSpPr txBox="1"/>
          <p:nvPr/>
        </p:nvSpPr>
        <p:spPr>
          <a:xfrm>
            <a:off x="264799" y="991478"/>
            <a:ext cx="11379204" cy="2806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two tasks that share access to the UART peripheral, and use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binary semaphore to ensure Synchronization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during UART communication.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objective: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how to create semaphore .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how semaphore works and where to use semaphore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of Binary semaphore in Synchronization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ED86544-7751-F72E-C2C9-6F964F38C4EC}"/>
              </a:ext>
            </a:extLst>
          </p:cNvPr>
          <p:cNvGrpSpPr/>
          <p:nvPr/>
        </p:nvGrpSpPr>
        <p:grpSpPr>
          <a:xfrm>
            <a:off x="0" y="6466566"/>
            <a:ext cx="12192000" cy="403007"/>
            <a:chOff x="0" y="6478141"/>
            <a:chExt cx="12192000" cy="403007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CB994B5-9468-8EE3-862B-85DA0423DFD4}"/>
                </a:ext>
              </a:extLst>
            </p:cNvPr>
            <p:cNvSpPr/>
            <p:nvPr/>
          </p:nvSpPr>
          <p:spPr>
            <a:xfrm>
              <a:off x="0" y="6484069"/>
              <a:ext cx="12192000" cy="397079"/>
            </a:xfrm>
            <a:prstGeom prst="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dirty="0"/>
                <a:t>                   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Jai Raja Saravanam S                                                                                                        </a:t>
              </a:r>
              <a:r>
                <a:rPr lang="en-IN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Emcog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Solutions</a:t>
              </a:r>
              <a:r>
                <a:rPr lang="en-IN" dirty="0"/>
                <a:t> </a:t>
              </a: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18FC5CA6-88B3-9E74-4151-5DB4847ACA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734477" y="6478141"/>
              <a:ext cx="349866" cy="3830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7872257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5286D0-1AD6-4CC1-A63A-5042AB131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21B78288-593E-9BFB-7084-E0306A3BFEAB}"/>
              </a:ext>
            </a:extLst>
          </p:cNvPr>
          <p:cNvSpPr txBox="1">
            <a:spLocks/>
          </p:cNvSpPr>
          <p:nvPr/>
        </p:nvSpPr>
        <p:spPr>
          <a:xfrm>
            <a:off x="547992" y="89511"/>
            <a:ext cx="11096011" cy="60133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Semaphore – Activity 14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2D9F3C8-2987-2A38-926F-3715EBA67203}"/>
              </a:ext>
            </a:extLst>
          </p:cNvPr>
          <p:cNvSpPr txBox="1"/>
          <p:nvPr/>
        </p:nvSpPr>
        <p:spPr>
          <a:xfrm>
            <a:off x="264799" y="991478"/>
            <a:ext cx="11379204" cy="1883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button interrupt task and led task . Use counting semaphore to latch events between task.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objective: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how to counting semaphore works.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importance of counting semaphore.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5AF570E-5926-CDDB-C370-697EFE410F44}"/>
              </a:ext>
            </a:extLst>
          </p:cNvPr>
          <p:cNvGrpSpPr/>
          <p:nvPr/>
        </p:nvGrpSpPr>
        <p:grpSpPr>
          <a:xfrm>
            <a:off x="0" y="6466566"/>
            <a:ext cx="12192000" cy="403007"/>
            <a:chOff x="0" y="6478141"/>
            <a:chExt cx="12192000" cy="403007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50DF0CF-A606-AACB-B731-46EB2450890D}"/>
                </a:ext>
              </a:extLst>
            </p:cNvPr>
            <p:cNvSpPr/>
            <p:nvPr/>
          </p:nvSpPr>
          <p:spPr>
            <a:xfrm>
              <a:off x="0" y="6484069"/>
              <a:ext cx="12192000" cy="397079"/>
            </a:xfrm>
            <a:prstGeom prst="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dirty="0"/>
                <a:t>                   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Jai Raja Saravanam S                                                                                                        </a:t>
              </a:r>
              <a:r>
                <a:rPr lang="en-IN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Emcog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Solutions</a:t>
              </a:r>
              <a:r>
                <a:rPr lang="en-IN" dirty="0"/>
                <a:t> </a:t>
              </a: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3759EF0-BFF5-8717-CD2A-14E52B8A32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734477" y="6478141"/>
              <a:ext cx="349866" cy="3830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99755154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678AEA-23BE-E2D5-AEB6-93F75ACE7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9F83EF1-C572-73EB-393F-995357C4FE33}"/>
              </a:ext>
            </a:extLst>
          </p:cNvPr>
          <p:cNvSpPr txBox="1">
            <a:spLocks/>
          </p:cNvSpPr>
          <p:nvPr/>
        </p:nvSpPr>
        <p:spPr>
          <a:xfrm>
            <a:off x="547992" y="89511"/>
            <a:ext cx="11096011" cy="60133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Semaphore – Activity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695CB6E-53D8-3069-185B-F7B4CCBB1E12}"/>
              </a:ext>
            </a:extLst>
          </p:cNvPr>
          <p:cNvSpPr txBox="1"/>
          <p:nvPr/>
        </p:nvSpPr>
        <p:spPr>
          <a:xfrm>
            <a:off x="264799" y="991478"/>
            <a:ext cx="11379204" cy="1421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button interrupt task and led task . Use counting semaphore to manage resources.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objective: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how to manage resources using counting semaphore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BA9140C-0B08-6132-5CC3-77A26BFA51D8}"/>
              </a:ext>
            </a:extLst>
          </p:cNvPr>
          <p:cNvGrpSpPr/>
          <p:nvPr/>
        </p:nvGrpSpPr>
        <p:grpSpPr>
          <a:xfrm>
            <a:off x="0" y="6466566"/>
            <a:ext cx="12192000" cy="403007"/>
            <a:chOff x="0" y="6478141"/>
            <a:chExt cx="12192000" cy="403007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4BF40A3-3CF9-9A34-B54A-FCC4577EB618}"/>
                </a:ext>
              </a:extLst>
            </p:cNvPr>
            <p:cNvSpPr/>
            <p:nvPr/>
          </p:nvSpPr>
          <p:spPr>
            <a:xfrm>
              <a:off x="0" y="6484069"/>
              <a:ext cx="12192000" cy="397079"/>
            </a:xfrm>
            <a:prstGeom prst="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dirty="0"/>
                <a:t>                   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Jai Raja Saravanam S                                                                                                        </a:t>
              </a:r>
              <a:r>
                <a:rPr lang="en-IN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Emcog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Solutions</a:t>
              </a:r>
              <a:r>
                <a:rPr lang="en-IN" dirty="0"/>
                <a:t> </a:t>
              </a: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64AE8E0-CC62-F075-95E3-4062DF95815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734477" y="6478141"/>
              <a:ext cx="349866" cy="3830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95694412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DE55D-0343-A02A-6F3E-A911284D0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26852D5-0683-1A85-B0B6-9CBDCE72D1C3}"/>
              </a:ext>
            </a:extLst>
          </p:cNvPr>
          <p:cNvSpPr txBox="1">
            <a:spLocks/>
          </p:cNvSpPr>
          <p:nvPr/>
        </p:nvSpPr>
        <p:spPr>
          <a:xfrm>
            <a:off x="547992" y="89511"/>
            <a:ext cx="11096011" cy="60133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Semaphore - Activity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D188168-822C-F2E9-1D1B-1D6D052E5A1B}"/>
              </a:ext>
            </a:extLst>
          </p:cNvPr>
          <p:cNvSpPr txBox="1"/>
          <p:nvPr/>
        </p:nvSpPr>
        <p:spPr>
          <a:xfrm>
            <a:off x="264799" y="740018"/>
            <a:ext cx="11379204" cy="2345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1.Create two tasks that share access to the UART peripheral, and use a binary semaphore to ensure mutual exclusion during UART communication.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objective: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how to create binary semaphore .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how semaphore works and where to use semaphore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BCECE4-CFF8-6AF8-6A11-679E2989D256}"/>
              </a:ext>
            </a:extLst>
          </p:cNvPr>
          <p:cNvSpPr txBox="1"/>
          <p:nvPr/>
        </p:nvSpPr>
        <p:spPr>
          <a:xfrm>
            <a:off x="264799" y="3065390"/>
            <a:ext cx="11379204" cy="3268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2.Create a button handler task and understand the benefits of counting semaphore to handle multiple interrupt 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Handler task - external interrupt give semaphore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Led task         - activate only for every 2 sec 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objective: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how to create counting semaphore .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how semaphore works and where to use semaphore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17032AD-1510-CE4B-E016-BD5C9652D676}"/>
              </a:ext>
            </a:extLst>
          </p:cNvPr>
          <p:cNvGrpSpPr/>
          <p:nvPr/>
        </p:nvGrpSpPr>
        <p:grpSpPr>
          <a:xfrm>
            <a:off x="0" y="6466566"/>
            <a:ext cx="12192000" cy="403007"/>
            <a:chOff x="0" y="6478141"/>
            <a:chExt cx="12192000" cy="403007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922134C-0B9D-5982-68F8-AD1616EB2116}"/>
                </a:ext>
              </a:extLst>
            </p:cNvPr>
            <p:cNvSpPr/>
            <p:nvPr/>
          </p:nvSpPr>
          <p:spPr>
            <a:xfrm>
              <a:off x="0" y="6484069"/>
              <a:ext cx="12192000" cy="397079"/>
            </a:xfrm>
            <a:prstGeom prst="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dirty="0"/>
                <a:t>                   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Jai Raja Saravanam S                                                                                                        </a:t>
              </a:r>
              <a:r>
                <a:rPr lang="en-IN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Emcog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Solutions</a:t>
              </a:r>
              <a:r>
                <a:rPr lang="en-IN" dirty="0"/>
                <a:t> </a:t>
              </a: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9EDE40F5-E316-4A09-6217-169BEFECB61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734477" y="6478141"/>
              <a:ext cx="349866" cy="3830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13249209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1060C-6E12-DA87-C317-DF6A5FEA6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79D7FE9A-83FB-185D-C8E6-9F876CDD4D45}"/>
              </a:ext>
            </a:extLst>
          </p:cNvPr>
          <p:cNvSpPr txBox="1">
            <a:spLocks/>
          </p:cNvSpPr>
          <p:nvPr/>
        </p:nvSpPr>
        <p:spPr>
          <a:xfrm>
            <a:off x="547992" y="89511"/>
            <a:ext cx="11096011" cy="60133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Mutex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AA53FD-EBEB-30C2-D51D-5280E8710700}"/>
              </a:ext>
            </a:extLst>
          </p:cNvPr>
          <p:cNvSpPr txBox="1"/>
          <p:nvPr/>
        </p:nvSpPr>
        <p:spPr>
          <a:xfrm>
            <a:off x="304800" y="643074"/>
            <a:ext cx="1121606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400" b="1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mutex</a:t>
            </a:r>
            <a:r>
              <a:rPr lang="en-US" sz="240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(short for </a:t>
            </a:r>
            <a:r>
              <a:rPr lang="en-US" sz="2400" i="1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mutual exclusion</a:t>
            </a:r>
            <a:r>
              <a:rPr lang="en-US" sz="240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is a special kind of </a:t>
            </a:r>
            <a:r>
              <a:rPr lang="en-US" sz="2400" b="1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semaphore</a:t>
            </a:r>
            <a:r>
              <a:rPr lang="en-US" sz="240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designed to protect </a:t>
            </a:r>
            <a:r>
              <a:rPr lang="en-US" sz="2400" b="1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shared resources</a:t>
            </a:r>
            <a:r>
              <a:rPr lang="en-US" sz="240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so that only </a:t>
            </a:r>
            <a:r>
              <a:rPr lang="en-US" sz="2400" b="1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 task at a time</a:t>
            </a:r>
            <a:r>
              <a:rPr lang="en-US" sz="240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can use them.</a:t>
            </a:r>
            <a:endParaRPr lang="en-IN" sz="2000" dirty="0">
              <a:solidFill>
                <a:srgbClr val="00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B59F454-64CF-2504-3E8D-7C9F42FD5151}"/>
              </a:ext>
            </a:extLst>
          </p:cNvPr>
          <p:cNvSpPr txBox="1"/>
          <p:nvPr/>
        </p:nvSpPr>
        <p:spPr>
          <a:xfrm>
            <a:off x="304800" y="1688044"/>
            <a:ext cx="1157224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 :</a:t>
            </a:r>
          </a:p>
          <a:p>
            <a:r>
              <a:rPr lang="en-US" altLang="en-US" sz="2400" u="sng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configSUPPORT_DYNAMIC_ALLOCATION</a:t>
            </a:r>
            <a:r>
              <a:rPr lang="en-US" altLang="en-US" sz="2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 </a:t>
            </a:r>
            <a:r>
              <a:rPr lang="en-US" altLang="en-US" sz="2400" u="sng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configUSE_MUTEXES</a:t>
            </a:r>
            <a:r>
              <a:rPr lang="en-US" altLang="en-US" sz="2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must both be set to 1 in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FreeRTOSConfig.h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 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xSemaphoreCreateMutex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to be available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b="1" dirty="0"/>
          </a:p>
        </p:txBody>
      </p:sp>
      <p:sp>
        <p:nvSpPr>
          <p:cNvPr id="16" name="Rectangle 1">
            <a:extLst>
              <a:ext uri="{FF2B5EF4-FFF2-40B4-BE49-F238E27FC236}">
                <a16:creationId xmlns:a16="http://schemas.microsoft.com/office/drawing/2014/main" id="{16166359-ED61-F870-1295-17DC85F8D1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238658"/>
            <a:ext cx="11216061" cy="38625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RTOS API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SemaphoreHandle_t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xSemaphoreCreateMutex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void )</a:t>
            </a:r>
          </a:p>
          <a:p>
            <a:pPr lvl="0" algn="just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I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Creates a mutex, and returns a handle by which the created mutex can be referenced. Mutexes cannot be used in interrupt service routines.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mutex type semaphore was created successfully then a handle to the created mutex is returned.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mutex was not created because the memory required to hold the mutex </a:t>
            </a:r>
            <a:r>
              <a:rPr lang="en-US" sz="20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could not be allocated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then NULL is returned.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ts val="600"/>
              </a:spcAft>
            </a:pPr>
            <a:endParaRPr lang="en-IN" altLang="en-US" sz="2000" dirty="0">
              <a:solidFill>
                <a:srgbClr val="00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ts val="600"/>
              </a:spcAft>
            </a:pPr>
            <a:endParaRPr lang="en-I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ts val="600"/>
              </a:spcAft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EDDDFFD-C3F9-F553-9CF8-2CDFE300DBF8}"/>
              </a:ext>
            </a:extLst>
          </p:cNvPr>
          <p:cNvGrpSpPr/>
          <p:nvPr/>
        </p:nvGrpSpPr>
        <p:grpSpPr>
          <a:xfrm>
            <a:off x="0" y="6466566"/>
            <a:ext cx="12192000" cy="403007"/>
            <a:chOff x="0" y="6478141"/>
            <a:chExt cx="12192000" cy="403007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1C15058-A969-CD29-9DE4-44D5F4797C2A}"/>
                </a:ext>
              </a:extLst>
            </p:cNvPr>
            <p:cNvSpPr/>
            <p:nvPr/>
          </p:nvSpPr>
          <p:spPr>
            <a:xfrm>
              <a:off x="0" y="6484069"/>
              <a:ext cx="12192000" cy="397079"/>
            </a:xfrm>
            <a:prstGeom prst="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dirty="0"/>
                <a:t>                   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Jai Raja Saravanam S                                                                                                        </a:t>
              </a:r>
              <a:r>
                <a:rPr lang="en-IN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Emcog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Solutions</a:t>
              </a:r>
              <a:r>
                <a:rPr lang="en-IN" dirty="0"/>
                <a:t> </a:t>
              </a: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84BB235C-EFDA-606C-1F65-D10E2ADF388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734477" y="6478141"/>
              <a:ext cx="349866" cy="3830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21611208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72ECB-1357-7464-381E-F76567808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21779A73-0A8F-9BD3-F6D2-90CDCACF62CA}"/>
              </a:ext>
            </a:extLst>
          </p:cNvPr>
          <p:cNvSpPr txBox="1">
            <a:spLocks/>
          </p:cNvSpPr>
          <p:nvPr/>
        </p:nvSpPr>
        <p:spPr>
          <a:xfrm>
            <a:off x="547994" y="174177"/>
            <a:ext cx="11096011" cy="60133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 of semaphore over mutual exclusion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D0FECD2-0074-503E-0CE9-9E56E37859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994" y="1102177"/>
            <a:ext cx="10942966" cy="4653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Task Ownership Not Required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Any task (or even an ISR) can "give" a binary semaphore, not necessarily the one that "took" it.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Useful for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task synchronization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between two different tasks or between ISR and task.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Better for Signaling Events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Can be used to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signal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that something happened (e.g., data ready from UART, sensor interrupt).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Mutex is only for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resource protection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not signaling.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ISR Compatibility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Binary semaphores can be given from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ISR context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using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xSemaphoreGiveFromISR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().	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Mutexes cannot be used in ISR context.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BA1675F-9275-3A84-2FBC-15792100B34F}"/>
              </a:ext>
            </a:extLst>
          </p:cNvPr>
          <p:cNvGrpSpPr/>
          <p:nvPr/>
        </p:nvGrpSpPr>
        <p:grpSpPr>
          <a:xfrm>
            <a:off x="0" y="6466566"/>
            <a:ext cx="12192000" cy="403007"/>
            <a:chOff x="0" y="6478141"/>
            <a:chExt cx="12192000" cy="403007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4C70BE2-FF66-DF1C-4E16-375AB9DD03B2}"/>
                </a:ext>
              </a:extLst>
            </p:cNvPr>
            <p:cNvSpPr/>
            <p:nvPr/>
          </p:nvSpPr>
          <p:spPr>
            <a:xfrm>
              <a:off x="0" y="6484069"/>
              <a:ext cx="12192000" cy="397079"/>
            </a:xfrm>
            <a:prstGeom prst="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dirty="0"/>
                <a:t>                   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Jai Raja Saravanam S                                                                                                        </a:t>
              </a:r>
              <a:r>
                <a:rPr lang="en-IN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Emcog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Solutions</a:t>
              </a:r>
              <a:r>
                <a:rPr lang="en-IN" dirty="0"/>
                <a:t> </a:t>
              </a: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A88F5AD-FEBE-A8AB-E1A5-5F457F88D97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734477" y="6478141"/>
              <a:ext cx="349866" cy="3830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16838994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D97346-7A72-2E67-6762-226B91AF1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78CBC351-A622-C7A5-D437-A72A566FE82F}"/>
              </a:ext>
            </a:extLst>
          </p:cNvPr>
          <p:cNvSpPr txBox="1">
            <a:spLocks/>
          </p:cNvSpPr>
          <p:nvPr/>
        </p:nvSpPr>
        <p:spPr>
          <a:xfrm>
            <a:off x="547994" y="174177"/>
            <a:ext cx="11096011" cy="60133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 of mutual exclusion over semaphore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6D177D9-6745-F087-A3AB-E0199EF420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39" y="640512"/>
            <a:ext cx="11795760" cy="55769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Priority Inheritance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Mutex supports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priority inheritance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prevent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priority inversion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Binary semaphores don’t have this mechanism, so low-priority tasks holding a semaphore might block high-priority tasks unnecessarily.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Resource Locking Pattern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Mutex is specifically designed for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mutual exclusion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when accessing shared resources (e.g., UART, SPI, I²C, file system).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Binary semaphore can still work for resource locking, but mutex is more reliable for this use case.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Owner Tracking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Mutex keeps track of which task currently owns the lock, which helps ensure only the same task releases it.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Binary semaphore doesn’t care who gives it back.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42D2E54-407A-C7A2-BA66-A68B2390E7B8}"/>
              </a:ext>
            </a:extLst>
          </p:cNvPr>
          <p:cNvGrpSpPr/>
          <p:nvPr/>
        </p:nvGrpSpPr>
        <p:grpSpPr>
          <a:xfrm>
            <a:off x="0" y="6466566"/>
            <a:ext cx="12192000" cy="403007"/>
            <a:chOff x="0" y="6478141"/>
            <a:chExt cx="12192000" cy="403007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C98DA16-2A20-E864-300B-A91085FDE9B6}"/>
                </a:ext>
              </a:extLst>
            </p:cNvPr>
            <p:cNvSpPr/>
            <p:nvPr/>
          </p:nvSpPr>
          <p:spPr>
            <a:xfrm>
              <a:off x="0" y="6484069"/>
              <a:ext cx="12192000" cy="397079"/>
            </a:xfrm>
            <a:prstGeom prst="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dirty="0"/>
                <a:t>                   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Jai Raja Saravanam S                                                                                                        </a:t>
              </a:r>
              <a:r>
                <a:rPr lang="en-IN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Emcog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Solutions</a:t>
              </a:r>
              <a:r>
                <a:rPr lang="en-IN" dirty="0"/>
                <a:t> </a:t>
              </a: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FA101B2-C6F0-31E1-3D26-72F0DBACBA1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734477" y="6478141"/>
              <a:ext cx="349866" cy="3830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56587652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A672D-B0AD-5C2A-9398-BAC9E6FA5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03209E2-D0AF-8AD9-3029-DCA4FC3EFDDE}"/>
              </a:ext>
            </a:extLst>
          </p:cNvPr>
          <p:cNvSpPr txBox="1">
            <a:spLocks/>
          </p:cNvSpPr>
          <p:nvPr/>
        </p:nvSpPr>
        <p:spPr>
          <a:xfrm>
            <a:off x="547992" y="267311"/>
            <a:ext cx="11096011" cy="60133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0AFE17-13A6-FC8A-26CE-7749AA646936}"/>
              </a:ext>
            </a:extLst>
          </p:cNvPr>
          <p:cNvSpPr txBox="1"/>
          <p:nvPr/>
        </p:nvSpPr>
        <p:spPr>
          <a:xfrm>
            <a:off x="264803" y="934283"/>
            <a:ext cx="11379200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 a list of menu to computer using </a:t>
            </a: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uart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get data from computer through </a:t>
            </a: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uart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glow three </a:t>
            </a: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leds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three different pattern .</a:t>
            </a:r>
          </a:p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Objective  :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 deep understanding of Queue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8" name="Picture 4" descr="Premium Vector | Set of light emitting diodes LED">
            <a:extLst>
              <a:ext uri="{FF2B5EF4-FFF2-40B4-BE49-F238E27FC236}">
                <a16:creationId xmlns:a16="http://schemas.microsoft.com/office/drawing/2014/main" id="{A611DEA4-C89E-4BA4-605F-1EA158B62F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801" y="3857163"/>
            <a:ext cx="1782879" cy="17828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 descr="Premium Vector | Set of light emitting diodes LED">
            <a:extLst>
              <a:ext uri="{FF2B5EF4-FFF2-40B4-BE49-F238E27FC236}">
                <a16:creationId xmlns:a16="http://schemas.microsoft.com/office/drawing/2014/main" id="{C04DDB8C-275B-ACF4-A455-5758BD3390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9841" y="3857163"/>
            <a:ext cx="1782879" cy="17828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Premium Vector | Set of light emitting diodes LED">
            <a:extLst>
              <a:ext uri="{FF2B5EF4-FFF2-40B4-BE49-F238E27FC236}">
                <a16:creationId xmlns:a16="http://schemas.microsoft.com/office/drawing/2014/main" id="{FD0AEF9C-5EC2-3D63-521B-45EE2A91DF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0321" y="3857163"/>
            <a:ext cx="1782879" cy="17828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D4CA5E4-2266-10A2-E706-4B69B763656F}"/>
              </a:ext>
            </a:extLst>
          </p:cNvPr>
          <p:cNvCxnSpPr/>
          <p:nvPr/>
        </p:nvCxnSpPr>
        <p:spPr>
          <a:xfrm>
            <a:off x="736800" y="5680682"/>
            <a:ext cx="1782879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596BDB6-DC9B-B41F-DB9B-052533DC7C9D}"/>
              </a:ext>
            </a:extLst>
          </p:cNvPr>
          <p:cNvCxnSpPr>
            <a:cxnSpLocks/>
          </p:cNvCxnSpPr>
          <p:nvPr/>
        </p:nvCxnSpPr>
        <p:spPr>
          <a:xfrm flipH="1">
            <a:off x="4730323" y="5674304"/>
            <a:ext cx="1782879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92021C9-37ED-000C-45BF-6097B7735AC2}"/>
              </a:ext>
            </a:extLst>
          </p:cNvPr>
          <p:cNvSpPr txBox="1"/>
          <p:nvPr/>
        </p:nvSpPr>
        <p:spPr>
          <a:xfrm>
            <a:off x="1046480" y="3487831"/>
            <a:ext cx="1097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Pattern 1</a:t>
            </a:r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9D47130-9CCD-1415-733E-1E3D4A925AB7}"/>
              </a:ext>
            </a:extLst>
          </p:cNvPr>
          <p:cNvSpPr txBox="1"/>
          <p:nvPr/>
        </p:nvSpPr>
        <p:spPr>
          <a:xfrm>
            <a:off x="5019040" y="3487831"/>
            <a:ext cx="1097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Pattern 2</a:t>
            </a:r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59049ED-A062-5C79-6973-8A94A87BC5E2}"/>
              </a:ext>
            </a:extLst>
          </p:cNvPr>
          <p:cNvSpPr txBox="1"/>
          <p:nvPr/>
        </p:nvSpPr>
        <p:spPr>
          <a:xfrm>
            <a:off x="8991600" y="3487831"/>
            <a:ext cx="1097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Pattern 3</a:t>
            </a:r>
            <a:endParaRPr lang="en-IN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2D26E39-EAE3-2415-A103-9DF75845A6F4}"/>
              </a:ext>
            </a:extLst>
          </p:cNvPr>
          <p:cNvSpPr txBox="1"/>
          <p:nvPr/>
        </p:nvSpPr>
        <p:spPr>
          <a:xfrm>
            <a:off x="736800" y="5832737"/>
            <a:ext cx="1782879" cy="369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Glow left to right</a:t>
            </a:r>
            <a:endParaRPr lang="en-I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E5CE267-93DE-2593-D36F-E9514CF5D7EB}"/>
              </a:ext>
            </a:extLst>
          </p:cNvPr>
          <p:cNvSpPr txBox="1"/>
          <p:nvPr/>
        </p:nvSpPr>
        <p:spPr>
          <a:xfrm>
            <a:off x="4831280" y="5853057"/>
            <a:ext cx="17828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Glow right to left</a:t>
            </a:r>
            <a:endParaRPr lang="en-IN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3F8BDAF-5E67-E445-5AF7-0BF4B20256BA}"/>
              </a:ext>
            </a:extLst>
          </p:cNvPr>
          <p:cNvSpPr txBox="1"/>
          <p:nvPr/>
        </p:nvSpPr>
        <p:spPr>
          <a:xfrm>
            <a:off x="8107681" y="5872050"/>
            <a:ext cx="33475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Blink all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leds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period 1second</a:t>
            </a:r>
            <a:endParaRPr lang="en-IN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4D67715-81EB-E7DE-8B6B-D7FC63C7DB1E}"/>
              </a:ext>
            </a:extLst>
          </p:cNvPr>
          <p:cNvGrpSpPr/>
          <p:nvPr/>
        </p:nvGrpSpPr>
        <p:grpSpPr>
          <a:xfrm>
            <a:off x="0" y="6466566"/>
            <a:ext cx="12192000" cy="403007"/>
            <a:chOff x="0" y="6478141"/>
            <a:chExt cx="12192000" cy="403007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2ACC147-F610-C6ED-7814-D9142CAD569F}"/>
                </a:ext>
              </a:extLst>
            </p:cNvPr>
            <p:cNvSpPr/>
            <p:nvPr/>
          </p:nvSpPr>
          <p:spPr>
            <a:xfrm>
              <a:off x="0" y="6484069"/>
              <a:ext cx="12192000" cy="397079"/>
            </a:xfrm>
            <a:prstGeom prst="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dirty="0"/>
                <a:t>                   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Jai Raja Saravanam S                                                                                                        </a:t>
              </a:r>
              <a:r>
                <a:rPr lang="en-IN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Emcog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Solutions</a:t>
              </a:r>
              <a:r>
                <a:rPr lang="en-IN" dirty="0"/>
                <a:t> </a:t>
              </a: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86B64D6-EB6E-73BF-558F-40A808EB5FC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734477" y="6478141"/>
              <a:ext cx="349866" cy="3830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0230323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30EB88-6EB3-62DB-15DC-FF1D6BC8A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358963D-53AA-7950-AB61-8CEFE2F04D18}"/>
              </a:ext>
            </a:extLst>
          </p:cNvPr>
          <p:cNvSpPr txBox="1">
            <a:spLocks/>
          </p:cNvSpPr>
          <p:nvPr/>
        </p:nvSpPr>
        <p:spPr>
          <a:xfrm>
            <a:off x="547992" y="267311"/>
            <a:ext cx="11096011" cy="60133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F47F32-1394-2F4B-2C48-D19595F396B7}"/>
              </a:ext>
            </a:extLst>
          </p:cNvPr>
          <p:cNvSpPr txBox="1"/>
          <p:nvPr/>
        </p:nvSpPr>
        <p:spPr>
          <a:xfrm>
            <a:off x="264803" y="653613"/>
            <a:ext cx="3413117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Tasks </a:t>
            </a:r>
          </a:p>
          <a:p>
            <a:pPr marL="457200" indent="-457200"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 menu</a:t>
            </a:r>
          </a:p>
          <a:p>
            <a:pPr marL="457200" indent="-457200"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Receive command</a:t>
            </a:r>
          </a:p>
          <a:p>
            <a:pPr marL="457200" indent="-457200">
              <a:buAutoNum type="arabicPeriod" startAt="3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Led control</a:t>
            </a:r>
          </a:p>
          <a:p>
            <a:pPr marL="457200" indent="-457200">
              <a:buAutoNum type="arabicPeriod" startAt="3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12FEBA-B953-E59B-53DB-BE1DB317CF12}"/>
              </a:ext>
            </a:extLst>
          </p:cNvPr>
          <p:cNvSpPr txBox="1"/>
          <p:nvPr/>
        </p:nvSpPr>
        <p:spPr>
          <a:xfrm>
            <a:off x="878938" y="2922733"/>
            <a:ext cx="14986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 menu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C54F95-3A69-CBA2-1ADC-207FB23D1E46}"/>
              </a:ext>
            </a:extLst>
          </p:cNvPr>
          <p:cNvSpPr txBox="1"/>
          <p:nvPr/>
        </p:nvSpPr>
        <p:spPr>
          <a:xfrm>
            <a:off x="4038698" y="2932893"/>
            <a:ext cx="219954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Receive command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E56301-DB1B-98C8-F256-907D1B9A4F6B}"/>
              </a:ext>
            </a:extLst>
          </p:cNvPr>
          <p:cNvSpPr txBox="1"/>
          <p:nvPr/>
        </p:nvSpPr>
        <p:spPr>
          <a:xfrm>
            <a:off x="7675978" y="2922733"/>
            <a:ext cx="149850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Led control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40DA249-5DE6-1A0F-2238-1534334DCA74}"/>
              </a:ext>
            </a:extLst>
          </p:cNvPr>
          <p:cNvSpPr/>
          <p:nvPr/>
        </p:nvSpPr>
        <p:spPr>
          <a:xfrm>
            <a:off x="436880" y="3440819"/>
            <a:ext cx="2316480" cy="120568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Menu</a:t>
            </a:r>
          </a:p>
          <a:p>
            <a:r>
              <a:rPr lang="en-IN" dirty="0"/>
              <a:t>Pattern 1 </a:t>
            </a:r>
            <a:r>
              <a:rPr lang="en-IN" dirty="0">
                <a:sym typeface="Wingdings" panose="05000000000000000000" pitchFamily="2" charset="2"/>
              </a:rPr>
              <a:t> Enter ‘1’</a:t>
            </a:r>
          </a:p>
          <a:p>
            <a:r>
              <a:rPr lang="en-IN" dirty="0"/>
              <a:t>Pattern 2 </a:t>
            </a:r>
            <a:r>
              <a:rPr lang="en-IN" dirty="0">
                <a:sym typeface="Wingdings" panose="05000000000000000000" pitchFamily="2" charset="2"/>
              </a:rPr>
              <a:t> Enter ‘2’</a:t>
            </a:r>
          </a:p>
          <a:p>
            <a:r>
              <a:rPr lang="en-IN" dirty="0"/>
              <a:t>Pattern 3 </a:t>
            </a:r>
            <a:r>
              <a:rPr lang="en-IN" dirty="0">
                <a:sym typeface="Wingdings" panose="05000000000000000000" pitchFamily="2" charset="2"/>
              </a:rPr>
              <a:t> Enter ‘3’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BF51785-D483-2314-BE9A-0B2974FC8F46}"/>
              </a:ext>
            </a:extLst>
          </p:cNvPr>
          <p:cNvSpPr txBox="1"/>
          <p:nvPr/>
        </p:nvSpPr>
        <p:spPr>
          <a:xfrm>
            <a:off x="385432" y="4945575"/>
            <a:ext cx="287592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 this menu to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uart_send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queue   and notify task ‘Receive command’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72D6EE1-24D4-B5D1-F3DF-3AC4C8511165}"/>
              </a:ext>
            </a:extLst>
          </p:cNvPr>
          <p:cNvSpPr txBox="1"/>
          <p:nvPr/>
        </p:nvSpPr>
        <p:spPr>
          <a:xfrm>
            <a:off x="3804593" y="3429000"/>
            <a:ext cx="287592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uart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interrupt triggers this task and thi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task dequeue data from ‘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uart_rec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queue’ and decode the data and notify ‘send menu task’ and ‘led control task’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D58B4CC-9F87-5ECF-68F1-BF3F04DAF257}"/>
              </a:ext>
            </a:extLst>
          </p:cNvPr>
          <p:cNvSpPr txBox="1"/>
          <p:nvPr/>
        </p:nvSpPr>
        <p:spPr>
          <a:xfrm>
            <a:off x="10454640" y="2922733"/>
            <a:ext cx="8584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D0AF2C5-26CD-5875-E66A-F1A1AD1711D5}"/>
              </a:ext>
            </a:extLst>
          </p:cNvPr>
          <p:cNvSpPr txBox="1"/>
          <p:nvPr/>
        </p:nvSpPr>
        <p:spPr>
          <a:xfrm>
            <a:off x="9784080" y="3429000"/>
            <a:ext cx="24079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uart_send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queue has data , it triggers the print task to send data to PC</a:t>
            </a:r>
            <a:endParaRPr lang="en-IN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70BE950-A9D2-448F-6208-121C81E75040}"/>
              </a:ext>
            </a:extLst>
          </p:cNvPr>
          <p:cNvSpPr txBox="1"/>
          <p:nvPr/>
        </p:nvSpPr>
        <p:spPr>
          <a:xfrm>
            <a:off x="6987265" y="3535158"/>
            <a:ext cx="28759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Glow the led according to the command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1E27C63-9F95-F2A0-D300-52BEA78F5556}"/>
              </a:ext>
            </a:extLst>
          </p:cNvPr>
          <p:cNvGrpSpPr/>
          <p:nvPr/>
        </p:nvGrpSpPr>
        <p:grpSpPr>
          <a:xfrm>
            <a:off x="0" y="6466566"/>
            <a:ext cx="12192000" cy="403007"/>
            <a:chOff x="0" y="6478141"/>
            <a:chExt cx="12192000" cy="403007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E3E6C50-CD99-A192-A87F-32BC3E804251}"/>
                </a:ext>
              </a:extLst>
            </p:cNvPr>
            <p:cNvSpPr/>
            <p:nvPr/>
          </p:nvSpPr>
          <p:spPr>
            <a:xfrm>
              <a:off x="0" y="6484069"/>
              <a:ext cx="12192000" cy="397079"/>
            </a:xfrm>
            <a:prstGeom prst="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dirty="0"/>
                <a:t>                   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Jai Raja Saravanam S                                                                                                        </a:t>
              </a:r>
              <a:r>
                <a:rPr lang="en-IN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Emcog</a:t>
              </a:r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Solutions</a:t>
              </a:r>
              <a:r>
                <a:rPr lang="en-IN" dirty="0"/>
                <a:t> </a:t>
              </a: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2EEA6A48-6525-F97C-CB6A-1576CADF92C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734477" y="6478141"/>
              <a:ext cx="349866" cy="3830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952736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15804</TotalTime>
  <Words>9788</Words>
  <Application>Microsoft Office PowerPoint</Application>
  <PresentationFormat>Widescreen</PresentationFormat>
  <Paragraphs>1734</Paragraphs>
  <Slides>95</Slides>
  <Notes>70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95</vt:i4>
      </vt:variant>
    </vt:vector>
  </HeadingPairs>
  <TitlesOfParts>
    <vt:vector size="102" baseType="lpstr">
      <vt:lpstr>Arial</vt:lpstr>
      <vt:lpstr>Calibri</vt:lpstr>
      <vt:lpstr>Calibri Light</vt:lpstr>
      <vt:lpstr>Consolas</vt:lpstr>
      <vt:lpstr>Times New Roman</vt:lpstr>
      <vt:lpstr>Wingdings</vt:lpstr>
      <vt:lpstr>Office Theme</vt:lpstr>
      <vt:lpstr>RTOS</vt:lpstr>
      <vt:lpstr>PowerPoint Presentation</vt:lpstr>
      <vt:lpstr>PowerPoint Presentation</vt:lpstr>
      <vt:lpstr>Timer</vt:lpstr>
      <vt:lpstr>Timer</vt:lpstr>
      <vt:lpstr>Timer</vt:lpstr>
      <vt:lpstr>STM32F103C8T6 – Timer Peripheral &amp; Configuration</vt:lpstr>
      <vt:lpstr>STM32F103C8T6 – Timer 3 – Input clock frequency</vt:lpstr>
      <vt:lpstr>STM32F103C8T6 – Timer 3 – Input clock frequency</vt:lpstr>
      <vt:lpstr>STM32F103C8T6 – Timer 3 Configuration</vt:lpstr>
      <vt:lpstr>STM32F103C8T6 – Timer 3 Configuration</vt:lpstr>
      <vt:lpstr>STM32F103C8T6 – Timer 3 Configuration</vt:lpstr>
      <vt:lpstr>STM32F103C8T6 – Timer 3 Configuration</vt:lpstr>
      <vt:lpstr>STM32F103C8T6 – Timer 3 configuration</vt:lpstr>
      <vt:lpstr>STM32F103C8T6 – Timer 3 configuration</vt:lpstr>
      <vt:lpstr>STM32F103C8T6 – Timer 3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Types of Real Time System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jai raja Saravanam</dc:creator>
  <cp:lastModifiedBy>jai raja Saravanam</cp:lastModifiedBy>
  <cp:revision>116</cp:revision>
  <dcterms:created xsi:type="dcterms:W3CDTF">2025-07-01T12:03:54Z</dcterms:created>
  <dcterms:modified xsi:type="dcterms:W3CDTF">2025-12-04T11:51:31Z</dcterms:modified>
</cp:coreProperties>
</file>